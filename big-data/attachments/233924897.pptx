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5" r:id="rId1"/>
  </p:sldMasterIdLst>
  <p:notesMasterIdLst>
    <p:notesMasterId r:id="rId21"/>
  </p:notesMasterIdLst>
  <p:sldIdLst>
    <p:sldId id="256" r:id="rId2"/>
    <p:sldId id="266" r:id="rId3"/>
    <p:sldId id="278" r:id="rId4"/>
    <p:sldId id="286" r:id="rId5"/>
    <p:sldId id="258" r:id="rId6"/>
    <p:sldId id="260" r:id="rId7"/>
    <p:sldId id="268" r:id="rId8"/>
    <p:sldId id="287" r:id="rId9"/>
    <p:sldId id="261" r:id="rId10"/>
    <p:sldId id="288" r:id="rId11"/>
    <p:sldId id="289" r:id="rId12"/>
    <p:sldId id="262" r:id="rId13"/>
    <p:sldId id="263" r:id="rId14"/>
    <p:sldId id="285" r:id="rId15"/>
    <p:sldId id="281" r:id="rId16"/>
    <p:sldId id="282" r:id="rId17"/>
    <p:sldId id="290" r:id="rId18"/>
    <p:sldId id="291" r:id="rId19"/>
    <p:sldId id="26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8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1C911"/>
    <a:srgbClr val="0079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42" d="100"/>
          <a:sy n="42" d="100"/>
        </p:scale>
        <p:origin x="384" y="60"/>
      </p:cViewPr>
      <p:guideLst>
        <p:guide orient="horz" pos="268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4C283-EC21-469F-913C-17AE47E4A2D9}" type="datetimeFigureOut">
              <a:rPr lang="pt-BR" smtClean="0"/>
              <a:t>31/10/2018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574EF-E940-4F44-8FDE-AB4A114D64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006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10/31/2018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856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76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516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57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281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296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10/31/2018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8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119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523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20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513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1394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61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328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757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994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194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897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1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19.jpg"/><Relationship Id="rId2" Type="http://schemas.openxmlformats.org/officeDocument/2006/relationships/image" Target="../media/image12.png"/><Relationship Id="rId16" Type="http://schemas.openxmlformats.org/officeDocument/2006/relationships/image" Target="../media/image43.sv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38.svg"/><Relationship Id="rId5" Type="http://schemas.openxmlformats.org/officeDocument/2006/relationships/image" Target="../media/image15.svg"/><Relationship Id="rId15" Type="http://schemas.openxmlformats.org/officeDocument/2006/relationships/image" Target="../media/image16.png"/><Relationship Id="rId10" Type="http://schemas.openxmlformats.org/officeDocument/2006/relationships/image" Target="../media/image18.png"/><Relationship Id="rId19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9.svg"/><Relationship Id="rId14" Type="http://schemas.openxmlformats.org/officeDocument/2006/relationships/image" Target="../media/image41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aws.amazon.com/pt/emr/pricing/?nc=sn&amp;loc=4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080A33C-12C6-4D40-9106-1CD99B68F3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Sugestão de Arquitetura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D8A4FF81-6718-43ED-9BEF-4C6AAE1644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Modelo de </a:t>
            </a:r>
            <a:r>
              <a:rPr lang="pt-BR" dirty="0" smtClean="0"/>
              <a:t>Autenticação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3690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5084BA3-B7DA-4D06-945F-882210BDD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53B79A2-D35F-4E23-8ADD-9A576FF31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Disponibilizar um ambiente no qual seja possível armazenar e explorar </a:t>
            </a:r>
            <a:r>
              <a:rPr lang="pt-BR" dirty="0" smtClean="0"/>
              <a:t>todos os registros de autenticação (autorização futuramente), permitindo que as </a:t>
            </a:r>
            <a:r>
              <a:rPr lang="pt-BR" dirty="0" err="1" smtClean="0"/>
              <a:t>apps</a:t>
            </a:r>
            <a:r>
              <a:rPr lang="pt-BR" dirty="0" smtClean="0"/>
              <a:t> </a:t>
            </a:r>
            <a:r>
              <a:rPr lang="pt-BR" dirty="0"/>
              <a:t>da </a:t>
            </a:r>
            <a:r>
              <a:rPr lang="pt-BR" dirty="0"/>
              <a:t>P</a:t>
            </a:r>
            <a:r>
              <a:rPr lang="pt-BR" dirty="0" smtClean="0"/>
              <a:t>lataforma/</a:t>
            </a:r>
            <a:r>
              <a:rPr lang="pt-BR" dirty="0" err="1" smtClean="0"/>
              <a:t>Pagseguro</a:t>
            </a:r>
            <a:r>
              <a:rPr lang="pt-BR" dirty="0" smtClean="0"/>
              <a:t> possam consultá-lo</a:t>
            </a:r>
            <a:r>
              <a:rPr lang="pt-BR" dirty="0"/>
              <a:t>, fazendo com que este, se possível, seja analítico e </a:t>
            </a:r>
            <a:r>
              <a:rPr lang="pt-BR" dirty="0" smtClean="0"/>
              <a:t>operacional, para evitar redundância de dados.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409184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3D8A2B3-6421-4BEF-A9F2-AC0E12E7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Desafios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440EE8A-C68D-4A5E-AC66-826479D1B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209951" cy="3541714"/>
          </a:xfrm>
        </p:spPr>
        <p:txBody>
          <a:bodyPr>
            <a:normAutofit fontScale="92500" lnSpcReduction="10000"/>
          </a:bodyPr>
          <a:lstStyle/>
          <a:p>
            <a:r>
              <a:rPr lang="pt-BR" dirty="0" smtClean="0"/>
              <a:t>Armazenar mais de 100GB de logs </a:t>
            </a:r>
            <a:r>
              <a:rPr lang="pt-BR" dirty="0"/>
              <a:t>por dia (considerando autorização</a:t>
            </a:r>
            <a:r>
              <a:rPr lang="pt-BR" dirty="0" smtClean="0"/>
              <a:t>)</a:t>
            </a:r>
            <a:endParaRPr lang="pt-BR" dirty="0"/>
          </a:p>
          <a:p>
            <a:r>
              <a:rPr lang="pt-BR" dirty="0" smtClean="0"/>
              <a:t>~450 Milhões de Eventos por dia (considerando autorização)</a:t>
            </a:r>
          </a:p>
          <a:p>
            <a:r>
              <a:rPr lang="pt-BR" dirty="0" smtClean="0"/>
              <a:t>Capacidade para explorar o grande volume de dados</a:t>
            </a:r>
          </a:p>
          <a:p>
            <a:r>
              <a:rPr lang="pt-BR" dirty="0"/>
              <a:t>Suportar a escrita de ~2500 eventos de autenticação por </a:t>
            </a:r>
            <a:r>
              <a:rPr lang="pt-BR" dirty="0" smtClean="0"/>
              <a:t>segundo</a:t>
            </a:r>
          </a:p>
          <a:p>
            <a:r>
              <a:rPr lang="pt-BR" dirty="0" smtClean="0"/>
              <a:t>Entregar informações em tempo real para o time de Segurança/PS, via </a:t>
            </a:r>
            <a:r>
              <a:rPr lang="pt-BR" dirty="0" err="1" smtClean="0"/>
              <a:t>api</a:t>
            </a:r>
            <a:endParaRPr lang="pt-BR" dirty="0" smtClean="0"/>
          </a:p>
          <a:p>
            <a:r>
              <a:rPr lang="pt-BR" dirty="0" smtClean="0"/>
              <a:t>Suportar </a:t>
            </a:r>
            <a:r>
              <a:rPr lang="pt-BR" dirty="0"/>
              <a:t>~60 requisições (</a:t>
            </a:r>
            <a:r>
              <a:rPr lang="pt-BR" dirty="0" err="1"/>
              <a:t>Get</a:t>
            </a:r>
            <a:r>
              <a:rPr lang="pt-BR" dirty="0"/>
              <a:t>) por </a:t>
            </a:r>
            <a:r>
              <a:rPr lang="pt-BR" dirty="0" smtClean="0"/>
              <a:t>segundo, do time de </a:t>
            </a:r>
            <a:r>
              <a:rPr lang="pt-BR" dirty="0"/>
              <a:t>Segurança/PS</a:t>
            </a:r>
            <a:endParaRPr lang="pt-BR" dirty="0" smtClean="0"/>
          </a:p>
          <a:p>
            <a:r>
              <a:rPr lang="pt-BR" dirty="0" smtClean="0"/>
              <a:t>Ter </a:t>
            </a:r>
            <a:r>
              <a:rPr lang="pt-BR" dirty="0"/>
              <a:t>um ambiente analítico e </a:t>
            </a:r>
            <a:r>
              <a:rPr lang="pt-BR" dirty="0" smtClean="0"/>
              <a:t>operacional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1389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xmlns="" id="{3782E906-3D03-4EF4-81DB-A5BA099EE4AE}"/>
              </a:ext>
            </a:extLst>
          </p:cNvPr>
          <p:cNvSpPr/>
          <p:nvPr/>
        </p:nvSpPr>
        <p:spPr>
          <a:xfrm>
            <a:off x="5888290" y="1620119"/>
            <a:ext cx="5930726" cy="41055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xmlns="" id="{D76E9BD8-BAD8-4F2D-8153-DE1C4EA0017D}"/>
              </a:ext>
            </a:extLst>
          </p:cNvPr>
          <p:cNvSpPr/>
          <p:nvPr/>
        </p:nvSpPr>
        <p:spPr>
          <a:xfrm>
            <a:off x="349723" y="4151480"/>
            <a:ext cx="1440000" cy="2088000"/>
          </a:xfrm>
          <a:prstGeom prst="rect">
            <a:avLst/>
          </a:prstGeom>
          <a:solidFill>
            <a:schemeClr val="lt1">
              <a:alpha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endParaRPr lang="pt-BR" sz="1500" dirty="0"/>
          </a:p>
          <a:p>
            <a:pPr algn="ctr"/>
            <a:endParaRPr lang="pt-BR" sz="1500" dirty="0"/>
          </a:p>
          <a:p>
            <a:pPr algn="ctr"/>
            <a:endParaRPr lang="pt-BR" sz="1500" dirty="0"/>
          </a:p>
          <a:p>
            <a:pPr algn="ctr"/>
            <a:endParaRPr lang="pt-BR" sz="1500" dirty="0"/>
          </a:p>
          <a:p>
            <a:pPr algn="ctr"/>
            <a:r>
              <a:rPr lang="pt-BR" sz="1500" dirty="0"/>
              <a:t>Responsável pela autenticação e autorização de clientes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xmlns="" id="{F8CA2942-1ACA-4653-91BD-4B69F7BF5026}"/>
              </a:ext>
            </a:extLst>
          </p:cNvPr>
          <p:cNvSpPr/>
          <p:nvPr/>
        </p:nvSpPr>
        <p:spPr>
          <a:xfrm>
            <a:off x="372984" y="1779801"/>
            <a:ext cx="1440000" cy="2088000"/>
          </a:xfrm>
          <a:prstGeom prst="rect">
            <a:avLst/>
          </a:prstGeom>
          <a:solidFill>
            <a:schemeClr val="lt1">
              <a:alpha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500" dirty="0"/>
          </a:p>
          <a:p>
            <a:pPr algn="ctr"/>
            <a:endParaRPr lang="pt-BR" sz="1500" dirty="0"/>
          </a:p>
          <a:p>
            <a:pPr algn="ctr"/>
            <a:endParaRPr lang="pt-BR" sz="1500" dirty="0"/>
          </a:p>
          <a:p>
            <a:pPr algn="ctr"/>
            <a:r>
              <a:rPr lang="pt-BR" sz="1500" dirty="0"/>
              <a:t>Envia os eventos de autenticação e autorização em JSON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xmlns="" id="{BFBB0C1E-73D6-4264-A26E-3265A2CAFA42}"/>
              </a:ext>
            </a:extLst>
          </p:cNvPr>
          <p:cNvSpPr/>
          <p:nvPr/>
        </p:nvSpPr>
        <p:spPr>
          <a:xfrm>
            <a:off x="9924713" y="2341548"/>
            <a:ext cx="1817207" cy="33072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 smtClean="0"/>
              <a:t>Camada de </a:t>
            </a:r>
            <a:r>
              <a:rPr lang="pt-BR" dirty="0" err="1" smtClean="0"/>
              <a:t>Storage</a:t>
            </a:r>
            <a:r>
              <a:rPr lang="pt-BR" dirty="0" smtClean="0"/>
              <a:t> para armazenar os dados frios, pois tem um menor custo.</a:t>
            </a:r>
            <a:endParaRPr lang="pt-BR" dirty="0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xmlns="" id="{57D62848-7F87-4977-B0F3-F05B444B3027}"/>
              </a:ext>
            </a:extLst>
          </p:cNvPr>
          <p:cNvSpPr/>
          <p:nvPr/>
        </p:nvSpPr>
        <p:spPr>
          <a:xfrm>
            <a:off x="7388913" y="111677"/>
            <a:ext cx="2647387" cy="9181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xmlns="" id="{D828CB67-34E3-421A-90FD-ED043A6C5892}"/>
              </a:ext>
            </a:extLst>
          </p:cNvPr>
          <p:cNvSpPr/>
          <p:nvPr/>
        </p:nvSpPr>
        <p:spPr>
          <a:xfrm>
            <a:off x="5968427" y="2341548"/>
            <a:ext cx="1954841" cy="33072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Camada de persistência que  oferece a combinação de </a:t>
            </a:r>
            <a:r>
              <a:rPr lang="pt-BR" dirty="0" err="1"/>
              <a:t>fast</a:t>
            </a:r>
            <a:r>
              <a:rPr lang="pt-BR" dirty="0"/>
              <a:t> </a:t>
            </a:r>
            <a:r>
              <a:rPr lang="pt-BR" dirty="0" err="1"/>
              <a:t>inserts</a:t>
            </a:r>
            <a:r>
              <a:rPr lang="pt-BR" dirty="0"/>
              <a:t>/ </a:t>
            </a:r>
            <a:r>
              <a:rPr lang="pt-BR" dirty="0" err="1"/>
              <a:t>updates</a:t>
            </a:r>
            <a:r>
              <a:rPr lang="pt-BR" dirty="0"/>
              <a:t> e </a:t>
            </a:r>
            <a:r>
              <a:rPr lang="pt-BR" dirty="0" err="1"/>
              <a:t>fast</a:t>
            </a:r>
            <a:r>
              <a:rPr lang="en-US" dirty="0"/>
              <a:t> </a:t>
            </a:r>
            <a:r>
              <a:rPr lang="en-US" dirty="0" smtClean="0"/>
              <a:t>analytics,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arquitetura</a:t>
            </a:r>
            <a:r>
              <a:rPr lang="en-US" dirty="0"/>
              <a:t> </a:t>
            </a:r>
            <a:r>
              <a:rPr lang="pt-BR" dirty="0"/>
              <a:t>colunar </a:t>
            </a:r>
            <a:r>
              <a:rPr lang="pt-BR" dirty="0" smtClean="0"/>
              <a:t>distribuída. </a:t>
            </a:r>
            <a:endParaRPr lang="pt-BR" dirty="0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xmlns="" id="{3BE5E932-5DF7-46EF-B02C-47C63D29AA1C}"/>
              </a:ext>
            </a:extLst>
          </p:cNvPr>
          <p:cNvSpPr/>
          <p:nvPr/>
        </p:nvSpPr>
        <p:spPr>
          <a:xfrm>
            <a:off x="4000952" y="1779801"/>
            <a:ext cx="1756825" cy="38689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 smtClean="0"/>
          </a:p>
          <a:p>
            <a:pPr algn="ctr"/>
            <a:endParaRPr lang="pt-BR" dirty="0"/>
          </a:p>
          <a:p>
            <a:pPr algn="ctr"/>
            <a:r>
              <a:rPr lang="pt-BR" dirty="0"/>
              <a:t>Framework para computação </a:t>
            </a:r>
            <a:r>
              <a:rPr lang="pt-BR" dirty="0" smtClean="0"/>
              <a:t>distribuída que provê uma interface para programação com tolerância a falhas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xmlns="" id="{1E7A0653-B4EB-476A-BA97-0FA93D8A088E}"/>
              </a:ext>
            </a:extLst>
          </p:cNvPr>
          <p:cNvSpPr/>
          <p:nvPr/>
        </p:nvSpPr>
        <p:spPr>
          <a:xfrm>
            <a:off x="2017045" y="1779801"/>
            <a:ext cx="1756825" cy="38689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r>
              <a:rPr lang="pt-BR" dirty="0"/>
              <a:t>Plataforma distribuída de mensagens e </a:t>
            </a:r>
            <a:r>
              <a:rPr lang="pt-BR" dirty="0" smtClean="0"/>
              <a:t>streaming, capaz de persistir um grande volume de mensagens</a:t>
            </a:r>
            <a:endParaRPr lang="pt-BR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xmlns="" id="{37BDB2BB-314B-42FA-841B-B97CAD8BE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65725"/>
          </a:xfrm>
        </p:spPr>
        <p:txBody>
          <a:bodyPr/>
          <a:lstStyle/>
          <a:p>
            <a:r>
              <a:rPr lang="pt-BR" dirty="0"/>
              <a:t>Arquitetura </a:t>
            </a:r>
            <a:r>
              <a:rPr lang="pt-BR" dirty="0" smtClean="0"/>
              <a:t>proposta</a:t>
            </a:r>
            <a:endParaRPr lang="pt-BR" dirty="0"/>
          </a:p>
        </p:txBody>
      </p:sp>
      <p:pic>
        <p:nvPicPr>
          <p:cNvPr id="34" name="Espaço Reservado para Conteúdo 33">
            <a:extLst>
              <a:ext uri="{FF2B5EF4-FFF2-40B4-BE49-F238E27FC236}">
                <a16:creationId xmlns:a16="http://schemas.microsoft.com/office/drawing/2014/main" xmlns="" id="{CFD33AF8-B780-43B8-A6CF-4486755D7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722" r="19248"/>
          <a:stretch/>
        </p:blipFill>
        <p:spPr>
          <a:xfrm>
            <a:off x="8535720" y="1672687"/>
            <a:ext cx="631454" cy="1001827"/>
          </a:xfr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xmlns="" id="{E66E3C5C-69BB-4B12-B316-2289C040D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942" y="2429109"/>
            <a:ext cx="919665" cy="663759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xmlns="" id="{14F62180-F331-4128-A50D-A03A6F109D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389" t="13071" r="7254" b="4985"/>
          <a:stretch/>
        </p:blipFill>
        <p:spPr>
          <a:xfrm>
            <a:off x="642455" y="1923033"/>
            <a:ext cx="901058" cy="738033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xmlns="" id="{5290388F-CB42-4205-887B-D50B4B83C6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091" y="1910329"/>
            <a:ext cx="974610" cy="72121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xmlns="" id="{048F72C3-CF40-41DA-BFC1-499B9E81A57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533" t="7985" r="4260" b="8736"/>
          <a:stretch/>
        </p:blipFill>
        <p:spPr>
          <a:xfrm>
            <a:off x="2221105" y="1968630"/>
            <a:ext cx="1348704" cy="647314"/>
          </a:xfrm>
          <a:prstGeom prst="rect">
            <a:avLst/>
          </a:prstGeom>
        </p:spPr>
      </p:pic>
      <p:grpSp>
        <p:nvGrpSpPr>
          <p:cNvPr id="39" name="Agrupar 38">
            <a:extLst>
              <a:ext uri="{FF2B5EF4-FFF2-40B4-BE49-F238E27FC236}">
                <a16:creationId xmlns:a16="http://schemas.microsoft.com/office/drawing/2014/main" xmlns="" id="{05779185-94FE-4959-9A79-100D50781718}"/>
              </a:ext>
            </a:extLst>
          </p:cNvPr>
          <p:cNvGrpSpPr/>
          <p:nvPr/>
        </p:nvGrpSpPr>
        <p:grpSpPr>
          <a:xfrm>
            <a:off x="662399" y="4286467"/>
            <a:ext cx="814646" cy="850371"/>
            <a:chOff x="6140380" y="5923419"/>
            <a:chExt cx="873401" cy="911702"/>
          </a:xfrm>
        </p:grpSpPr>
        <p:pic>
          <p:nvPicPr>
            <p:cNvPr id="26" name="Imagem 25" descr="GAUDI">
              <a:extLst>
                <a:ext uri="{FF2B5EF4-FFF2-40B4-BE49-F238E27FC236}">
                  <a16:creationId xmlns:a16="http://schemas.microsoft.com/office/drawing/2014/main" xmlns="" id="{F5647B66-76E0-4E9A-BEF6-FEFA39FB9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19528" y="5923419"/>
              <a:ext cx="515103" cy="515103"/>
            </a:xfrm>
            <a:prstGeom prst="rect">
              <a:avLst/>
            </a:prstGeom>
          </p:spPr>
        </p:pic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xmlns="" id="{4CE0F11F-D7B6-423D-91B5-0FC6F289209D}"/>
                </a:ext>
              </a:extLst>
            </p:cNvPr>
            <p:cNvSpPr txBox="1"/>
            <p:nvPr/>
          </p:nvSpPr>
          <p:spPr>
            <a:xfrm>
              <a:off x="6140380" y="6455651"/>
              <a:ext cx="873401" cy="379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700" dirty="0" err="1">
                  <a:solidFill>
                    <a:schemeClr val="bg1"/>
                  </a:solidFill>
                  <a:latin typeface="Arial Rounded MT Bold" panose="020F0704030504030204" pitchFamily="34" charset="0"/>
                  <a:cs typeface="Aldhabi" panose="020B0604020202020204" pitchFamily="2" charset="-78"/>
                </a:rPr>
                <a:t>Gaudi</a:t>
              </a:r>
              <a:endParaRPr lang="pt-BR" sz="1700" dirty="0">
                <a:solidFill>
                  <a:schemeClr val="bg1"/>
                </a:solidFill>
                <a:latin typeface="Arial Rounded MT Bold" panose="020F0704030504030204" pitchFamily="34" charset="0"/>
                <a:cs typeface="Aldhabi" panose="020B0604020202020204" pitchFamily="2" charset="-78"/>
              </a:endParaRPr>
            </a:p>
          </p:txBody>
        </p:sp>
      </p:grpSp>
      <p:sp>
        <p:nvSpPr>
          <p:cNvPr id="53" name="Seta: para a Direita 52">
            <a:extLst>
              <a:ext uri="{FF2B5EF4-FFF2-40B4-BE49-F238E27FC236}">
                <a16:creationId xmlns:a16="http://schemas.microsoft.com/office/drawing/2014/main" xmlns="" id="{37E6C9F7-E768-48FC-91C0-7DDD379DA6F0}"/>
              </a:ext>
            </a:extLst>
          </p:cNvPr>
          <p:cNvSpPr/>
          <p:nvPr/>
        </p:nvSpPr>
        <p:spPr>
          <a:xfrm>
            <a:off x="1718842" y="3412772"/>
            <a:ext cx="493027" cy="570345"/>
          </a:xfrm>
          <a:prstGeom prst="rightArrow">
            <a:avLst>
              <a:gd name="adj1" fmla="val 50000"/>
              <a:gd name="adj2" fmla="val 59549"/>
            </a:avLst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accent2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Seta: para a Direita 53">
            <a:extLst>
              <a:ext uri="{FF2B5EF4-FFF2-40B4-BE49-F238E27FC236}">
                <a16:creationId xmlns:a16="http://schemas.microsoft.com/office/drawing/2014/main" xmlns="" id="{02254B5C-EDCF-4E23-86D0-C32A1F30A8D3}"/>
              </a:ext>
            </a:extLst>
          </p:cNvPr>
          <p:cNvSpPr/>
          <p:nvPr/>
        </p:nvSpPr>
        <p:spPr>
          <a:xfrm>
            <a:off x="3696985" y="3412772"/>
            <a:ext cx="493027" cy="570345"/>
          </a:xfrm>
          <a:prstGeom prst="rightArrow">
            <a:avLst>
              <a:gd name="adj1" fmla="val 50000"/>
              <a:gd name="adj2" fmla="val 59549"/>
            </a:avLst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accent2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Seta: para a Direita 54">
            <a:extLst>
              <a:ext uri="{FF2B5EF4-FFF2-40B4-BE49-F238E27FC236}">
                <a16:creationId xmlns:a16="http://schemas.microsoft.com/office/drawing/2014/main" xmlns="" id="{1F4BD715-8793-48DD-9F72-20FCDEB2B846}"/>
              </a:ext>
            </a:extLst>
          </p:cNvPr>
          <p:cNvSpPr/>
          <p:nvPr/>
        </p:nvSpPr>
        <p:spPr>
          <a:xfrm>
            <a:off x="5675128" y="3412772"/>
            <a:ext cx="493027" cy="570345"/>
          </a:xfrm>
          <a:prstGeom prst="rightArrow">
            <a:avLst>
              <a:gd name="adj1" fmla="val 50000"/>
              <a:gd name="adj2" fmla="val 59549"/>
            </a:avLst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accent2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Seta: para a Direita 55">
            <a:extLst>
              <a:ext uri="{FF2B5EF4-FFF2-40B4-BE49-F238E27FC236}">
                <a16:creationId xmlns:a16="http://schemas.microsoft.com/office/drawing/2014/main" xmlns="" id="{F1517ABB-E0DC-49CD-8B6E-2154C5037D15}"/>
              </a:ext>
            </a:extLst>
          </p:cNvPr>
          <p:cNvSpPr/>
          <p:nvPr/>
        </p:nvSpPr>
        <p:spPr>
          <a:xfrm rot="16200000">
            <a:off x="8542796" y="1025216"/>
            <a:ext cx="493027" cy="570345"/>
          </a:xfrm>
          <a:prstGeom prst="rightArrow">
            <a:avLst>
              <a:gd name="adj1" fmla="val 50000"/>
              <a:gd name="adj2" fmla="val 59549"/>
            </a:avLst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accent2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Seta: para a Direita 56">
            <a:extLst>
              <a:ext uri="{FF2B5EF4-FFF2-40B4-BE49-F238E27FC236}">
                <a16:creationId xmlns:a16="http://schemas.microsoft.com/office/drawing/2014/main" xmlns="" id="{D6684C20-379B-46C8-A17B-E7186A263AEF}"/>
              </a:ext>
            </a:extLst>
          </p:cNvPr>
          <p:cNvSpPr/>
          <p:nvPr/>
        </p:nvSpPr>
        <p:spPr>
          <a:xfrm>
            <a:off x="8034212" y="3821888"/>
            <a:ext cx="1822132" cy="570345"/>
          </a:xfrm>
          <a:prstGeom prst="rightArrow">
            <a:avLst>
              <a:gd name="adj1" fmla="val 50000"/>
              <a:gd name="adj2" fmla="val 59549"/>
            </a:avLst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accent2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Seta: para Cima 58">
            <a:extLst>
              <a:ext uri="{FF2B5EF4-FFF2-40B4-BE49-F238E27FC236}">
                <a16:creationId xmlns:a16="http://schemas.microsoft.com/office/drawing/2014/main" xmlns="" id="{DDE6122C-B4EE-4225-90C7-FBF79B59DD86}"/>
              </a:ext>
            </a:extLst>
          </p:cNvPr>
          <p:cNvSpPr/>
          <p:nvPr/>
        </p:nvSpPr>
        <p:spPr>
          <a:xfrm>
            <a:off x="757312" y="3739768"/>
            <a:ext cx="662025" cy="480451"/>
          </a:xfrm>
          <a:prstGeom prst="up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accent2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xmlns="" id="{4495AD1D-D468-4192-9CD4-DFB8C9997D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961" y="2429109"/>
            <a:ext cx="1168710" cy="87653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ACEA9CCE-985C-4F2E-AC56-023575AB0ABF}"/>
              </a:ext>
            </a:extLst>
          </p:cNvPr>
          <p:cNvSpPr txBox="1"/>
          <p:nvPr/>
        </p:nvSpPr>
        <p:spPr>
          <a:xfrm>
            <a:off x="8034212" y="2641018"/>
            <a:ext cx="1810361" cy="903700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SQL query </a:t>
            </a:r>
            <a:r>
              <a:rPr lang="pt-BR" dirty="0" err="1">
                <a:solidFill>
                  <a:schemeClr val="bg1"/>
                </a:solidFill>
              </a:rPr>
              <a:t>engine</a:t>
            </a:r>
            <a:r>
              <a:rPr lang="pt-BR" dirty="0">
                <a:solidFill>
                  <a:schemeClr val="bg1"/>
                </a:solidFill>
              </a:rPr>
              <a:t> para facilitar o acesso </a:t>
            </a:r>
            <a:r>
              <a:rPr lang="pt-BR" dirty="0" smtClean="0">
                <a:solidFill>
                  <a:schemeClr val="bg1"/>
                </a:solidFill>
              </a:rPr>
              <a:t>aos dados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4DD1E179-77AD-486A-B740-4F23AB78BA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8037" y="158486"/>
            <a:ext cx="909137" cy="753285"/>
          </a:xfrm>
          <a:prstGeom prst="rect">
            <a:avLst/>
          </a:prstGeom>
        </p:spPr>
      </p:pic>
      <p:sp>
        <p:nvSpPr>
          <p:cNvPr id="30" name="Retângulo 29">
            <a:extLst>
              <a:ext uri="{FF2B5EF4-FFF2-40B4-BE49-F238E27FC236}">
                <a16:creationId xmlns:a16="http://schemas.microsoft.com/office/drawing/2014/main" xmlns="" id="{D76E9BD8-BAD8-4F2D-8153-DE1C4EA0017D}"/>
              </a:ext>
            </a:extLst>
          </p:cNvPr>
          <p:cNvSpPr/>
          <p:nvPr/>
        </p:nvSpPr>
        <p:spPr>
          <a:xfrm>
            <a:off x="7881147" y="5861559"/>
            <a:ext cx="2279042" cy="914400"/>
          </a:xfrm>
          <a:prstGeom prst="rect">
            <a:avLst/>
          </a:prstGeom>
          <a:solidFill>
            <a:schemeClr val="lt1">
              <a:alpha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endParaRPr lang="pt-BR" sz="1500" dirty="0"/>
          </a:p>
          <a:p>
            <a:pPr algn="ctr"/>
            <a:endParaRPr lang="pt-BR" sz="1500" dirty="0"/>
          </a:p>
          <a:p>
            <a:pPr algn="ctr"/>
            <a:endParaRPr lang="pt-BR" sz="1500" dirty="0"/>
          </a:p>
          <a:p>
            <a:pPr algn="ctr"/>
            <a:r>
              <a:rPr lang="pt-BR" sz="1500" dirty="0" smtClean="0"/>
              <a:t>APP </a:t>
            </a:r>
            <a:r>
              <a:rPr lang="pt-BR" sz="1500" dirty="0" err="1" smtClean="0"/>
              <a:t>PagSeguro</a:t>
            </a:r>
            <a:r>
              <a:rPr lang="pt-BR" sz="1500" dirty="0" smtClean="0"/>
              <a:t>/Segurança</a:t>
            </a:r>
            <a:endParaRPr lang="pt-BR" sz="1500" dirty="0"/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xmlns="" id="{4495AD1D-D468-4192-9CD4-DFB8C9997D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6997" y="6070910"/>
            <a:ext cx="1184798" cy="385059"/>
          </a:xfrm>
          <a:prstGeom prst="rect">
            <a:avLst/>
          </a:prstGeom>
        </p:spPr>
      </p:pic>
      <p:sp>
        <p:nvSpPr>
          <p:cNvPr id="10" name="Seta dobrada para cima 9"/>
          <p:cNvSpPr/>
          <p:nvPr/>
        </p:nvSpPr>
        <p:spPr>
          <a:xfrm rot="5400000">
            <a:off x="6910621" y="5440745"/>
            <a:ext cx="617807" cy="772464"/>
          </a:xfrm>
          <a:prstGeom prst="bentUp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accent2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Seta dobrada para cima 34"/>
          <p:cNvSpPr/>
          <p:nvPr/>
        </p:nvSpPr>
        <p:spPr>
          <a:xfrm rot="5400000">
            <a:off x="4872568" y="3746610"/>
            <a:ext cx="766482" cy="4836431"/>
          </a:xfrm>
          <a:prstGeom prst="bentUp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700">
            <a:solidFill>
              <a:schemeClr val="accent2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318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xmlns="" id="{B82CBE1A-7DE8-418C-8CBB-71089522E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componentes</a:t>
            </a:r>
          </a:p>
        </p:txBody>
      </p:sp>
    </p:spTree>
    <p:extLst>
      <p:ext uri="{BB962C8B-B14F-4D97-AF65-F5344CB8AC3E}">
        <p14:creationId xmlns:p14="http://schemas.microsoft.com/office/powerpoint/2010/main" val="2463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kafka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C9EA366C-A2F5-484B-AC46-1700C9E8D298}"/>
              </a:ext>
            </a:extLst>
          </p:cNvPr>
          <p:cNvSpPr txBox="1"/>
          <p:nvPr/>
        </p:nvSpPr>
        <p:spPr>
          <a:xfrm>
            <a:off x="1141413" y="1912422"/>
            <a:ext cx="1027600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Sistema </a:t>
            </a:r>
            <a:r>
              <a:rPr lang="en-US" dirty="0" err="1"/>
              <a:t>distribuído</a:t>
            </a:r>
            <a:r>
              <a:rPr lang="en-US" dirty="0"/>
              <a:t> de </a:t>
            </a:r>
            <a:r>
              <a:rPr lang="en-US" dirty="0" err="1" smtClean="0"/>
              <a:t>mensagens</a:t>
            </a:r>
            <a:r>
              <a:rPr lang="en-US" dirty="0" smtClean="0"/>
              <a:t> </a:t>
            </a:r>
            <a:r>
              <a:rPr lang="en-US" dirty="0" err="1"/>
              <a:t>criado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LinkedIn e agora </a:t>
            </a:r>
            <a:r>
              <a:rPr lang="en-US" dirty="0" err="1"/>
              <a:t>mantido</a:t>
            </a:r>
            <a:r>
              <a:rPr lang="en-US" dirty="0"/>
              <a:t> pela </a:t>
            </a:r>
            <a:r>
              <a:rPr lang="en-US" dirty="0" smtClean="0"/>
              <a:t>Apache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As </a:t>
            </a:r>
            <a:r>
              <a:rPr lang="en-US" dirty="0" err="1" smtClean="0"/>
              <a:t>suas</a:t>
            </a:r>
            <a:r>
              <a:rPr lang="en-US" dirty="0" smtClean="0"/>
              <a:t> </a:t>
            </a:r>
            <a:r>
              <a:rPr lang="en-US" dirty="0" err="1" smtClean="0"/>
              <a:t>principais</a:t>
            </a:r>
            <a:r>
              <a:rPr lang="en-US" dirty="0" smtClean="0"/>
              <a:t> </a:t>
            </a:r>
            <a:r>
              <a:rPr lang="en-US" dirty="0" err="1"/>
              <a:t>vantagens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a </a:t>
            </a:r>
            <a:r>
              <a:rPr lang="en-US" dirty="0" err="1"/>
              <a:t>simplicidade</a:t>
            </a:r>
            <a:r>
              <a:rPr lang="en-US" dirty="0"/>
              <a:t> de </a:t>
            </a:r>
            <a:r>
              <a:rPr lang="en-US" dirty="0" err="1"/>
              <a:t>configuração</a:t>
            </a:r>
            <a:r>
              <a:rPr lang="en-US" dirty="0"/>
              <a:t> e a </a:t>
            </a:r>
            <a:r>
              <a:rPr lang="en-US" dirty="0" err="1"/>
              <a:t>capacidade</a:t>
            </a:r>
            <a:r>
              <a:rPr lang="en-US" dirty="0"/>
              <a:t> para </a:t>
            </a:r>
            <a:r>
              <a:rPr lang="en-US" dirty="0" err="1"/>
              <a:t>receber</a:t>
            </a:r>
            <a:r>
              <a:rPr lang="en-US" dirty="0"/>
              <a:t> e </a:t>
            </a:r>
            <a:r>
              <a:rPr lang="en-US" dirty="0" err="1"/>
              <a:t>milhões</a:t>
            </a:r>
            <a:r>
              <a:rPr lang="en-US" dirty="0"/>
              <a:t> de </a:t>
            </a:r>
            <a:r>
              <a:rPr lang="en-US" dirty="0" err="1"/>
              <a:t>mensagens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 </a:t>
            </a:r>
            <a:r>
              <a:rPr lang="en-US" dirty="0" err="1"/>
              <a:t>segundo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De forma BEM </a:t>
            </a:r>
            <a:r>
              <a:rPr lang="en-US" dirty="0" err="1"/>
              <a:t>resumida</a:t>
            </a:r>
            <a:r>
              <a:rPr lang="en-US" dirty="0"/>
              <a:t>, </a:t>
            </a:r>
            <a:r>
              <a:rPr lang="en-US" dirty="0" err="1"/>
              <a:t>temos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</a:rPr>
              <a:t>Message</a:t>
            </a:r>
            <a:r>
              <a:rPr lang="en-US" dirty="0"/>
              <a:t> : é a </a:t>
            </a:r>
            <a:r>
              <a:rPr lang="en-US" dirty="0" err="1"/>
              <a:t>mensagem</a:t>
            </a:r>
            <a:r>
              <a:rPr lang="en-US" dirty="0"/>
              <a:t> (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evento</a:t>
            </a:r>
            <a:r>
              <a:rPr lang="en-US" dirty="0"/>
              <a:t>) </a:t>
            </a:r>
            <a:r>
              <a:rPr lang="en-US" dirty="0" err="1"/>
              <a:t>gerado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aplicação</a:t>
            </a:r>
            <a:r>
              <a:rPr lang="en-US" dirty="0"/>
              <a:t>, que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processado</a:t>
            </a:r>
            <a:r>
              <a:rPr lang="en-US" dirty="0"/>
              <a:t> </a:t>
            </a:r>
            <a:r>
              <a:rPr lang="en-US" dirty="0" err="1"/>
              <a:t>posteriormente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algum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. No </a:t>
            </a:r>
            <a:r>
              <a:rPr lang="en-US" dirty="0" err="1"/>
              <a:t>nosso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, as </a:t>
            </a:r>
            <a:r>
              <a:rPr lang="en-US" dirty="0" err="1"/>
              <a:t>mensagens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JSONs com </a:t>
            </a:r>
            <a:r>
              <a:rPr lang="en-US" dirty="0" err="1"/>
              <a:t>os</a:t>
            </a:r>
            <a:r>
              <a:rPr lang="en-US" dirty="0"/>
              <a:t> dados de </a:t>
            </a:r>
            <a:r>
              <a:rPr lang="en-US" dirty="0" err="1"/>
              <a:t>autenticação</a:t>
            </a:r>
            <a:r>
              <a:rPr lang="en-US" dirty="0"/>
              <a:t> e </a:t>
            </a:r>
            <a:r>
              <a:rPr lang="en-US" strike="sngStrike" dirty="0" err="1"/>
              <a:t>autorização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</a:rPr>
              <a:t>Topic</a:t>
            </a:r>
            <a:r>
              <a:rPr lang="en-US" dirty="0"/>
              <a:t> : é o </a:t>
            </a:r>
            <a:r>
              <a:rPr lang="en-US" dirty="0" err="1"/>
              <a:t>agrupamento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categorização</a:t>
            </a:r>
            <a:r>
              <a:rPr lang="en-US" dirty="0"/>
              <a:t> das </a:t>
            </a:r>
            <a:r>
              <a:rPr lang="en-US" dirty="0" err="1"/>
              <a:t>mensagens</a:t>
            </a:r>
            <a:r>
              <a:rPr lang="en-US" dirty="0"/>
              <a:t>, </a:t>
            </a:r>
            <a:r>
              <a:rPr lang="en-US" dirty="0" err="1"/>
              <a:t>exemplos</a:t>
            </a:r>
            <a:r>
              <a:rPr lang="en-US" dirty="0"/>
              <a:t> de </a:t>
            </a:r>
            <a:r>
              <a:rPr lang="en-US" dirty="0" err="1"/>
              <a:t>tópicos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“</a:t>
            </a:r>
            <a:r>
              <a:rPr lang="en-US" dirty="0" err="1"/>
              <a:t>autenticacao</a:t>
            </a:r>
            <a:r>
              <a:rPr lang="en-US" dirty="0"/>
              <a:t>” que </a:t>
            </a:r>
            <a:r>
              <a:rPr lang="en-US" dirty="0" err="1"/>
              <a:t>receberá</a:t>
            </a:r>
            <a:r>
              <a:rPr lang="en-US" dirty="0"/>
              <a:t> </a:t>
            </a:r>
            <a:r>
              <a:rPr lang="en-US" dirty="0" err="1"/>
              <a:t>apenas</a:t>
            </a:r>
            <a:r>
              <a:rPr lang="en-US" dirty="0"/>
              <a:t> as </a:t>
            </a:r>
            <a:r>
              <a:rPr lang="en-US" dirty="0" err="1"/>
              <a:t>mensagens</a:t>
            </a:r>
            <a:r>
              <a:rPr lang="en-US" dirty="0"/>
              <a:t> de </a:t>
            </a:r>
            <a:r>
              <a:rPr lang="en-US" dirty="0" err="1"/>
              <a:t>autenticação</a:t>
            </a:r>
            <a:r>
              <a:rPr lang="en-US" dirty="0"/>
              <a:t>, e outro </a:t>
            </a:r>
            <a:r>
              <a:rPr lang="en-US" dirty="0" err="1"/>
              <a:t>tópico</a:t>
            </a:r>
            <a:r>
              <a:rPr lang="en-US" dirty="0"/>
              <a:t> </a:t>
            </a:r>
            <a:r>
              <a:rPr lang="en-US" dirty="0" err="1"/>
              <a:t>chamado</a:t>
            </a:r>
            <a:r>
              <a:rPr lang="en-US" dirty="0"/>
              <a:t> “</a:t>
            </a:r>
            <a:r>
              <a:rPr lang="en-US" strike="sngStrike" dirty="0" err="1"/>
              <a:t>autorizacao</a:t>
            </a:r>
            <a:r>
              <a:rPr lang="en-US" dirty="0"/>
              <a:t>”.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</a:rPr>
              <a:t>Producer</a:t>
            </a:r>
            <a:r>
              <a:rPr lang="en-US" dirty="0"/>
              <a:t> : </a:t>
            </a:r>
            <a:r>
              <a:rPr lang="en-US" dirty="0" err="1"/>
              <a:t>aplicações</a:t>
            </a:r>
            <a:r>
              <a:rPr lang="en-US" dirty="0"/>
              <a:t> </a:t>
            </a:r>
            <a:r>
              <a:rPr lang="en-US" dirty="0" err="1"/>
              <a:t>responsáveis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gerar</a:t>
            </a:r>
            <a:r>
              <a:rPr lang="en-US" dirty="0"/>
              <a:t> as </a:t>
            </a:r>
            <a:r>
              <a:rPr lang="en-US" dirty="0" err="1"/>
              <a:t>mensagens</a:t>
            </a:r>
            <a:r>
              <a:rPr lang="en-US" dirty="0"/>
              <a:t> e </a:t>
            </a:r>
            <a:r>
              <a:rPr lang="en-US" dirty="0" err="1"/>
              <a:t>enviá</a:t>
            </a:r>
            <a:r>
              <a:rPr lang="en-US" dirty="0"/>
              <a:t>-las para o </a:t>
            </a:r>
            <a:r>
              <a:rPr lang="en-US" dirty="0" err="1"/>
              <a:t>respectivo</a:t>
            </a:r>
            <a:r>
              <a:rPr lang="en-US" dirty="0"/>
              <a:t> </a:t>
            </a:r>
            <a:r>
              <a:rPr lang="en-US" dirty="0" err="1"/>
              <a:t>tópico</a:t>
            </a:r>
            <a:r>
              <a:rPr lang="en-US" dirty="0"/>
              <a:t>.  </a:t>
            </a:r>
            <a:r>
              <a:rPr lang="en-US" dirty="0" err="1"/>
              <a:t>Nesta</a:t>
            </a:r>
            <a:r>
              <a:rPr lang="en-US" dirty="0"/>
              <a:t> </a:t>
            </a:r>
            <a:r>
              <a:rPr lang="en-US" dirty="0" err="1" smtClean="0"/>
              <a:t>Arquitetura</a:t>
            </a:r>
            <a:r>
              <a:rPr lang="en-US" dirty="0" smtClean="0"/>
              <a:t>, </a:t>
            </a:r>
            <a:r>
              <a:rPr lang="en-US" dirty="0"/>
              <a:t>o Gaudi </a:t>
            </a:r>
            <a:r>
              <a:rPr lang="en-US" dirty="0" err="1" smtClean="0"/>
              <a:t>enviaria</a:t>
            </a:r>
            <a:r>
              <a:rPr lang="en-US" dirty="0" smtClean="0"/>
              <a:t> </a:t>
            </a:r>
            <a:r>
              <a:rPr lang="en-US" dirty="0"/>
              <a:t>as </a:t>
            </a:r>
            <a:r>
              <a:rPr lang="en-US" dirty="0" err="1"/>
              <a:t>mensagens</a:t>
            </a:r>
            <a:r>
              <a:rPr lang="en-US" dirty="0"/>
              <a:t> </a:t>
            </a:r>
            <a:r>
              <a:rPr lang="en-US" dirty="0" err="1"/>
              <a:t>através</a:t>
            </a:r>
            <a:r>
              <a:rPr lang="en-US" dirty="0"/>
              <a:t> do </a:t>
            </a:r>
            <a:r>
              <a:rPr lang="en-US" dirty="0" err="1" smtClean="0"/>
              <a:t>Logstash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</a:rPr>
              <a:t>Consumer</a:t>
            </a:r>
            <a:r>
              <a:rPr lang="en-US" dirty="0"/>
              <a:t> : </a:t>
            </a:r>
            <a:r>
              <a:rPr lang="en-US" dirty="0" err="1"/>
              <a:t>aplicações</a:t>
            </a:r>
            <a:r>
              <a:rPr lang="en-US" dirty="0"/>
              <a:t> que </a:t>
            </a:r>
            <a:r>
              <a:rPr lang="en-US" dirty="0" err="1"/>
              <a:t>irão</a:t>
            </a:r>
            <a:r>
              <a:rPr lang="en-US" dirty="0"/>
              <a:t> </a:t>
            </a:r>
            <a:r>
              <a:rPr lang="en-US" dirty="0" err="1"/>
              <a:t>pegar</a:t>
            </a:r>
            <a:r>
              <a:rPr lang="en-US" dirty="0"/>
              <a:t> as </a:t>
            </a:r>
            <a:r>
              <a:rPr lang="en-US" dirty="0" err="1"/>
              <a:t>mensagens</a:t>
            </a:r>
            <a:r>
              <a:rPr lang="en-US" dirty="0"/>
              <a:t> </a:t>
            </a:r>
            <a:r>
              <a:rPr lang="en-US" dirty="0" err="1"/>
              <a:t>geradas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producer para </a:t>
            </a:r>
            <a:r>
              <a:rPr lang="en-US" dirty="0" err="1"/>
              <a:t>processamento</a:t>
            </a:r>
            <a:r>
              <a:rPr lang="en-US" dirty="0"/>
              <a:t> (</a:t>
            </a:r>
            <a:r>
              <a:rPr lang="en-US" dirty="0" err="1"/>
              <a:t>nesta</a:t>
            </a:r>
            <a:r>
              <a:rPr lang="en-US" dirty="0"/>
              <a:t> </a:t>
            </a:r>
            <a:r>
              <a:rPr lang="en-US" dirty="0" err="1" smtClean="0"/>
              <a:t>Arquitetura</a:t>
            </a:r>
            <a:r>
              <a:rPr lang="en-US" dirty="0" smtClean="0"/>
              <a:t> </a:t>
            </a:r>
            <a:r>
              <a:rPr lang="en-US" dirty="0" err="1" smtClean="0"/>
              <a:t>seria</a:t>
            </a:r>
            <a:r>
              <a:rPr lang="en-US" dirty="0" smtClean="0"/>
              <a:t> o Spark Streaming)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748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tângulo 123">
            <a:extLst>
              <a:ext uri="{FF2B5EF4-FFF2-40B4-BE49-F238E27FC236}">
                <a16:creationId xmlns:a16="http://schemas.microsoft.com/office/drawing/2014/main" xmlns="" id="{3EA46AB4-7046-4D59-876D-ED27A16CB375}"/>
              </a:ext>
            </a:extLst>
          </p:cNvPr>
          <p:cNvSpPr/>
          <p:nvPr/>
        </p:nvSpPr>
        <p:spPr>
          <a:xfrm>
            <a:off x="7172979" y="3105150"/>
            <a:ext cx="1730621" cy="3314614"/>
          </a:xfrm>
          <a:prstGeom prst="rect">
            <a:avLst/>
          </a:prstGeom>
          <a:solidFill>
            <a:schemeClr val="accent6">
              <a:lumMod val="5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500" dirty="0"/>
          </a:p>
        </p:txBody>
      </p:sp>
      <p:sp>
        <p:nvSpPr>
          <p:cNvPr id="123" name="Retângulo 122">
            <a:extLst>
              <a:ext uri="{FF2B5EF4-FFF2-40B4-BE49-F238E27FC236}">
                <a16:creationId xmlns:a16="http://schemas.microsoft.com/office/drawing/2014/main" xmlns="" id="{8EC313F6-8874-4B41-9DDF-920111BD6358}"/>
              </a:ext>
            </a:extLst>
          </p:cNvPr>
          <p:cNvSpPr/>
          <p:nvPr/>
        </p:nvSpPr>
        <p:spPr>
          <a:xfrm>
            <a:off x="2533650" y="3105150"/>
            <a:ext cx="1730621" cy="3314614"/>
          </a:xfrm>
          <a:prstGeom prst="rect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500" dirty="0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xmlns="" id="{6369CF5C-4DC5-470C-A122-6300CA41BD36}"/>
              </a:ext>
            </a:extLst>
          </p:cNvPr>
          <p:cNvSpPr/>
          <p:nvPr/>
        </p:nvSpPr>
        <p:spPr>
          <a:xfrm>
            <a:off x="4687392" y="3105150"/>
            <a:ext cx="2013357" cy="331461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5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F31F664-3E4D-4498-B992-5F9EBC414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kafka</a:t>
            </a:r>
            <a:endParaRPr lang="pt-BR" dirty="0"/>
          </a:p>
        </p:txBody>
      </p:sp>
      <p:pic>
        <p:nvPicPr>
          <p:cNvPr id="9" name="Gráfico 8" descr="Hierarquia">
            <a:extLst>
              <a:ext uri="{FF2B5EF4-FFF2-40B4-BE49-F238E27FC236}">
                <a16:creationId xmlns:a16="http://schemas.microsoft.com/office/drawing/2014/main" xmlns="" id="{0F5C8AEF-624C-48F0-9BAD-F45C70B30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236870" y="3462385"/>
            <a:ext cx="914400" cy="914400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xmlns="" id="{C6C2F305-1D1C-4075-839D-C15B2BAD3D6C}"/>
              </a:ext>
            </a:extLst>
          </p:cNvPr>
          <p:cNvSpPr txBox="1"/>
          <p:nvPr/>
        </p:nvSpPr>
        <p:spPr>
          <a:xfrm>
            <a:off x="4778980" y="3082092"/>
            <a:ext cx="1830181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300" b="1" dirty="0">
                <a:solidFill>
                  <a:schemeClr val="accent2">
                    <a:lumMod val="75000"/>
                  </a:schemeClr>
                </a:solidFill>
              </a:rPr>
              <a:t>Cluster Kafka</a:t>
            </a:r>
          </a:p>
        </p:txBody>
      </p:sp>
      <p:grpSp>
        <p:nvGrpSpPr>
          <p:cNvPr id="40" name="Agrupar 39">
            <a:extLst>
              <a:ext uri="{FF2B5EF4-FFF2-40B4-BE49-F238E27FC236}">
                <a16:creationId xmlns:a16="http://schemas.microsoft.com/office/drawing/2014/main" xmlns="" id="{4D8CA3C4-EA7D-4145-A4D1-8E802E2B22A4}"/>
              </a:ext>
            </a:extLst>
          </p:cNvPr>
          <p:cNvGrpSpPr/>
          <p:nvPr/>
        </p:nvGrpSpPr>
        <p:grpSpPr>
          <a:xfrm>
            <a:off x="6371201" y="4543026"/>
            <a:ext cx="1079410" cy="914400"/>
            <a:chOff x="3450809" y="3766824"/>
            <a:chExt cx="1079410" cy="914400"/>
          </a:xfrm>
        </p:grpSpPr>
        <p:pic>
          <p:nvPicPr>
            <p:cNvPr id="41" name="Gráfico 40" descr="Seta: curva ligeira">
              <a:extLst>
                <a:ext uri="{FF2B5EF4-FFF2-40B4-BE49-F238E27FC236}">
                  <a16:creationId xmlns:a16="http://schemas.microsoft.com/office/drawing/2014/main" xmlns="" id="{5080CD9A-2BBC-4B15-848D-EC7D46E40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3450809" y="3766824"/>
              <a:ext cx="1079410" cy="914400"/>
            </a:xfrm>
            <a:prstGeom prst="rect">
              <a:avLst/>
            </a:prstGeom>
          </p:spPr>
        </p:pic>
        <p:grpSp>
          <p:nvGrpSpPr>
            <p:cNvPr id="42" name="Agrupar 41">
              <a:extLst>
                <a:ext uri="{FF2B5EF4-FFF2-40B4-BE49-F238E27FC236}">
                  <a16:creationId xmlns:a16="http://schemas.microsoft.com/office/drawing/2014/main" xmlns="" id="{ECBFE7C3-DC08-4FFE-B038-E1AA113E99C6}"/>
                </a:ext>
              </a:extLst>
            </p:cNvPr>
            <p:cNvGrpSpPr/>
            <p:nvPr/>
          </p:nvGrpSpPr>
          <p:grpSpPr>
            <a:xfrm>
              <a:off x="3797459" y="3952989"/>
              <a:ext cx="369332" cy="369332"/>
              <a:chOff x="2121252" y="2030136"/>
              <a:chExt cx="1425584" cy="1425583"/>
            </a:xfrm>
          </p:grpSpPr>
          <p:sp>
            <p:nvSpPr>
              <p:cNvPr id="43" name="Retângulo 42">
                <a:extLst>
                  <a:ext uri="{FF2B5EF4-FFF2-40B4-BE49-F238E27FC236}">
                    <a16:creationId xmlns:a16="http://schemas.microsoft.com/office/drawing/2014/main" xmlns="" id="{5A79A7B0-9FC3-46D1-897E-0CFDBA949C79}"/>
                  </a:ext>
                </a:extLst>
              </p:cNvPr>
              <p:cNvSpPr/>
              <p:nvPr/>
            </p:nvSpPr>
            <p:spPr>
              <a:xfrm>
                <a:off x="2256639" y="2315361"/>
                <a:ext cx="1148838" cy="834313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/>
                <a:endParaRPr lang="pt-BR" sz="1500" dirty="0"/>
              </a:p>
            </p:txBody>
          </p:sp>
          <p:pic>
            <p:nvPicPr>
              <p:cNvPr id="44" name="Gráfico 43" descr="Envelope">
                <a:extLst>
                  <a:ext uri="{FF2B5EF4-FFF2-40B4-BE49-F238E27FC236}">
                    <a16:creationId xmlns:a16="http://schemas.microsoft.com/office/drawing/2014/main" xmlns="" id="{5009417D-A028-42F9-A4A1-611C36FA30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2121252" y="2030136"/>
                <a:ext cx="1425584" cy="1425583"/>
              </a:xfrm>
              <a:prstGeom prst="rect">
                <a:avLst/>
              </a:prstGeom>
            </p:spPr>
          </p:pic>
        </p:grpSp>
      </p:grpSp>
      <p:grpSp>
        <p:nvGrpSpPr>
          <p:cNvPr id="85" name="Agrupar 84">
            <a:extLst>
              <a:ext uri="{FF2B5EF4-FFF2-40B4-BE49-F238E27FC236}">
                <a16:creationId xmlns:a16="http://schemas.microsoft.com/office/drawing/2014/main" xmlns="" id="{0C8A0461-E6AA-4285-94BE-F0AD034D723D}"/>
              </a:ext>
            </a:extLst>
          </p:cNvPr>
          <p:cNvGrpSpPr/>
          <p:nvPr/>
        </p:nvGrpSpPr>
        <p:grpSpPr>
          <a:xfrm>
            <a:off x="2709065" y="3648075"/>
            <a:ext cx="1379790" cy="2771688"/>
            <a:chOff x="2673060" y="2831671"/>
            <a:chExt cx="1466235" cy="2945336"/>
          </a:xfrm>
        </p:grpSpPr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xmlns="" id="{10142769-8BD1-4521-B746-B6D02BF415C6}"/>
                </a:ext>
              </a:extLst>
            </p:cNvPr>
            <p:cNvGrpSpPr/>
            <p:nvPr/>
          </p:nvGrpSpPr>
          <p:grpSpPr>
            <a:xfrm>
              <a:off x="2673060" y="3768741"/>
              <a:ext cx="1466235" cy="1071195"/>
              <a:chOff x="389095" y="3059668"/>
              <a:chExt cx="1466235" cy="1071195"/>
            </a:xfrm>
          </p:grpSpPr>
          <p:pic>
            <p:nvPicPr>
              <p:cNvPr id="5" name="Gráfico 4" descr="Computador">
                <a:extLst>
                  <a:ext uri="{FF2B5EF4-FFF2-40B4-BE49-F238E27FC236}">
                    <a16:creationId xmlns:a16="http://schemas.microsoft.com/office/drawing/2014/main" xmlns="" id="{ACDEFD00-E210-4F32-9AD7-BAABAEE626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665006" y="3216463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xmlns="" id="{C9C701AD-6967-4201-878A-EB262D72C3E1}"/>
                  </a:ext>
                </a:extLst>
              </p:cNvPr>
              <p:cNvSpPr txBox="1"/>
              <p:nvPr/>
            </p:nvSpPr>
            <p:spPr>
              <a:xfrm>
                <a:off x="389095" y="3059668"/>
                <a:ext cx="14662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dirty="0"/>
                  <a:t>App Parceiros</a:t>
                </a:r>
              </a:p>
            </p:txBody>
          </p:sp>
        </p:grp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xmlns="" id="{6CA3BE6E-B82B-4662-936B-654EC8327E73}"/>
                </a:ext>
              </a:extLst>
            </p:cNvPr>
            <p:cNvGrpSpPr/>
            <p:nvPr/>
          </p:nvGrpSpPr>
          <p:grpSpPr>
            <a:xfrm>
              <a:off x="2732848" y="4705812"/>
              <a:ext cx="1346651" cy="1071195"/>
              <a:chOff x="448883" y="3059668"/>
              <a:chExt cx="1346651" cy="1071195"/>
            </a:xfrm>
          </p:grpSpPr>
          <p:pic>
            <p:nvPicPr>
              <p:cNvPr id="46" name="Gráfico 45" descr="Computador">
                <a:extLst>
                  <a:ext uri="{FF2B5EF4-FFF2-40B4-BE49-F238E27FC236}">
                    <a16:creationId xmlns:a16="http://schemas.microsoft.com/office/drawing/2014/main" xmlns="" id="{0DC9B8EB-94AA-4E17-A70C-C90065CD08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665006" y="3216463"/>
                <a:ext cx="914400" cy="914400"/>
              </a:xfrm>
              <a:prstGeom prst="rect">
                <a:avLst/>
              </a:prstGeom>
            </p:spPr>
          </p:pic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xmlns="" id="{7E17FB88-AF8B-4DBC-A934-1CC365E506C6}"/>
                  </a:ext>
                </a:extLst>
              </p:cNvPr>
              <p:cNvSpPr txBox="1"/>
              <p:nvPr/>
            </p:nvSpPr>
            <p:spPr>
              <a:xfrm>
                <a:off x="448883" y="3059668"/>
                <a:ext cx="13466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dirty="0"/>
                  <a:t>App Internas</a:t>
                </a:r>
              </a:p>
            </p:txBody>
          </p:sp>
        </p:grpSp>
        <p:grpSp>
          <p:nvGrpSpPr>
            <p:cNvPr id="48" name="Agrupar 47">
              <a:extLst>
                <a:ext uri="{FF2B5EF4-FFF2-40B4-BE49-F238E27FC236}">
                  <a16:creationId xmlns:a16="http://schemas.microsoft.com/office/drawing/2014/main" xmlns="" id="{25486D6A-6ABC-4B4C-8188-BF953F3A36DA}"/>
                </a:ext>
              </a:extLst>
            </p:cNvPr>
            <p:cNvGrpSpPr/>
            <p:nvPr/>
          </p:nvGrpSpPr>
          <p:grpSpPr>
            <a:xfrm>
              <a:off x="2779368" y="2831671"/>
              <a:ext cx="1253613" cy="1071195"/>
              <a:chOff x="495403" y="3059668"/>
              <a:chExt cx="1253613" cy="1071195"/>
            </a:xfrm>
          </p:grpSpPr>
          <p:pic>
            <p:nvPicPr>
              <p:cNvPr id="49" name="Gráfico 48" descr="Computador">
                <a:extLst>
                  <a:ext uri="{FF2B5EF4-FFF2-40B4-BE49-F238E27FC236}">
                    <a16:creationId xmlns:a16="http://schemas.microsoft.com/office/drawing/2014/main" xmlns="" id="{FE2DA0C2-1162-477D-868C-1C0D1624F5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665006" y="3216463"/>
                <a:ext cx="914400" cy="914400"/>
              </a:xfrm>
              <a:prstGeom prst="rect">
                <a:avLst/>
              </a:prstGeom>
            </p:spPr>
          </p:pic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xmlns="" id="{79958B25-FDF9-43FD-8809-5E92F3A69B61}"/>
                  </a:ext>
                </a:extLst>
              </p:cNvPr>
              <p:cNvSpPr txBox="1"/>
              <p:nvPr/>
            </p:nvSpPr>
            <p:spPr>
              <a:xfrm>
                <a:off x="495403" y="3059668"/>
                <a:ext cx="12536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dirty="0"/>
                  <a:t>App Twitter</a:t>
                </a:r>
              </a:p>
            </p:txBody>
          </p:sp>
        </p:grp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xmlns="" id="{DEBDCDDE-CA7C-4291-B543-43E028D9BE74}"/>
              </a:ext>
            </a:extLst>
          </p:cNvPr>
          <p:cNvGrpSpPr/>
          <p:nvPr/>
        </p:nvGrpSpPr>
        <p:grpSpPr>
          <a:xfrm>
            <a:off x="7471698" y="3648075"/>
            <a:ext cx="1133182" cy="2771688"/>
            <a:chOff x="7414251" y="2829754"/>
            <a:chExt cx="1204177" cy="2945336"/>
          </a:xfrm>
        </p:grpSpPr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xmlns="" id="{FE4BC7FE-FC0E-47C3-A745-90A6068066E6}"/>
                </a:ext>
              </a:extLst>
            </p:cNvPr>
            <p:cNvGrpSpPr/>
            <p:nvPr/>
          </p:nvGrpSpPr>
          <p:grpSpPr>
            <a:xfrm>
              <a:off x="7426273" y="3766824"/>
              <a:ext cx="1180131" cy="1071195"/>
              <a:chOff x="532141" y="3059668"/>
              <a:chExt cx="1180131" cy="1071195"/>
            </a:xfrm>
          </p:grpSpPr>
          <p:pic>
            <p:nvPicPr>
              <p:cNvPr id="52" name="Gráfico 51" descr="Computador">
                <a:extLst>
                  <a:ext uri="{FF2B5EF4-FFF2-40B4-BE49-F238E27FC236}">
                    <a16:creationId xmlns:a16="http://schemas.microsoft.com/office/drawing/2014/main" xmlns="" id="{E95645C1-040D-4D72-B26C-EFA4A8719F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665006" y="3216463"/>
                <a:ext cx="914400" cy="914400"/>
              </a:xfrm>
              <a:prstGeom prst="rect">
                <a:avLst/>
              </a:prstGeom>
            </p:spPr>
          </p:pic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xmlns="" id="{A0689A77-A56D-4650-AF00-C3F22CB44A92}"/>
                  </a:ext>
                </a:extLst>
              </p:cNvPr>
              <p:cNvSpPr txBox="1"/>
              <p:nvPr/>
            </p:nvSpPr>
            <p:spPr>
              <a:xfrm>
                <a:off x="532141" y="3059668"/>
                <a:ext cx="1180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dirty="0" err="1"/>
                  <a:t>ConsumerB</a:t>
                </a:r>
                <a:endParaRPr lang="pt-BR" dirty="0"/>
              </a:p>
            </p:txBody>
          </p:sp>
        </p:grpSp>
        <p:grpSp>
          <p:nvGrpSpPr>
            <p:cNvPr id="54" name="Agrupar 53">
              <a:extLst>
                <a:ext uri="{FF2B5EF4-FFF2-40B4-BE49-F238E27FC236}">
                  <a16:creationId xmlns:a16="http://schemas.microsoft.com/office/drawing/2014/main" xmlns="" id="{BA3A23B3-AF24-4843-BDA0-E0A795F7C1C7}"/>
                </a:ext>
              </a:extLst>
            </p:cNvPr>
            <p:cNvGrpSpPr/>
            <p:nvPr/>
          </p:nvGrpSpPr>
          <p:grpSpPr>
            <a:xfrm>
              <a:off x="7414251" y="4703895"/>
              <a:ext cx="1204176" cy="1071195"/>
              <a:chOff x="520119" y="3059668"/>
              <a:chExt cx="1204176" cy="1071195"/>
            </a:xfrm>
          </p:grpSpPr>
          <p:pic>
            <p:nvPicPr>
              <p:cNvPr id="55" name="Gráfico 54" descr="Computador">
                <a:extLst>
                  <a:ext uri="{FF2B5EF4-FFF2-40B4-BE49-F238E27FC236}">
                    <a16:creationId xmlns:a16="http://schemas.microsoft.com/office/drawing/2014/main" xmlns="" id="{791256E2-BDB4-4E13-B954-614F9BFF30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665006" y="3216463"/>
                <a:ext cx="914400" cy="914400"/>
              </a:xfrm>
              <a:prstGeom prst="rect">
                <a:avLst/>
              </a:prstGeom>
            </p:spPr>
          </p:pic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xmlns="" id="{47E46551-9F4F-4825-A1DC-6EEE3F748635}"/>
                  </a:ext>
                </a:extLst>
              </p:cNvPr>
              <p:cNvSpPr txBox="1"/>
              <p:nvPr/>
            </p:nvSpPr>
            <p:spPr>
              <a:xfrm>
                <a:off x="520119" y="3059668"/>
                <a:ext cx="120417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dirty="0" err="1"/>
                  <a:t>ConsumerC</a:t>
                </a:r>
                <a:endParaRPr lang="pt-BR" dirty="0"/>
              </a:p>
              <a:p>
                <a:pPr algn="ctr"/>
                <a:endParaRPr lang="pt-BR" dirty="0"/>
              </a:p>
            </p:txBody>
          </p:sp>
        </p:grpSp>
        <p:grpSp>
          <p:nvGrpSpPr>
            <p:cNvPr id="57" name="Agrupar 56">
              <a:extLst>
                <a:ext uri="{FF2B5EF4-FFF2-40B4-BE49-F238E27FC236}">
                  <a16:creationId xmlns:a16="http://schemas.microsoft.com/office/drawing/2014/main" xmlns="" id="{499F7FB9-E102-48C7-B80F-C0BCE115EEB5}"/>
                </a:ext>
              </a:extLst>
            </p:cNvPr>
            <p:cNvGrpSpPr/>
            <p:nvPr/>
          </p:nvGrpSpPr>
          <p:grpSpPr>
            <a:xfrm>
              <a:off x="7414252" y="2829754"/>
              <a:ext cx="1204176" cy="1071195"/>
              <a:chOff x="520120" y="3059668"/>
              <a:chExt cx="1204176" cy="1071195"/>
            </a:xfrm>
          </p:grpSpPr>
          <p:pic>
            <p:nvPicPr>
              <p:cNvPr id="58" name="Gráfico 57" descr="Computador">
                <a:extLst>
                  <a:ext uri="{FF2B5EF4-FFF2-40B4-BE49-F238E27FC236}">
                    <a16:creationId xmlns:a16="http://schemas.microsoft.com/office/drawing/2014/main" xmlns="" id="{58ADF007-42A6-4921-832E-34F3DE100E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665006" y="3216463"/>
                <a:ext cx="914400" cy="914400"/>
              </a:xfrm>
              <a:prstGeom prst="rect">
                <a:avLst/>
              </a:prstGeom>
            </p:spPr>
          </p:pic>
          <p:sp>
            <p:nvSpPr>
              <p:cNvPr id="59" name="CaixaDeTexto 58">
                <a:extLst>
                  <a:ext uri="{FF2B5EF4-FFF2-40B4-BE49-F238E27FC236}">
                    <a16:creationId xmlns:a16="http://schemas.microsoft.com/office/drawing/2014/main" xmlns="" id="{D28CA5B6-3A1C-4B26-BF77-90AB0814201D}"/>
                  </a:ext>
                </a:extLst>
              </p:cNvPr>
              <p:cNvSpPr txBox="1"/>
              <p:nvPr/>
            </p:nvSpPr>
            <p:spPr>
              <a:xfrm>
                <a:off x="520120" y="3059668"/>
                <a:ext cx="12041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dirty="0" err="1"/>
                  <a:t>ConsumerA</a:t>
                </a:r>
                <a:endParaRPr lang="pt-BR" dirty="0"/>
              </a:p>
            </p:txBody>
          </p:sp>
        </p:grpSp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xmlns="" id="{234CEC0C-4F53-4F24-9E91-D876F79C1061}"/>
              </a:ext>
            </a:extLst>
          </p:cNvPr>
          <p:cNvGrpSpPr/>
          <p:nvPr/>
        </p:nvGrpSpPr>
        <p:grpSpPr>
          <a:xfrm rot="1181874">
            <a:off x="6371201" y="5053544"/>
            <a:ext cx="1079410" cy="914400"/>
            <a:chOff x="3450809" y="3766824"/>
            <a:chExt cx="1079410" cy="914400"/>
          </a:xfrm>
        </p:grpSpPr>
        <p:pic>
          <p:nvPicPr>
            <p:cNvPr id="61" name="Gráfico 60" descr="Seta: curva ligeira">
              <a:extLst>
                <a:ext uri="{FF2B5EF4-FFF2-40B4-BE49-F238E27FC236}">
                  <a16:creationId xmlns:a16="http://schemas.microsoft.com/office/drawing/2014/main" xmlns="" id="{C9A0437A-0D18-40AC-ADB9-28C23A3F9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3450809" y="3766824"/>
              <a:ext cx="1079410" cy="914400"/>
            </a:xfrm>
            <a:prstGeom prst="rect">
              <a:avLst/>
            </a:prstGeom>
          </p:spPr>
        </p:pic>
        <p:grpSp>
          <p:nvGrpSpPr>
            <p:cNvPr id="62" name="Agrupar 61">
              <a:extLst>
                <a:ext uri="{FF2B5EF4-FFF2-40B4-BE49-F238E27FC236}">
                  <a16:creationId xmlns:a16="http://schemas.microsoft.com/office/drawing/2014/main" xmlns="" id="{1D911C17-A5DE-4834-9972-F6147B852A88}"/>
                </a:ext>
              </a:extLst>
            </p:cNvPr>
            <p:cNvGrpSpPr/>
            <p:nvPr/>
          </p:nvGrpSpPr>
          <p:grpSpPr>
            <a:xfrm>
              <a:off x="3797459" y="3952989"/>
              <a:ext cx="369332" cy="369332"/>
              <a:chOff x="2121252" y="2030136"/>
              <a:chExt cx="1425584" cy="1425583"/>
            </a:xfrm>
          </p:grpSpPr>
          <p:sp>
            <p:nvSpPr>
              <p:cNvPr id="63" name="Retângulo 62">
                <a:extLst>
                  <a:ext uri="{FF2B5EF4-FFF2-40B4-BE49-F238E27FC236}">
                    <a16:creationId xmlns:a16="http://schemas.microsoft.com/office/drawing/2014/main" xmlns="" id="{378A650D-BD95-40B2-BD2C-899049D7BB69}"/>
                  </a:ext>
                </a:extLst>
              </p:cNvPr>
              <p:cNvSpPr/>
              <p:nvPr/>
            </p:nvSpPr>
            <p:spPr>
              <a:xfrm>
                <a:off x="2256639" y="2315361"/>
                <a:ext cx="1148838" cy="834313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/>
                <a:endParaRPr lang="pt-BR" sz="1500" dirty="0"/>
              </a:p>
            </p:txBody>
          </p:sp>
          <p:pic>
            <p:nvPicPr>
              <p:cNvPr id="64" name="Gráfico 63" descr="Envelope">
                <a:extLst>
                  <a:ext uri="{FF2B5EF4-FFF2-40B4-BE49-F238E27FC236}">
                    <a16:creationId xmlns:a16="http://schemas.microsoft.com/office/drawing/2014/main" xmlns="" id="{9E891E41-0DF1-4924-B1A5-A24C70B995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2121252" y="2030136"/>
                <a:ext cx="1425584" cy="1425583"/>
              </a:xfrm>
              <a:prstGeom prst="rect">
                <a:avLst/>
              </a:prstGeom>
            </p:spPr>
          </p:pic>
        </p:grp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xmlns="" id="{9A70D72F-6758-4EE1-8E41-D7BE9CFE85EB}"/>
              </a:ext>
            </a:extLst>
          </p:cNvPr>
          <p:cNvGrpSpPr/>
          <p:nvPr/>
        </p:nvGrpSpPr>
        <p:grpSpPr>
          <a:xfrm rot="20261418">
            <a:off x="6371201" y="3990992"/>
            <a:ext cx="1079410" cy="914400"/>
            <a:chOff x="3450809" y="3766824"/>
            <a:chExt cx="1079410" cy="914400"/>
          </a:xfrm>
        </p:grpSpPr>
        <p:pic>
          <p:nvPicPr>
            <p:cNvPr id="66" name="Gráfico 65" descr="Seta: curva ligeira">
              <a:extLst>
                <a:ext uri="{FF2B5EF4-FFF2-40B4-BE49-F238E27FC236}">
                  <a16:creationId xmlns:a16="http://schemas.microsoft.com/office/drawing/2014/main" xmlns="" id="{CAA601AD-CA8C-4AE1-9216-599E615D5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3450809" y="3766824"/>
              <a:ext cx="1079410" cy="914400"/>
            </a:xfrm>
            <a:prstGeom prst="rect">
              <a:avLst/>
            </a:prstGeom>
          </p:spPr>
        </p:pic>
        <p:grpSp>
          <p:nvGrpSpPr>
            <p:cNvPr id="67" name="Agrupar 66">
              <a:extLst>
                <a:ext uri="{FF2B5EF4-FFF2-40B4-BE49-F238E27FC236}">
                  <a16:creationId xmlns:a16="http://schemas.microsoft.com/office/drawing/2014/main" xmlns="" id="{B1905097-8638-47B0-B5F3-8EB2B6C64E8C}"/>
                </a:ext>
              </a:extLst>
            </p:cNvPr>
            <p:cNvGrpSpPr/>
            <p:nvPr/>
          </p:nvGrpSpPr>
          <p:grpSpPr>
            <a:xfrm>
              <a:off x="3797459" y="3952989"/>
              <a:ext cx="369332" cy="369332"/>
              <a:chOff x="2121252" y="2030136"/>
              <a:chExt cx="1425584" cy="1425583"/>
            </a:xfrm>
          </p:grpSpPr>
          <p:sp>
            <p:nvSpPr>
              <p:cNvPr id="68" name="Retângulo 67">
                <a:extLst>
                  <a:ext uri="{FF2B5EF4-FFF2-40B4-BE49-F238E27FC236}">
                    <a16:creationId xmlns:a16="http://schemas.microsoft.com/office/drawing/2014/main" xmlns="" id="{11E7F63F-5765-4B7D-B0B4-A8D764BEDD2B}"/>
                  </a:ext>
                </a:extLst>
              </p:cNvPr>
              <p:cNvSpPr/>
              <p:nvPr/>
            </p:nvSpPr>
            <p:spPr>
              <a:xfrm>
                <a:off x="2256639" y="2315361"/>
                <a:ext cx="1148838" cy="834313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/>
                <a:endParaRPr lang="pt-BR" sz="1500" dirty="0"/>
              </a:p>
            </p:txBody>
          </p:sp>
          <p:pic>
            <p:nvPicPr>
              <p:cNvPr id="69" name="Gráfico 68" descr="Envelope">
                <a:extLst>
                  <a:ext uri="{FF2B5EF4-FFF2-40B4-BE49-F238E27FC236}">
                    <a16:creationId xmlns:a16="http://schemas.microsoft.com/office/drawing/2014/main" xmlns="" id="{C008883A-F9A0-45D3-8CBA-E524A78B22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2121252" y="2030136"/>
                <a:ext cx="1425584" cy="1425583"/>
              </a:xfrm>
              <a:prstGeom prst="rect">
                <a:avLst/>
              </a:prstGeom>
            </p:spPr>
          </p:pic>
        </p:grpSp>
      </p:grpSp>
      <p:grpSp>
        <p:nvGrpSpPr>
          <p:cNvPr id="70" name="Agrupar 69">
            <a:extLst>
              <a:ext uri="{FF2B5EF4-FFF2-40B4-BE49-F238E27FC236}">
                <a16:creationId xmlns:a16="http://schemas.microsoft.com/office/drawing/2014/main" xmlns="" id="{573583CC-8D87-484D-889A-4589DEE2268B}"/>
              </a:ext>
            </a:extLst>
          </p:cNvPr>
          <p:cNvGrpSpPr/>
          <p:nvPr/>
        </p:nvGrpSpPr>
        <p:grpSpPr>
          <a:xfrm rot="21358998">
            <a:off x="3889455" y="4695426"/>
            <a:ext cx="1079410" cy="914400"/>
            <a:chOff x="3450809" y="3766824"/>
            <a:chExt cx="1079410" cy="914400"/>
          </a:xfrm>
        </p:grpSpPr>
        <p:pic>
          <p:nvPicPr>
            <p:cNvPr id="71" name="Gráfico 70" descr="Seta: curva ligeira">
              <a:extLst>
                <a:ext uri="{FF2B5EF4-FFF2-40B4-BE49-F238E27FC236}">
                  <a16:creationId xmlns:a16="http://schemas.microsoft.com/office/drawing/2014/main" xmlns="" id="{871B05E1-1447-4BD8-9D5D-D118E6AC8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3450809" y="3766824"/>
              <a:ext cx="1079410" cy="914400"/>
            </a:xfrm>
            <a:prstGeom prst="rect">
              <a:avLst/>
            </a:prstGeom>
          </p:spPr>
        </p:pic>
        <p:grpSp>
          <p:nvGrpSpPr>
            <p:cNvPr id="72" name="Agrupar 71">
              <a:extLst>
                <a:ext uri="{FF2B5EF4-FFF2-40B4-BE49-F238E27FC236}">
                  <a16:creationId xmlns:a16="http://schemas.microsoft.com/office/drawing/2014/main" xmlns="" id="{D21A0642-A87A-44E3-BA05-A79FF2A1B438}"/>
                </a:ext>
              </a:extLst>
            </p:cNvPr>
            <p:cNvGrpSpPr/>
            <p:nvPr/>
          </p:nvGrpSpPr>
          <p:grpSpPr>
            <a:xfrm>
              <a:off x="3797459" y="3952989"/>
              <a:ext cx="369332" cy="369332"/>
              <a:chOff x="2121252" y="2030136"/>
              <a:chExt cx="1425584" cy="1425583"/>
            </a:xfrm>
          </p:grpSpPr>
          <p:sp>
            <p:nvSpPr>
              <p:cNvPr id="73" name="Retângulo 72">
                <a:extLst>
                  <a:ext uri="{FF2B5EF4-FFF2-40B4-BE49-F238E27FC236}">
                    <a16:creationId xmlns:a16="http://schemas.microsoft.com/office/drawing/2014/main" xmlns="" id="{B4FD1B64-7707-4166-81E9-4AAE30E01F58}"/>
                  </a:ext>
                </a:extLst>
              </p:cNvPr>
              <p:cNvSpPr/>
              <p:nvPr/>
            </p:nvSpPr>
            <p:spPr>
              <a:xfrm>
                <a:off x="2256639" y="2315361"/>
                <a:ext cx="1148838" cy="834313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/>
                <a:endParaRPr lang="pt-BR" sz="1500" dirty="0"/>
              </a:p>
            </p:txBody>
          </p:sp>
          <p:pic>
            <p:nvPicPr>
              <p:cNvPr id="74" name="Gráfico 73" descr="Envelope">
                <a:extLst>
                  <a:ext uri="{FF2B5EF4-FFF2-40B4-BE49-F238E27FC236}">
                    <a16:creationId xmlns:a16="http://schemas.microsoft.com/office/drawing/2014/main" xmlns="" id="{480F54F7-2DEE-4D5F-ACB8-8B309132F7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2121252" y="2030136"/>
                <a:ext cx="1425584" cy="1425583"/>
              </a:xfrm>
              <a:prstGeom prst="rect">
                <a:avLst/>
              </a:prstGeom>
            </p:spPr>
          </p:pic>
        </p:grpSp>
      </p:grpSp>
      <p:grpSp>
        <p:nvGrpSpPr>
          <p:cNvPr id="75" name="Agrupar 74">
            <a:extLst>
              <a:ext uri="{FF2B5EF4-FFF2-40B4-BE49-F238E27FC236}">
                <a16:creationId xmlns:a16="http://schemas.microsoft.com/office/drawing/2014/main" xmlns="" id="{5EFAB0D8-2029-42E4-B56C-27B948674BD7}"/>
              </a:ext>
            </a:extLst>
          </p:cNvPr>
          <p:cNvGrpSpPr/>
          <p:nvPr/>
        </p:nvGrpSpPr>
        <p:grpSpPr>
          <a:xfrm rot="20352240">
            <a:off x="3889455" y="5205944"/>
            <a:ext cx="1079410" cy="914400"/>
            <a:chOff x="3450809" y="3766824"/>
            <a:chExt cx="1079410" cy="914400"/>
          </a:xfrm>
        </p:grpSpPr>
        <p:pic>
          <p:nvPicPr>
            <p:cNvPr id="76" name="Gráfico 75" descr="Seta: curva ligeira">
              <a:extLst>
                <a:ext uri="{FF2B5EF4-FFF2-40B4-BE49-F238E27FC236}">
                  <a16:creationId xmlns:a16="http://schemas.microsoft.com/office/drawing/2014/main" xmlns="" id="{1D4115D1-20EC-421F-B594-D6C1C1E82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3450809" y="3766824"/>
              <a:ext cx="1079410" cy="914400"/>
            </a:xfrm>
            <a:prstGeom prst="rect">
              <a:avLst/>
            </a:prstGeom>
          </p:spPr>
        </p:pic>
        <p:grpSp>
          <p:nvGrpSpPr>
            <p:cNvPr id="77" name="Agrupar 76">
              <a:extLst>
                <a:ext uri="{FF2B5EF4-FFF2-40B4-BE49-F238E27FC236}">
                  <a16:creationId xmlns:a16="http://schemas.microsoft.com/office/drawing/2014/main" xmlns="" id="{F255C01A-3CB7-45FC-A84E-00E207AA0702}"/>
                </a:ext>
              </a:extLst>
            </p:cNvPr>
            <p:cNvGrpSpPr/>
            <p:nvPr/>
          </p:nvGrpSpPr>
          <p:grpSpPr>
            <a:xfrm>
              <a:off x="3797459" y="3952989"/>
              <a:ext cx="369332" cy="369332"/>
              <a:chOff x="2121252" y="2030136"/>
              <a:chExt cx="1425584" cy="1425583"/>
            </a:xfrm>
          </p:grpSpPr>
          <p:sp>
            <p:nvSpPr>
              <p:cNvPr id="78" name="Retângulo 77">
                <a:extLst>
                  <a:ext uri="{FF2B5EF4-FFF2-40B4-BE49-F238E27FC236}">
                    <a16:creationId xmlns:a16="http://schemas.microsoft.com/office/drawing/2014/main" xmlns="" id="{822FC7A0-F620-490E-867D-070135CDCC4B}"/>
                  </a:ext>
                </a:extLst>
              </p:cNvPr>
              <p:cNvSpPr/>
              <p:nvPr/>
            </p:nvSpPr>
            <p:spPr>
              <a:xfrm>
                <a:off x="2256639" y="2315361"/>
                <a:ext cx="1148838" cy="834313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/>
                <a:endParaRPr lang="pt-BR" sz="1500" dirty="0"/>
              </a:p>
            </p:txBody>
          </p:sp>
          <p:pic>
            <p:nvPicPr>
              <p:cNvPr id="79" name="Gráfico 78" descr="Envelope">
                <a:extLst>
                  <a:ext uri="{FF2B5EF4-FFF2-40B4-BE49-F238E27FC236}">
                    <a16:creationId xmlns:a16="http://schemas.microsoft.com/office/drawing/2014/main" xmlns="" id="{4892B6E0-2B2E-4F23-81D5-D2C244366F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2121252" y="2030136"/>
                <a:ext cx="1425584" cy="1425583"/>
              </a:xfrm>
              <a:prstGeom prst="rect">
                <a:avLst/>
              </a:prstGeom>
            </p:spPr>
          </p:pic>
        </p:grpSp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xmlns="" id="{27B33190-DF4F-4AAF-B56A-DB07D39EE5E6}"/>
              </a:ext>
            </a:extLst>
          </p:cNvPr>
          <p:cNvGrpSpPr/>
          <p:nvPr/>
        </p:nvGrpSpPr>
        <p:grpSpPr>
          <a:xfrm rot="851090">
            <a:off x="3889455" y="4143392"/>
            <a:ext cx="1079410" cy="914400"/>
            <a:chOff x="3450809" y="3766824"/>
            <a:chExt cx="1079410" cy="914400"/>
          </a:xfrm>
        </p:grpSpPr>
        <p:pic>
          <p:nvPicPr>
            <p:cNvPr id="81" name="Gráfico 80" descr="Seta: curva ligeira">
              <a:extLst>
                <a:ext uri="{FF2B5EF4-FFF2-40B4-BE49-F238E27FC236}">
                  <a16:creationId xmlns:a16="http://schemas.microsoft.com/office/drawing/2014/main" xmlns="" id="{E4978199-7DC8-4777-9413-7396EFC4A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3450809" y="3766824"/>
              <a:ext cx="1079410" cy="914400"/>
            </a:xfrm>
            <a:prstGeom prst="rect">
              <a:avLst/>
            </a:prstGeom>
          </p:spPr>
        </p:pic>
        <p:grpSp>
          <p:nvGrpSpPr>
            <p:cNvPr id="82" name="Agrupar 81">
              <a:extLst>
                <a:ext uri="{FF2B5EF4-FFF2-40B4-BE49-F238E27FC236}">
                  <a16:creationId xmlns:a16="http://schemas.microsoft.com/office/drawing/2014/main" xmlns="" id="{C6453562-A631-4DCD-B983-16E1D447326D}"/>
                </a:ext>
              </a:extLst>
            </p:cNvPr>
            <p:cNvGrpSpPr/>
            <p:nvPr/>
          </p:nvGrpSpPr>
          <p:grpSpPr>
            <a:xfrm>
              <a:off x="3797459" y="3952989"/>
              <a:ext cx="369332" cy="369332"/>
              <a:chOff x="2121252" y="2030136"/>
              <a:chExt cx="1425584" cy="1425583"/>
            </a:xfrm>
          </p:grpSpPr>
          <p:sp>
            <p:nvSpPr>
              <p:cNvPr id="83" name="Retângulo 82">
                <a:extLst>
                  <a:ext uri="{FF2B5EF4-FFF2-40B4-BE49-F238E27FC236}">
                    <a16:creationId xmlns:a16="http://schemas.microsoft.com/office/drawing/2014/main" xmlns="" id="{E7C3C5A3-DA00-478B-99C3-AEC7A1ABF0BB}"/>
                  </a:ext>
                </a:extLst>
              </p:cNvPr>
              <p:cNvSpPr/>
              <p:nvPr/>
            </p:nvSpPr>
            <p:spPr>
              <a:xfrm>
                <a:off x="2256639" y="2315361"/>
                <a:ext cx="1148838" cy="834313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/>
                <a:endParaRPr lang="pt-BR" sz="1500" dirty="0"/>
              </a:p>
            </p:txBody>
          </p:sp>
          <p:pic>
            <p:nvPicPr>
              <p:cNvPr id="84" name="Gráfico 83" descr="Envelope">
                <a:extLst>
                  <a:ext uri="{FF2B5EF4-FFF2-40B4-BE49-F238E27FC236}">
                    <a16:creationId xmlns:a16="http://schemas.microsoft.com/office/drawing/2014/main" xmlns="" id="{F8FC55B0-5DFB-4BE7-A0D2-156CC8E32C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2121252" y="2030136"/>
                <a:ext cx="1425584" cy="1425583"/>
              </a:xfrm>
              <a:prstGeom prst="rect">
                <a:avLst/>
              </a:prstGeom>
            </p:spPr>
          </p:pic>
        </p:grpSp>
      </p:grpSp>
      <p:grpSp>
        <p:nvGrpSpPr>
          <p:cNvPr id="104" name="Agrupar 103">
            <a:extLst>
              <a:ext uri="{FF2B5EF4-FFF2-40B4-BE49-F238E27FC236}">
                <a16:creationId xmlns:a16="http://schemas.microsoft.com/office/drawing/2014/main" xmlns="" id="{CBC3D257-E3D2-47A0-B9EC-C3D232BCF113}"/>
              </a:ext>
            </a:extLst>
          </p:cNvPr>
          <p:cNvGrpSpPr/>
          <p:nvPr/>
        </p:nvGrpSpPr>
        <p:grpSpPr>
          <a:xfrm>
            <a:off x="5025771" y="4560152"/>
            <a:ext cx="1376351" cy="323165"/>
            <a:chOff x="5025771" y="3853554"/>
            <a:chExt cx="1376351" cy="323165"/>
          </a:xfrm>
        </p:grpSpPr>
        <p:sp>
          <p:nvSpPr>
            <p:cNvPr id="87" name="Cilindro 86">
              <a:extLst>
                <a:ext uri="{FF2B5EF4-FFF2-40B4-BE49-F238E27FC236}">
                  <a16:creationId xmlns:a16="http://schemas.microsoft.com/office/drawing/2014/main" xmlns="" id="{6D6669CE-459A-4C35-A6C2-E6D8E39A57C0}"/>
                </a:ext>
              </a:extLst>
            </p:cNvPr>
            <p:cNvSpPr/>
            <p:nvPr/>
          </p:nvSpPr>
          <p:spPr>
            <a:xfrm rot="16200000">
              <a:off x="5580729" y="3326962"/>
              <a:ext cx="266435" cy="1376351"/>
            </a:xfrm>
            <a:prstGeom prst="can">
              <a:avLst/>
            </a:prstGeom>
            <a:ln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500" dirty="0"/>
            </a:p>
          </p:txBody>
        </p:sp>
        <p:sp>
          <p:nvSpPr>
            <p:cNvPr id="88" name="CaixaDeTexto 87">
              <a:extLst>
                <a:ext uri="{FF2B5EF4-FFF2-40B4-BE49-F238E27FC236}">
                  <a16:creationId xmlns:a16="http://schemas.microsoft.com/office/drawing/2014/main" xmlns="" id="{8474B2F4-C40F-4EA0-9D31-BABF000A07FA}"/>
                </a:ext>
              </a:extLst>
            </p:cNvPr>
            <p:cNvSpPr txBox="1"/>
            <p:nvPr/>
          </p:nvSpPr>
          <p:spPr>
            <a:xfrm>
              <a:off x="5372346" y="3853554"/>
              <a:ext cx="85151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" dirty="0">
                  <a:solidFill>
                    <a:schemeClr val="bg1"/>
                  </a:solidFill>
                </a:rPr>
                <a:t>Tópico A</a:t>
              </a:r>
            </a:p>
          </p:txBody>
        </p:sp>
      </p:grpSp>
      <p:grpSp>
        <p:nvGrpSpPr>
          <p:cNvPr id="105" name="Agrupar 104">
            <a:extLst>
              <a:ext uri="{FF2B5EF4-FFF2-40B4-BE49-F238E27FC236}">
                <a16:creationId xmlns:a16="http://schemas.microsoft.com/office/drawing/2014/main" xmlns="" id="{12C7F1E5-ED84-4D74-B740-D2B0DBFE88B2}"/>
              </a:ext>
            </a:extLst>
          </p:cNvPr>
          <p:cNvGrpSpPr/>
          <p:nvPr/>
        </p:nvGrpSpPr>
        <p:grpSpPr>
          <a:xfrm>
            <a:off x="5019934" y="5057089"/>
            <a:ext cx="1376351" cy="323165"/>
            <a:chOff x="5025771" y="3853554"/>
            <a:chExt cx="1376351" cy="323165"/>
          </a:xfrm>
        </p:grpSpPr>
        <p:sp>
          <p:nvSpPr>
            <p:cNvPr id="106" name="Cilindro 105">
              <a:extLst>
                <a:ext uri="{FF2B5EF4-FFF2-40B4-BE49-F238E27FC236}">
                  <a16:creationId xmlns:a16="http://schemas.microsoft.com/office/drawing/2014/main" xmlns="" id="{5F4C0C91-7413-4A8D-986A-D41CD14C32F2}"/>
                </a:ext>
              </a:extLst>
            </p:cNvPr>
            <p:cNvSpPr/>
            <p:nvPr/>
          </p:nvSpPr>
          <p:spPr>
            <a:xfrm rot="16200000">
              <a:off x="5580729" y="3326962"/>
              <a:ext cx="266435" cy="1376351"/>
            </a:xfrm>
            <a:prstGeom prst="can">
              <a:avLst/>
            </a:prstGeom>
            <a:ln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500" dirty="0"/>
            </a:p>
          </p:txBody>
        </p:sp>
        <p:sp>
          <p:nvSpPr>
            <p:cNvPr id="107" name="CaixaDeTexto 106">
              <a:extLst>
                <a:ext uri="{FF2B5EF4-FFF2-40B4-BE49-F238E27FC236}">
                  <a16:creationId xmlns:a16="http://schemas.microsoft.com/office/drawing/2014/main" xmlns="" id="{6F680D02-7AD6-40A2-B2BC-E8B1252369E6}"/>
                </a:ext>
              </a:extLst>
            </p:cNvPr>
            <p:cNvSpPr txBox="1"/>
            <p:nvPr/>
          </p:nvSpPr>
          <p:spPr>
            <a:xfrm>
              <a:off x="5372346" y="3853554"/>
              <a:ext cx="832279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" dirty="0">
                  <a:solidFill>
                    <a:schemeClr val="bg1"/>
                  </a:solidFill>
                </a:rPr>
                <a:t>Tópico B</a:t>
              </a:r>
            </a:p>
          </p:txBody>
        </p:sp>
      </p:grpSp>
      <p:grpSp>
        <p:nvGrpSpPr>
          <p:cNvPr id="119" name="Agrupar 118">
            <a:extLst>
              <a:ext uri="{FF2B5EF4-FFF2-40B4-BE49-F238E27FC236}">
                <a16:creationId xmlns:a16="http://schemas.microsoft.com/office/drawing/2014/main" xmlns="" id="{AFFAAA1D-451B-42DB-96E5-405D53673265}"/>
              </a:ext>
            </a:extLst>
          </p:cNvPr>
          <p:cNvGrpSpPr/>
          <p:nvPr/>
        </p:nvGrpSpPr>
        <p:grpSpPr>
          <a:xfrm>
            <a:off x="5021353" y="5825589"/>
            <a:ext cx="1545762" cy="498755"/>
            <a:chOff x="5465522" y="5281912"/>
            <a:chExt cx="1545762" cy="498755"/>
          </a:xfrm>
        </p:grpSpPr>
        <p:grpSp>
          <p:nvGrpSpPr>
            <p:cNvPr id="117" name="Agrupar 116">
              <a:extLst>
                <a:ext uri="{FF2B5EF4-FFF2-40B4-BE49-F238E27FC236}">
                  <a16:creationId xmlns:a16="http://schemas.microsoft.com/office/drawing/2014/main" xmlns="" id="{0B553E60-2D10-4EB6-9F2B-043D725BBD06}"/>
                </a:ext>
              </a:extLst>
            </p:cNvPr>
            <p:cNvGrpSpPr/>
            <p:nvPr/>
          </p:nvGrpSpPr>
          <p:grpSpPr>
            <a:xfrm>
              <a:off x="5465522" y="5283730"/>
              <a:ext cx="496937" cy="496937"/>
              <a:chOff x="4879527" y="1524001"/>
              <a:chExt cx="615595" cy="615595"/>
            </a:xfrm>
          </p:grpSpPr>
          <p:sp>
            <p:nvSpPr>
              <p:cNvPr id="116" name="Retângulo 115">
                <a:extLst>
                  <a:ext uri="{FF2B5EF4-FFF2-40B4-BE49-F238E27FC236}">
                    <a16:creationId xmlns:a16="http://schemas.microsoft.com/office/drawing/2014/main" xmlns="" id="{2929D351-ABE3-40E0-9460-2CA995AB40D5}"/>
                  </a:ext>
                </a:extLst>
              </p:cNvPr>
              <p:cNvSpPr/>
              <p:nvPr/>
            </p:nvSpPr>
            <p:spPr>
              <a:xfrm>
                <a:off x="5115268" y="1530954"/>
                <a:ext cx="371099" cy="477704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500" dirty="0"/>
              </a:p>
            </p:txBody>
          </p:sp>
          <p:sp>
            <p:nvSpPr>
              <p:cNvPr id="115" name="Retângulo 114">
                <a:extLst>
                  <a:ext uri="{FF2B5EF4-FFF2-40B4-BE49-F238E27FC236}">
                    <a16:creationId xmlns:a16="http://schemas.microsoft.com/office/drawing/2014/main" xmlns="" id="{2772434D-BDF0-4884-9B13-DFBCA4F4ECDE}"/>
                  </a:ext>
                </a:extLst>
              </p:cNvPr>
              <p:cNvSpPr/>
              <p:nvPr/>
            </p:nvSpPr>
            <p:spPr>
              <a:xfrm>
                <a:off x="4995409" y="1589677"/>
                <a:ext cx="371099" cy="47770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500" dirty="0"/>
              </a:p>
            </p:txBody>
          </p:sp>
          <p:pic>
            <p:nvPicPr>
              <p:cNvPr id="114" name="Gráfico 113" descr="Documento">
                <a:extLst>
                  <a:ext uri="{FF2B5EF4-FFF2-40B4-BE49-F238E27FC236}">
                    <a16:creationId xmlns:a16="http://schemas.microsoft.com/office/drawing/2014/main" xmlns="" id="{1246F510-99B4-4E69-8A53-2308B257D2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4879527" y="1524001"/>
                <a:ext cx="615595" cy="615595"/>
              </a:xfrm>
              <a:prstGeom prst="rect">
                <a:avLst/>
              </a:prstGeom>
            </p:spPr>
          </p:pic>
        </p:grpSp>
        <p:sp>
          <p:nvSpPr>
            <p:cNvPr id="118" name="CaixaDeTexto 117">
              <a:extLst>
                <a:ext uri="{FF2B5EF4-FFF2-40B4-BE49-F238E27FC236}">
                  <a16:creationId xmlns:a16="http://schemas.microsoft.com/office/drawing/2014/main" xmlns="" id="{EAA80503-360F-4BB5-B45F-9A66079BB24C}"/>
                </a:ext>
              </a:extLst>
            </p:cNvPr>
            <p:cNvSpPr txBox="1"/>
            <p:nvPr/>
          </p:nvSpPr>
          <p:spPr>
            <a:xfrm>
              <a:off x="5933792" y="5281912"/>
              <a:ext cx="10774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chemeClr val="accent2">
                      <a:lumMod val="75000"/>
                    </a:schemeClr>
                  </a:solidFill>
                  <a:latin typeface="Arial Black" panose="020B0A04020102020204" pitchFamily="34" charset="0"/>
                </a:rPr>
                <a:t>Kafka File System</a:t>
              </a:r>
            </a:p>
          </p:txBody>
        </p:sp>
      </p:grpSp>
      <p:sp>
        <p:nvSpPr>
          <p:cNvPr id="120" name="Seta: para Baixo 119">
            <a:extLst>
              <a:ext uri="{FF2B5EF4-FFF2-40B4-BE49-F238E27FC236}">
                <a16:creationId xmlns:a16="http://schemas.microsoft.com/office/drawing/2014/main" xmlns="" id="{F4863E6F-7EB0-4694-A6ED-981F6A32DD90}"/>
              </a:ext>
            </a:extLst>
          </p:cNvPr>
          <p:cNvSpPr/>
          <p:nvPr/>
        </p:nvSpPr>
        <p:spPr>
          <a:xfrm>
            <a:off x="5489623" y="5575713"/>
            <a:ext cx="560086" cy="247867"/>
          </a:xfrm>
          <a:prstGeom prst="downArrow">
            <a:avLst/>
          </a:prstGeom>
          <a:gradFill flip="none" rotWithShape="1">
            <a:gsLst>
              <a:gs pos="100000">
                <a:schemeClr val="accent2">
                  <a:lumMod val="40000"/>
                  <a:lumOff val="60000"/>
                </a:schemeClr>
              </a:gs>
              <a:gs pos="0">
                <a:schemeClr val="accent2">
                  <a:lumMod val="5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500" dirty="0"/>
          </a:p>
        </p:txBody>
      </p:sp>
      <p:sp>
        <p:nvSpPr>
          <p:cNvPr id="121" name="CaixaDeTexto 120">
            <a:extLst>
              <a:ext uri="{FF2B5EF4-FFF2-40B4-BE49-F238E27FC236}">
                <a16:creationId xmlns:a16="http://schemas.microsoft.com/office/drawing/2014/main" xmlns="" id="{A2543738-E6E9-4E12-B3E4-3D415C6B6F95}"/>
              </a:ext>
            </a:extLst>
          </p:cNvPr>
          <p:cNvSpPr txBox="1"/>
          <p:nvPr/>
        </p:nvSpPr>
        <p:spPr>
          <a:xfrm>
            <a:off x="2706303" y="3082092"/>
            <a:ext cx="138531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300" b="1" dirty="0" err="1"/>
              <a:t>Producers</a:t>
            </a:r>
            <a:endParaRPr lang="pt-BR" sz="2300" b="1" dirty="0"/>
          </a:p>
        </p:txBody>
      </p:sp>
      <p:sp>
        <p:nvSpPr>
          <p:cNvPr id="122" name="CaixaDeTexto 121">
            <a:extLst>
              <a:ext uri="{FF2B5EF4-FFF2-40B4-BE49-F238E27FC236}">
                <a16:creationId xmlns:a16="http://schemas.microsoft.com/office/drawing/2014/main" xmlns="" id="{41F7938C-AD94-4854-8CFA-B5C77AAD5770}"/>
              </a:ext>
            </a:extLst>
          </p:cNvPr>
          <p:cNvSpPr txBox="1"/>
          <p:nvPr/>
        </p:nvSpPr>
        <p:spPr>
          <a:xfrm>
            <a:off x="7263878" y="3082092"/>
            <a:ext cx="1548822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300" b="1" dirty="0" err="1"/>
              <a:t>Consumers</a:t>
            </a:r>
            <a:endParaRPr lang="pt-BR" sz="2300" b="1" dirty="0"/>
          </a:p>
        </p:txBody>
      </p:sp>
      <p:sp>
        <p:nvSpPr>
          <p:cNvPr id="125" name="CaixaDeTexto 124">
            <a:extLst>
              <a:ext uri="{FF2B5EF4-FFF2-40B4-BE49-F238E27FC236}">
                <a16:creationId xmlns:a16="http://schemas.microsoft.com/office/drawing/2014/main" xmlns="" id="{5390270E-1FE1-47C3-B058-38A3C2514FEE}"/>
              </a:ext>
            </a:extLst>
          </p:cNvPr>
          <p:cNvSpPr txBox="1"/>
          <p:nvPr/>
        </p:nvSpPr>
        <p:spPr>
          <a:xfrm>
            <a:off x="1141413" y="1911600"/>
            <a:ext cx="10963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Ao adicionar um cluster Kafka entre as aplicações geradoras de mensagens (</a:t>
            </a:r>
            <a:r>
              <a:rPr lang="pt-BR" dirty="0" err="1"/>
              <a:t>producers</a:t>
            </a:r>
            <a:r>
              <a:rPr lang="pt-BR" dirty="0"/>
              <a:t>) e os sistemas responsáveis pela ingestão desses dados (</a:t>
            </a:r>
            <a:r>
              <a:rPr lang="pt-BR" dirty="0" err="1"/>
              <a:t>consumers</a:t>
            </a:r>
            <a:r>
              <a:rPr lang="pt-BR" dirty="0"/>
              <a:t>), além de evitar uma possível perda de dados em caso de falha em um dos </a:t>
            </a:r>
            <a:r>
              <a:rPr lang="pt-BR" dirty="0" err="1"/>
              <a:t>consumers</a:t>
            </a:r>
            <a:r>
              <a:rPr lang="pt-BR" dirty="0"/>
              <a:t>, garantimos que </a:t>
            </a:r>
            <a:r>
              <a:rPr lang="pt-BR" dirty="0" smtClean="0"/>
              <a:t>estes </a:t>
            </a:r>
            <a:r>
              <a:rPr lang="pt-BR" dirty="0" smtClean="0"/>
              <a:t>não </a:t>
            </a:r>
            <a:r>
              <a:rPr lang="pt-BR" dirty="0"/>
              <a:t>sejam sobrecarregados em eventuais aumentos </a:t>
            </a:r>
            <a:r>
              <a:rPr lang="pt-BR" dirty="0" smtClean="0"/>
              <a:t>de carga.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2396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F31F664-3E4D-4498-B992-5F9EBC414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kafka</a:t>
            </a:r>
            <a:endParaRPr lang="pt-BR" dirty="0"/>
          </a:p>
        </p:txBody>
      </p:sp>
      <p:sp>
        <p:nvSpPr>
          <p:cNvPr id="125" name="CaixaDeTexto 124">
            <a:extLst>
              <a:ext uri="{FF2B5EF4-FFF2-40B4-BE49-F238E27FC236}">
                <a16:creationId xmlns:a16="http://schemas.microsoft.com/office/drawing/2014/main" xmlns="" id="{5390270E-1FE1-47C3-B058-38A3C2514FEE}"/>
              </a:ext>
            </a:extLst>
          </p:cNvPr>
          <p:cNvSpPr txBox="1"/>
          <p:nvPr/>
        </p:nvSpPr>
        <p:spPr>
          <a:xfrm>
            <a:off x="1141413" y="1911600"/>
            <a:ext cx="10963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Na </a:t>
            </a:r>
            <a:r>
              <a:rPr lang="pt-BR" dirty="0" err="1" smtClean="0"/>
              <a:t>poc</a:t>
            </a:r>
            <a:r>
              <a:rPr lang="pt-BR" dirty="0" smtClean="0"/>
              <a:t> </a:t>
            </a:r>
            <a:r>
              <a:rPr lang="pt-BR" dirty="0" err="1" smtClean="0"/>
              <a:t>Cloudera</a:t>
            </a:r>
            <a:r>
              <a:rPr lang="pt-BR" dirty="0" smtClean="0"/>
              <a:t>, o Kafka</a:t>
            </a:r>
            <a:r>
              <a:rPr lang="pt-BR" dirty="0" smtClean="0"/>
              <a:t> suportou ~27k eventos/</a:t>
            </a:r>
            <a:r>
              <a:rPr lang="pt-BR" dirty="0" err="1" smtClean="0"/>
              <a:t>seg</a:t>
            </a:r>
            <a:endParaRPr lang="pt-BR" dirty="0" smtClean="0"/>
          </a:p>
          <a:p>
            <a:r>
              <a:rPr lang="pt-BR" dirty="0" smtClean="0"/>
              <a:t>No último teste suportou ~80k eventos/</a:t>
            </a:r>
            <a:r>
              <a:rPr lang="pt-BR" dirty="0" err="1" smtClean="0"/>
              <a:t>seg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0267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Spark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C9EA366C-A2F5-484B-AC46-1700C9E8D298}"/>
              </a:ext>
            </a:extLst>
          </p:cNvPr>
          <p:cNvSpPr txBox="1"/>
          <p:nvPr/>
        </p:nvSpPr>
        <p:spPr>
          <a:xfrm>
            <a:off x="1141413" y="1912422"/>
            <a:ext cx="102760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</a:t>
            </a:r>
            <a:r>
              <a:rPr lang="pt-BR" dirty="0" err="1"/>
              <a:t>Spark</a:t>
            </a:r>
            <a:r>
              <a:rPr lang="pt-BR" dirty="0"/>
              <a:t> </a:t>
            </a:r>
            <a:r>
              <a:rPr lang="pt-BR" dirty="0" smtClean="0"/>
              <a:t>é um </a:t>
            </a:r>
            <a:r>
              <a:rPr lang="pt-BR" dirty="0"/>
              <a:t>framework </a:t>
            </a:r>
            <a:r>
              <a:rPr lang="pt-BR" dirty="0" smtClean="0"/>
              <a:t>desenvolvido para Big Data, com suporte a diversos </a:t>
            </a:r>
            <a:r>
              <a:rPr lang="pt-BR" dirty="0" smtClean="0"/>
              <a:t>conjuntos de </a:t>
            </a:r>
            <a:r>
              <a:rPr lang="pt-BR" dirty="0" smtClean="0"/>
              <a:t>dados (</a:t>
            </a:r>
            <a:r>
              <a:rPr lang="pt-BR" dirty="0"/>
              <a:t>por exemplo: texto, grafos, </a:t>
            </a:r>
            <a:r>
              <a:rPr lang="pt-BR" dirty="0" err="1"/>
              <a:t>etc</a:t>
            </a:r>
            <a:r>
              <a:rPr lang="pt-BR" dirty="0"/>
              <a:t>), bem como de diferentes </a:t>
            </a:r>
            <a:r>
              <a:rPr lang="pt-BR" dirty="0" smtClean="0"/>
              <a:t>origens.</a:t>
            </a:r>
          </a:p>
          <a:p>
            <a:endParaRPr lang="pt-BR" dirty="0" smtClean="0"/>
          </a:p>
          <a:p>
            <a:r>
              <a:rPr lang="pt-BR" dirty="0" smtClean="0"/>
              <a:t>Jobs </a:t>
            </a:r>
            <a:r>
              <a:rPr lang="pt-BR" dirty="0" smtClean="0"/>
              <a:t>batch </a:t>
            </a:r>
            <a:r>
              <a:rPr lang="pt-BR" dirty="0"/>
              <a:t>ou </a:t>
            </a:r>
            <a:r>
              <a:rPr lang="pt-BR" dirty="0" smtClean="0"/>
              <a:t>streaming;</a:t>
            </a:r>
          </a:p>
          <a:p>
            <a:endParaRPr lang="pt-BR" dirty="0"/>
          </a:p>
          <a:p>
            <a:r>
              <a:rPr lang="pt-BR" dirty="0"/>
              <a:t>Permite que aplicações em clusters </a:t>
            </a:r>
            <a:r>
              <a:rPr lang="pt-BR" dirty="0" smtClean="0"/>
              <a:t>executem </a:t>
            </a:r>
            <a:r>
              <a:rPr lang="pt-BR" dirty="0"/>
              <a:t>até 100 vezes mais rápido em memória e até 10 vezes mais rápido em </a:t>
            </a:r>
            <a:r>
              <a:rPr lang="pt-BR" dirty="0" smtClean="0"/>
              <a:t>disco, quando comparado </a:t>
            </a:r>
            <a:r>
              <a:rPr lang="pt-BR" dirty="0"/>
              <a:t>com o </a:t>
            </a:r>
            <a:r>
              <a:rPr lang="pt-BR" dirty="0" err="1" smtClean="0"/>
              <a:t>Hadoop</a:t>
            </a:r>
            <a:r>
              <a:rPr lang="pt-BR" dirty="0" smtClean="0"/>
              <a:t>; </a:t>
            </a:r>
          </a:p>
          <a:p>
            <a:endParaRPr lang="pt-BR" dirty="0"/>
          </a:p>
          <a:p>
            <a:r>
              <a:rPr lang="pt-BR" dirty="0"/>
              <a:t>Através do </a:t>
            </a:r>
            <a:r>
              <a:rPr lang="pt-BR" dirty="0" err="1"/>
              <a:t>Yarn</a:t>
            </a:r>
            <a:r>
              <a:rPr lang="pt-BR" dirty="0"/>
              <a:t>, é possível limitar os recursos (memória e </a:t>
            </a:r>
            <a:r>
              <a:rPr lang="pt-BR" dirty="0" err="1" smtClean="0"/>
              <a:t>cpu</a:t>
            </a:r>
            <a:r>
              <a:rPr lang="pt-BR" dirty="0" smtClean="0"/>
              <a:t>);</a:t>
            </a:r>
          </a:p>
          <a:p>
            <a:endParaRPr lang="pt-BR" dirty="0" smtClean="0"/>
          </a:p>
          <a:p>
            <a:r>
              <a:rPr lang="pt-BR" dirty="0" smtClean="0"/>
              <a:t>Suporta as linguagens de programação Java</a:t>
            </a:r>
            <a:r>
              <a:rPr lang="pt-BR" dirty="0"/>
              <a:t>, </a:t>
            </a:r>
            <a:r>
              <a:rPr lang="pt-BR" dirty="0" smtClean="0"/>
              <a:t>Scala, Python e R;</a:t>
            </a:r>
            <a:endParaRPr lang="pt-BR" dirty="0"/>
          </a:p>
          <a:p>
            <a:endParaRPr lang="pt-BR" dirty="0"/>
          </a:p>
          <a:p>
            <a:r>
              <a:rPr lang="pt-BR" dirty="0"/>
              <a:t>Além das operações de Map/</a:t>
            </a:r>
            <a:r>
              <a:rPr lang="pt-BR" dirty="0" err="1"/>
              <a:t>Reduce</a:t>
            </a:r>
            <a:r>
              <a:rPr lang="pt-BR" dirty="0"/>
              <a:t>, suporta consultas SQL, streaming de dados, aprendizado de máquina e processamento de grafos</a:t>
            </a:r>
            <a:r>
              <a:rPr lang="pt-BR" dirty="0" smtClean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9962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Spark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C9EA366C-A2F5-484B-AC46-1700C9E8D298}"/>
              </a:ext>
            </a:extLst>
          </p:cNvPr>
          <p:cNvSpPr txBox="1"/>
          <p:nvPr/>
        </p:nvSpPr>
        <p:spPr>
          <a:xfrm>
            <a:off x="1141413" y="1912422"/>
            <a:ext cx="10276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Durante a POC </a:t>
            </a:r>
            <a:r>
              <a:rPr lang="pt-BR" dirty="0" err="1" smtClean="0"/>
              <a:t>cloudera</a:t>
            </a:r>
            <a:r>
              <a:rPr lang="pt-BR" dirty="0" smtClean="0"/>
              <a:t>, processou ~674k/minuto;</a:t>
            </a:r>
          </a:p>
          <a:p>
            <a:r>
              <a:rPr lang="pt-BR" dirty="0" smtClean="0"/>
              <a:t>No último teste, ~199k Eventos/</a:t>
            </a:r>
            <a:r>
              <a:rPr lang="pt-BR" dirty="0" err="1" smtClean="0"/>
              <a:t>Seg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2592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kudu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C9EA366C-A2F5-484B-AC46-1700C9E8D298}"/>
              </a:ext>
            </a:extLst>
          </p:cNvPr>
          <p:cNvSpPr txBox="1"/>
          <p:nvPr/>
        </p:nvSpPr>
        <p:spPr>
          <a:xfrm>
            <a:off x="1141414" y="1912422"/>
            <a:ext cx="517366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Componente</a:t>
            </a:r>
            <a:r>
              <a:rPr lang="en-US" dirty="0" smtClean="0"/>
              <a:t> de </a:t>
            </a:r>
            <a:r>
              <a:rPr lang="en-US" dirty="0" err="1" smtClean="0"/>
              <a:t>persistência</a:t>
            </a:r>
            <a:r>
              <a:rPr lang="en-US" dirty="0" smtClean="0"/>
              <a:t> </a:t>
            </a:r>
            <a:r>
              <a:rPr lang="en-US" dirty="0" err="1" smtClean="0"/>
              <a:t>colunar</a:t>
            </a:r>
            <a:r>
              <a:rPr lang="en-US" dirty="0" smtClean="0"/>
              <a:t> para </a:t>
            </a:r>
            <a:r>
              <a:rPr lang="en-US" dirty="0" err="1" smtClean="0"/>
              <a:t>processamento</a:t>
            </a:r>
            <a:r>
              <a:rPr lang="en-US" dirty="0" smtClean="0"/>
              <a:t> </a:t>
            </a:r>
            <a:r>
              <a:rPr lang="en-US" dirty="0" err="1" smtClean="0"/>
              <a:t>analítico</a:t>
            </a:r>
            <a:r>
              <a:rPr lang="en-US" dirty="0" smtClean="0"/>
              <a:t> e </a:t>
            </a:r>
            <a:r>
              <a:rPr lang="en-US" dirty="0" err="1" smtClean="0"/>
              <a:t>operacional</a:t>
            </a:r>
            <a:r>
              <a:rPr lang="en-US" dirty="0" smtClean="0"/>
              <a:t>,</a:t>
            </a:r>
            <a:r>
              <a:rPr lang="en-US" dirty="0" smtClean="0"/>
              <a:t> com </a:t>
            </a:r>
            <a:r>
              <a:rPr lang="en-US" dirty="0" err="1" smtClean="0"/>
              <a:t>arquitetura</a:t>
            </a:r>
            <a:r>
              <a:rPr lang="en-US" dirty="0" smtClean="0"/>
              <a:t> </a:t>
            </a:r>
            <a:r>
              <a:rPr lang="en-US" dirty="0" err="1" smtClean="0"/>
              <a:t>distribuida</a:t>
            </a:r>
            <a:r>
              <a:rPr lang="en-US" dirty="0" smtClean="0"/>
              <a:t> </a:t>
            </a:r>
            <a:r>
              <a:rPr lang="en-US" dirty="0" err="1" smtClean="0"/>
              <a:t>composta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máquinas</a:t>
            </a:r>
            <a:r>
              <a:rPr lang="en-US" dirty="0" smtClean="0"/>
              <a:t> que </a:t>
            </a:r>
            <a:r>
              <a:rPr lang="en-US" dirty="0" err="1" smtClean="0"/>
              <a:t>podem</a:t>
            </a:r>
            <a:r>
              <a:rPr lang="en-US" dirty="0" smtClean="0"/>
              <a:t> </a:t>
            </a:r>
            <a:r>
              <a:rPr lang="en-US" dirty="0" err="1" smtClean="0"/>
              <a:t>exercer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papéis</a:t>
            </a:r>
            <a:r>
              <a:rPr lang="en-US" dirty="0" smtClean="0"/>
              <a:t> de master </a:t>
            </a:r>
            <a:r>
              <a:rPr lang="en-US" dirty="0" err="1" smtClean="0"/>
              <a:t>ou</a:t>
            </a:r>
            <a:r>
              <a:rPr lang="en-US" dirty="0" smtClean="0"/>
              <a:t> tablet server.</a:t>
            </a:r>
          </a:p>
          <a:p>
            <a:endParaRPr lang="en-US" dirty="0" smtClean="0"/>
          </a:p>
          <a:p>
            <a:r>
              <a:rPr lang="en-US" dirty="0" err="1" smtClean="0"/>
              <a:t>Os</a:t>
            </a:r>
            <a:r>
              <a:rPr lang="en-US" dirty="0" smtClean="0"/>
              <a:t> dados de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tabela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dividitos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“tablets”, que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distribuidos</a:t>
            </a:r>
            <a:r>
              <a:rPr lang="en-US" dirty="0" smtClean="0"/>
              <a:t> </a:t>
            </a:r>
            <a:r>
              <a:rPr lang="en-US" dirty="0" err="1" smtClean="0"/>
              <a:t>pelos</a:t>
            </a:r>
            <a:r>
              <a:rPr lang="en-US" dirty="0" smtClean="0"/>
              <a:t> tablet servers do cluster. </a:t>
            </a:r>
            <a:r>
              <a:rPr lang="en-US" dirty="0" err="1" smtClean="0"/>
              <a:t>Sua</a:t>
            </a:r>
            <a:r>
              <a:rPr lang="en-US" dirty="0" smtClean="0"/>
              <a:t> </a:t>
            </a:r>
            <a:r>
              <a:rPr lang="en-US" dirty="0" err="1" smtClean="0"/>
              <a:t>arquitetura</a:t>
            </a:r>
            <a:r>
              <a:rPr lang="en-US" dirty="0" smtClean="0"/>
              <a:t> </a:t>
            </a:r>
            <a:r>
              <a:rPr lang="en-US" dirty="0" err="1" smtClean="0"/>
              <a:t>possibilita</a:t>
            </a:r>
            <a:r>
              <a:rPr lang="en-US" dirty="0" smtClean="0"/>
              <a:t> a </a:t>
            </a:r>
            <a:r>
              <a:rPr lang="en-US" dirty="0" err="1" smtClean="0"/>
              <a:t>execução</a:t>
            </a:r>
            <a:r>
              <a:rPr lang="en-US" dirty="0" smtClean="0"/>
              <a:t> de queries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bilhões</a:t>
            </a:r>
            <a:r>
              <a:rPr lang="en-US" dirty="0" smtClean="0"/>
              <a:t> de </a:t>
            </a:r>
            <a:r>
              <a:rPr lang="en-US" dirty="0" err="1" smtClean="0"/>
              <a:t>registros</a:t>
            </a:r>
            <a:r>
              <a:rPr lang="en-US" dirty="0" smtClean="0"/>
              <a:t> com terabytes de dados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segundos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O Kudu </a:t>
            </a:r>
            <a:r>
              <a:rPr lang="en-US" dirty="0" err="1" smtClean="0"/>
              <a:t>possui</a:t>
            </a:r>
            <a:r>
              <a:rPr lang="en-US" dirty="0" smtClean="0"/>
              <a:t> </a:t>
            </a:r>
            <a:r>
              <a:rPr lang="en-US" dirty="0" err="1" smtClean="0"/>
              <a:t>integração</a:t>
            </a:r>
            <a:r>
              <a:rPr lang="en-US" dirty="0" smtClean="0"/>
              <a:t> com o Impala, que </a:t>
            </a:r>
            <a:r>
              <a:rPr lang="en-US" dirty="0" err="1" smtClean="0"/>
              <a:t>permite</a:t>
            </a:r>
            <a:r>
              <a:rPr lang="en-US" dirty="0" smtClean="0"/>
              <a:t> o </a:t>
            </a:r>
            <a:r>
              <a:rPr lang="en-US" dirty="0" err="1" smtClean="0"/>
              <a:t>uso</a:t>
            </a:r>
            <a:r>
              <a:rPr lang="en-US" dirty="0" smtClean="0"/>
              <a:t> de commandos SQL (insert/update/delete/</a:t>
            </a:r>
            <a:r>
              <a:rPr lang="en-US" dirty="0" err="1" smtClean="0"/>
              <a:t>upsert</a:t>
            </a:r>
            <a:r>
              <a:rPr lang="en-US" dirty="0" smtClean="0"/>
              <a:t>) para a </a:t>
            </a:r>
            <a:r>
              <a:rPr lang="en-US" dirty="0" err="1" smtClean="0"/>
              <a:t>manipulação</a:t>
            </a:r>
            <a:r>
              <a:rPr lang="en-US" dirty="0" smtClean="0"/>
              <a:t> dos dados </a:t>
            </a:r>
            <a:r>
              <a:rPr lang="en-US" dirty="0" err="1" smtClean="0"/>
              <a:t>armazenados</a:t>
            </a:r>
            <a:r>
              <a:rPr lang="en-US" dirty="0" smtClean="0"/>
              <a:t> </a:t>
            </a:r>
            <a:r>
              <a:rPr lang="en-US" dirty="0" err="1" smtClean="0"/>
              <a:t>nos</a:t>
            </a:r>
            <a:r>
              <a:rPr lang="en-US" dirty="0" smtClean="0"/>
              <a:t> tablets.</a:t>
            </a:r>
          </a:p>
          <a:p>
            <a:endParaRPr lang="en-US" dirty="0"/>
          </a:p>
          <a:p>
            <a:r>
              <a:rPr lang="pt-BR" dirty="0" smtClean="0"/>
              <a:t>Fornece uma </a:t>
            </a:r>
            <a:r>
              <a:rPr lang="pt-BR" dirty="0"/>
              <a:t>API (</a:t>
            </a:r>
            <a:r>
              <a:rPr lang="pt-BR" dirty="0" err="1"/>
              <a:t>scala</a:t>
            </a:r>
            <a:r>
              <a:rPr lang="pt-BR" dirty="0"/>
              <a:t>, </a:t>
            </a:r>
            <a:r>
              <a:rPr lang="pt-BR" dirty="0" err="1"/>
              <a:t>java</a:t>
            </a:r>
            <a:r>
              <a:rPr lang="pt-BR" dirty="0"/>
              <a:t> e </a:t>
            </a:r>
            <a:r>
              <a:rPr lang="pt-BR" dirty="0" err="1"/>
              <a:t>python</a:t>
            </a:r>
            <a:r>
              <a:rPr lang="pt-BR" dirty="0"/>
              <a:t>) </a:t>
            </a:r>
            <a:endParaRPr lang="pt-BR" dirty="0" smtClean="0"/>
          </a:p>
          <a:p>
            <a:endParaRPr lang="pt-BR" dirty="0" smtClean="0"/>
          </a:p>
          <a:p>
            <a:endParaRPr lang="en-US" dirty="0"/>
          </a:p>
        </p:txBody>
      </p:sp>
      <p:pic>
        <p:nvPicPr>
          <p:cNvPr id="4" name="Imagem 3" descr="Uma imagem contendo captura de tela&#10;&#10;Descrição gerada com muito alta confiança">
            <a:extLst>
              <a:ext uri="{FF2B5EF4-FFF2-40B4-BE49-F238E27FC236}">
                <a16:creationId xmlns:a16="http://schemas.microsoft.com/office/drawing/2014/main" xmlns="" id="{F360C46D-8FF5-4EBA-8632-9400F0BB1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148" y="1988621"/>
            <a:ext cx="5734552" cy="394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86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kudu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C9EA366C-A2F5-484B-AC46-1700C9E8D298}"/>
              </a:ext>
            </a:extLst>
          </p:cNvPr>
          <p:cNvSpPr txBox="1"/>
          <p:nvPr/>
        </p:nvSpPr>
        <p:spPr>
          <a:xfrm>
            <a:off x="1141413" y="1912422"/>
            <a:ext cx="7729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Durante a POC, </a:t>
            </a:r>
            <a:r>
              <a:rPr lang="pt-BR" dirty="0" smtClean="0"/>
              <a:t>~674k de registros/minuto foram inseridos; no </a:t>
            </a:r>
            <a:r>
              <a:rPr lang="pt-BR" dirty="0"/>
              <a:t>último teste, ~</a:t>
            </a:r>
            <a:r>
              <a:rPr lang="pt-BR" dirty="0" smtClean="0"/>
              <a:t>199k Eventos/</a:t>
            </a:r>
            <a:r>
              <a:rPr lang="pt-BR" dirty="0" err="1" smtClean="0"/>
              <a:t>seg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C9EA366C-A2F5-484B-AC46-1700C9E8D298}"/>
              </a:ext>
            </a:extLst>
          </p:cNvPr>
          <p:cNvSpPr txBox="1"/>
          <p:nvPr/>
        </p:nvSpPr>
        <p:spPr>
          <a:xfrm>
            <a:off x="1141412" y="2772398"/>
            <a:ext cx="7729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Também durante o último teste, suportou ~6k de requisições(</a:t>
            </a:r>
            <a:r>
              <a:rPr lang="pt-BR" dirty="0" err="1" smtClean="0"/>
              <a:t>get</a:t>
            </a:r>
            <a:r>
              <a:rPr lang="pt-BR" dirty="0" smtClean="0"/>
              <a:t>)/</a:t>
            </a:r>
            <a:r>
              <a:rPr lang="pt-BR" dirty="0" err="1" smtClean="0"/>
              <a:t>seg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1912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impala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C9EA366C-A2F5-484B-AC46-1700C9E8D298}"/>
              </a:ext>
            </a:extLst>
          </p:cNvPr>
          <p:cNvSpPr txBox="1"/>
          <p:nvPr/>
        </p:nvSpPr>
        <p:spPr>
          <a:xfrm>
            <a:off x="1141413" y="1912422"/>
            <a:ext cx="1027600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SQL </a:t>
            </a:r>
            <a:r>
              <a:rPr lang="pt-BR" sz="2000" dirty="0" err="1"/>
              <a:t>engine</a:t>
            </a:r>
            <a:r>
              <a:rPr lang="pt-BR" sz="2000" dirty="0"/>
              <a:t> para processamento massivo e distribuído de queries analíticas</a:t>
            </a:r>
            <a:r>
              <a:rPr lang="pt-BR" sz="2000" dirty="0" smtClean="0"/>
              <a:t>, que trabalha principalmente com </a:t>
            </a:r>
            <a:r>
              <a:rPr lang="pt-BR" sz="2000" dirty="0"/>
              <a:t>em </a:t>
            </a:r>
            <a:r>
              <a:rPr lang="pt-BR" sz="2000" dirty="0" smtClean="0"/>
              <a:t>arquivos armazenados no HDFS</a:t>
            </a:r>
            <a:r>
              <a:rPr lang="pt-BR" sz="2000" dirty="0"/>
              <a:t> </a:t>
            </a:r>
            <a:r>
              <a:rPr lang="pt-BR" sz="2000" dirty="0" smtClean="0"/>
              <a:t>e </a:t>
            </a:r>
            <a:r>
              <a:rPr lang="pt-BR" sz="2000" dirty="0" err="1" smtClean="0"/>
              <a:t>Kudu</a:t>
            </a:r>
            <a:r>
              <a:rPr lang="pt-BR" sz="2000" dirty="0" smtClean="0"/>
              <a:t>;</a:t>
            </a: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Não permite DML </a:t>
            </a:r>
            <a:r>
              <a:rPr lang="pt-BR" sz="2000" dirty="0" smtClean="0"/>
              <a:t>(HDFS) de </a:t>
            </a:r>
            <a:r>
              <a:rPr lang="pt-BR" sz="2000" dirty="0"/>
              <a:t>alteração de dados (aceita apenas </a:t>
            </a:r>
            <a:r>
              <a:rPr lang="pt-BR" sz="2000" dirty="0" err="1"/>
              <a:t>insert</a:t>
            </a:r>
            <a:r>
              <a:rPr lang="pt-BR" sz="2000" dirty="0"/>
              <a:t> e </a:t>
            </a:r>
            <a:r>
              <a:rPr lang="pt-BR" sz="2000" dirty="0" err="1"/>
              <a:t>load</a:t>
            </a:r>
            <a:r>
              <a:rPr lang="pt-BR" sz="2000" dirty="0" smtClean="0"/>
              <a:t>) </a:t>
            </a:r>
            <a:r>
              <a:rPr lang="pt-BR" sz="2000" dirty="0"/>
              <a:t>e sua estrutura é otimizada para consultar blocos de 256MB (evite </a:t>
            </a:r>
            <a:r>
              <a:rPr lang="pt-BR" sz="2000" dirty="0" err="1"/>
              <a:t>inserts</a:t>
            </a:r>
            <a:r>
              <a:rPr lang="pt-BR" sz="2000" dirty="0"/>
              <a:t> isolados de poucos registros, prefira </a:t>
            </a:r>
            <a:r>
              <a:rPr lang="pt-BR" sz="2000" dirty="0" err="1"/>
              <a:t>insert</a:t>
            </a:r>
            <a:r>
              <a:rPr lang="pt-BR" sz="2000" dirty="0"/>
              <a:t> com </a:t>
            </a:r>
            <a:r>
              <a:rPr lang="pt-BR" sz="2000" dirty="0" err="1"/>
              <a:t>select</a:t>
            </a:r>
            <a:r>
              <a:rPr lang="pt-BR" sz="2000" dirty="0"/>
              <a:t> que possam preencher o máximo do bloco);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Aceita vários formatos de armazenamento, sendo parquet (colunar) o mais relevante. Este formato utiliza por padrão uma compactação leve chamada </a:t>
            </a:r>
            <a:r>
              <a:rPr lang="pt-BR" sz="2000" dirty="0" err="1" smtClean="0"/>
              <a:t>snappy</a:t>
            </a:r>
            <a:r>
              <a:rPr lang="pt-BR" sz="2000" dirty="0" smtClean="0"/>
              <a:t>, </a:t>
            </a:r>
            <a:r>
              <a:rPr lang="pt-BR" sz="2000" dirty="0"/>
              <a:t>mas pode ser alterada no momento da carga do dado para </a:t>
            </a:r>
            <a:r>
              <a:rPr lang="pt-BR" sz="2000" dirty="0" err="1" smtClean="0"/>
              <a:t>gzip</a:t>
            </a:r>
            <a:r>
              <a:rPr lang="pt-BR" sz="2000" dirty="0" smtClean="0"/>
              <a:t>, </a:t>
            </a:r>
            <a:r>
              <a:rPr lang="pt-BR" sz="2000" dirty="0" smtClean="0"/>
              <a:t>que </a:t>
            </a:r>
            <a:r>
              <a:rPr lang="pt-BR" sz="2000" dirty="0"/>
              <a:t>é um pouco mais agressiva</a:t>
            </a:r>
            <a:r>
              <a:rPr lang="pt-BR" sz="2000" dirty="0" smtClean="0"/>
              <a:t>;</a:t>
            </a:r>
          </a:p>
          <a:p>
            <a:endParaRPr lang="pt-BR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 smtClean="0"/>
              <a:t>Tem um </a:t>
            </a:r>
            <a:r>
              <a:rPr lang="pt-BR" sz="2000" dirty="0" err="1" smtClean="0"/>
              <a:t>resource</a:t>
            </a:r>
            <a:r>
              <a:rPr lang="pt-BR" sz="2000" dirty="0" smtClean="0"/>
              <a:t> manager próprio (permite limitar memória e </a:t>
            </a:r>
            <a:r>
              <a:rPr lang="pt-BR" sz="2000" dirty="0" err="1" smtClean="0"/>
              <a:t>cpu</a:t>
            </a:r>
            <a:r>
              <a:rPr lang="pt-BR" sz="2000" dirty="0" smtClean="0"/>
              <a:t>, por exemplo);</a:t>
            </a:r>
          </a:p>
          <a:p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Permite armazenar os arquivos de dados em servidores </a:t>
            </a:r>
            <a:r>
              <a:rPr lang="pt-BR" sz="2000" dirty="0" smtClean="0"/>
              <a:t>remotos (Nesta arquitetura, os dados com mais de 3 meses ficariam no </a:t>
            </a:r>
            <a:r>
              <a:rPr lang="pt-BR" sz="2000" dirty="0" err="1" smtClean="0"/>
              <a:t>Amazon</a:t>
            </a:r>
            <a:r>
              <a:rPr lang="pt-BR" sz="2000" dirty="0" smtClean="0"/>
              <a:t> S3, um </a:t>
            </a:r>
            <a:r>
              <a:rPr lang="pt-BR" sz="2000" dirty="0" err="1"/>
              <a:t>storage</a:t>
            </a:r>
            <a:r>
              <a:rPr lang="pt-BR" sz="2000" dirty="0"/>
              <a:t> com custo mais </a:t>
            </a:r>
            <a:r>
              <a:rPr lang="pt-BR" sz="2000" dirty="0" smtClean="0"/>
              <a:t>acessível).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1240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Agrupar 31">
            <a:extLst>
              <a:ext uri="{FF2B5EF4-FFF2-40B4-BE49-F238E27FC236}">
                <a16:creationId xmlns:a16="http://schemas.microsoft.com/office/drawing/2014/main" xmlns="" id="{43DF2ED1-38F8-4A87-BF3C-789FDF7DA020}"/>
              </a:ext>
            </a:extLst>
          </p:cNvPr>
          <p:cNvGrpSpPr/>
          <p:nvPr/>
        </p:nvGrpSpPr>
        <p:grpSpPr>
          <a:xfrm>
            <a:off x="7258291" y="3406524"/>
            <a:ext cx="2742959" cy="2607730"/>
            <a:chOff x="7620241" y="3035049"/>
            <a:chExt cx="2985712" cy="2563632"/>
          </a:xfrm>
          <a:solidFill>
            <a:schemeClr val="tx1">
              <a:lumMod val="75000"/>
            </a:schemeClr>
          </a:solidFill>
        </p:grpSpPr>
        <p:sp>
          <p:nvSpPr>
            <p:cNvPr id="239" name="Retângulo 238">
              <a:extLst>
                <a:ext uri="{FF2B5EF4-FFF2-40B4-BE49-F238E27FC236}">
                  <a16:creationId xmlns:a16="http://schemas.microsoft.com/office/drawing/2014/main" xmlns="" id="{16A15BAA-2608-4F58-A169-4CCFBFB76776}"/>
                </a:ext>
              </a:extLst>
            </p:cNvPr>
            <p:cNvSpPr/>
            <p:nvPr/>
          </p:nvSpPr>
          <p:spPr>
            <a:xfrm>
              <a:off x="7620241" y="3035049"/>
              <a:ext cx="2985712" cy="2563632"/>
            </a:xfrm>
            <a:prstGeom prst="rect">
              <a:avLst/>
            </a:prstGeom>
            <a:grpFill/>
            <a:ln w="38100"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bIns="36000" rtlCol="0" anchor="ctr"/>
            <a:lstStyle/>
            <a:p>
              <a:pPr algn="ctr"/>
              <a:endParaRPr lang="pt-BR" sz="1500" dirty="0"/>
            </a:p>
          </p:txBody>
        </p:sp>
        <p:sp>
          <p:nvSpPr>
            <p:cNvPr id="240" name="CaixaDeTexto 239">
              <a:extLst>
                <a:ext uri="{FF2B5EF4-FFF2-40B4-BE49-F238E27FC236}">
                  <a16:creationId xmlns:a16="http://schemas.microsoft.com/office/drawing/2014/main" xmlns="" id="{A2384E35-C89A-4631-94CF-5B33EBBCE24E}"/>
                </a:ext>
              </a:extLst>
            </p:cNvPr>
            <p:cNvSpPr txBox="1"/>
            <p:nvPr/>
          </p:nvSpPr>
          <p:spPr>
            <a:xfrm>
              <a:off x="8639092" y="3079332"/>
              <a:ext cx="948010" cy="3231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500" b="1" dirty="0">
                  <a:solidFill>
                    <a:schemeClr val="bg1"/>
                  </a:solidFill>
                </a:rPr>
                <a:t>IMPALA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F31F664-3E4D-4498-B992-5F9EBC414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resumindo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xmlns="" id="{0EA87493-81CF-421E-81F1-7BA585CF0A43}"/>
              </a:ext>
            </a:extLst>
          </p:cNvPr>
          <p:cNvGrpSpPr/>
          <p:nvPr/>
        </p:nvGrpSpPr>
        <p:grpSpPr>
          <a:xfrm>
            <a:off x="588524" y="2539163"/>
            <a:ext cx="6369950" cy="3337672"/>
            <a:chOff x="950474" y="2167688"/>
            <a:chExt cx="6369950" cy="3337672"/>
          </a:xfrm>
        </p:grpSpPr>
        <p:sp>
          <p:nvSpPr>
            <p:cNvPr id="124" name="Retângulo 123">
              <a:extLst>
                <a:ext uri="{FF2B5EF4-FFF2-40B4-BE49-F238E27FC236}">
                  <a16:creationId xmlns:a16="http://schemas.microsoft.com/office/drawing/2014/main" xmlns="" id="{3EA46AB4-7046-4D59-876D-ED27A16CB375}"/>
                </a:ext>
              </a:extLst>
            </p:cNvPr>
            <p:cNvSpPr/>
            <p:nvPr/>
          </p:nvSpPr>
          <p:spPr>
            <a:xfrm>
              <a:off x="5589803" y="2190746"/>
              <a:ext cx="1730621" cy="331461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500" dirty="0"/>
            </a:p>
          </p:txBody>
        </p:sp>
        <p:sp>
          <p:nvSpPr>
            <p:cNvPr id="123" name="Retângulo 122">
              <a:extLst>
                <a:ext uri="{FF2B5EF4-FFF2-40B4-BE49-F238E27FC236}">
                  <a16:creationId xmlns:a16="http://schemas.microsoft.com/office/drawing/2014/main" xmlns="" id="{8EC313F6-8874-4B41-9DDF-920111BD6358}"/>
                </a:ext>
              </a:extLst>
            </p:cNvPr>
            <p:cNvSpPr/>
            <p:nvPr/>
          </p:nvSpPr>
          <p:spPr>
            <a:xfrm>
              <a:off x="950474" y="2190746"/>
              <a:ext cx="1730621" cy="3314614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571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500" dirty="0"/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xmlns="" id="{6369CF5C-4DC5-470C-A122-6300CA41BD36}"/>
                </a:ext>
              </a:extLst>
            </p:cNvPr>
            <p:cNvSpPr/>
            <p:nvPr/>
          </p:nvSpPr>
          <p:spPr>
            <a:xfrm>
              <a:off x="3104216" y="2190746"/>
              <a:ext cx="2013357" cy="331461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571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500" dirty="0"/>
            </a:p>
          </p:txBody>
        </p:sp>
        <p:pic>
          <p:nvPicPr>
            <p:cNvPr id="9" name="Gráfico 8" descr="Hierarquia">
              <a:extLst>
                <a:ext uri="{FF2B5EF4-FFF2-40B4-BE49-F238E27FC236}">
                  <a16:creationId xmlns:a16="http://schemas.microsoft.com/office/drawing/2014/main" xmlns="" id="{0F5C8AEF-624C-48F0-9BAD-F45C70B30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3653694" y="2547981"/>
              <a:ext cx="914400" cy="914400"/>
            </a:xfrm>
            <a:prstGeom prst="rect">
              <a:avLst/>
            </a:prstGeom>
          </p:spPr>
        </p:pic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xmlns="" id="{C6C2F305-1D1C-4075-839D-C15B2BAD3D6C}"/>
                </a:ext>
              </a:extLst>
            </p:cNvPr>
            <p:cNvSpPr txBox="1"/>
            <p:nvPr/>
          </p:nvSpPr>
          <p:spPr>
            <a:xfrm>
              <a:off x="3195804" y="2167688"/>
              <a:ext cx="1830181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300" b="1" dirty="0">
                  <a:solidFill>
                    <a:schemeClr val="accent2">
                      <a:lumMod val="75000"/>
                    </a:schemeClr>
                  </a:solidFill>
                </a:rPr>
                <a:t>Cluster Kafka</a:t>
              </a:r>
            </a:p>
          </p:txBody>
        </p:sp>
        <p:grpSp>
          <p:nvGrpSpPr>
            <p:cNvPr id="40" name="Agrupar 39">
              <a:extLst>
                <a:ext uri="{FF2B5EF4-FFF2-40B4-BE49-F238E27FC236}">
                  <a16:creationId xmlns:a16="http://schemas.microsoft.com/office/drawing/2014/main" xmlns="" id="{4D8CA3C4-EA7D-4145-A4D1-8E802E2B22A4}"/>
                </a:ext>
              </a:extLst>
            </p:cNvPr>
            <p:cNvGrpSpPr/>
            <p:nvPr/>
          </p:nvGrpSpPr>
          <p:grpSpPr>
            <a:xfrm>
              <a:off x="4788025" y="3628622"/>
              <a:ext cx="1079410" cy="914400"/>
              <a:chOff x="3450809" y="3766824"/>
              <a:chExt cx="1079410" cy="914400"/>
            </a:xfrm>
          </p:grpSpPr>
          <p:pic>
            <p:nvPicPr>
              <p:cNvPr id="41" name="Gráfico 40" descr="Seta: curva ligeira">
                <a:extLst>
                  <a:ext uri="{FF2B5EF4-FFF2-40B4-BE49-F238E27FC236}">
                    <a16:creationId xmlns:a16="http://schemas.microsoft.com/office/drawing/2014/main" xmlns="" id="{5080CD9A-2BBC-4B15-848D-EC7D46E407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p:blipFill>
            <p:spPr>
              <a:xfrm>
                <a:off x="3450809" y="3766824"/>
                <a:ext cx="1079410" cy="914400"/>
              </a:xfrm>
              <a:prstGeom prst="rect">
                <a:avLst/>
              </a:prstGeom>
            </p:spPr>
          </p:pic>
          <p:grpSp>
            <p:nvGrpSpPr>
              <p:cNvPr id="42" name="Agrupar 41">
                <a:extLst>
                  <a:ext uri="{FF2B5EF4-FFF2-40B4-BE49-F238E27FC236}">
                    <a16:creationId xmlns:a16="http://schemas.microsoft.com/office/drawing/2014/main" xmlns="" id="{ECBFE7C3-DC08-4FFE-B038-E1AA113E99C6}"/>
                  </a:ext>
                </a:extLst>
              </p:cNvPr>
              <p:cNvGrpSpPr/>
              <p:nvPr/>
            </p:nvGrpSpPr>
            <p:grpSpPr>
              <a:xfrm>
                <a:off x="3797459" y="3952989"/>
                <a:ext cx="369332" cy="369332"/>
                <a:chOff x="2121252" y="2030136"/>
                <a:chExt cx="1425584" cy="1425583"/>
              </a:xfrm>
            </p:grpSpPr>
            <p:sp>
              <p:nvSpPr>
                <p:cNvPr id="43" name="Retângulo 42">
                  <a:extLst>
                    <a:ext uri="{FF2B5EF4-FFF2-40B4-BE49-F238E27FC236}">
                      <a16:creationId xmlns:a16="http://schemas.microsoft.com/office/drawing/2014/main" xmlns="" id="{5A79A7B0-9FC3-46D1-897E-0CFDBA949C79}"/>
                    </a:ext>
                  </a:extLst>
                </p:cNvPr>
                <p:cNvSpPr/>
                <p:nvPr/>
              </p:nvSpPr>
              <p:spPr>
                <a:xfrm>
                  <a:off x="2256639" y="2315361"/>
                  <a:ext cx="1148838" cy="834313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pt-BR" sz="1500" dirty="0"/>
                </a:p>
              </p:txBody>
            </p:sp>
            <p:pic>
              <p:nvPicPr>
                <p:cNvPr id="44" name="Gráfico 43" descr="Envelope">
                  <a:extLst>
                    <a:ext uri="{FF2B5EF4-FFF2-40B4-BE49-F238E27FC236}">
                      <a16:creationId xmlns:a16="http://schemas.microsoft.com/office/drawing/2014/main" xmlns="" id="{5009417D-A028-42F9-A4A1-611C36FA30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xmlns="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21252" y="2030136"/>
                  <a:ext cx="1425584" cy="1425583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5" name="Agrupar 84">
              <a:extLst>
                <a:ext uri="{FF2B5EF4-FFF2-40B4-BE49-F238E27FC236}">
                  <a16:creationId xmlns:a16="http://schemas.microsoft.com/office/drawing/2014/main" xmlns="" id="{0C8A0461-E6AA-4285-94BE-F0AD034D723D}"/>
                </a:ext>
              </a:extLst>
            </p:cNvPr>
            <p:cNvGrpSpPr/>
            <p:nvPr/>
          </p:nvGrpSpPr>
          <p:grpSpPr>
            <a:xfrm>
              <a:off x="1125889" y="2733671"/>
              <a:ext cx="1379790" cy="2771688"/>
              <a:chOff x="2673060" y="2831671"/>
              <a:chExt cx="1466235" cy="2945336"/>
            </a:xfrm>
          </p:grpSpPr>
          <p:grpSp>
            <p:nvGrpSpPr>
              <p:cNvPr id="14" name="Agrupar 13">
                <a:extLst>
                  <a:ext uri="{FF2B5EF4-FFF2-40B4-BE49-F238E27FC236}">
                    <a16:creationId xmlns:a16="http://schemas.microsoft.com/office/drawing/2014/main" xmlns="" id="{10142769-8BD1-4521-B746-B6D02BF415C6}"/>
                  </a:ext>
                </a:extLst>
              </p:cNvPr>
              <p:cNvGrpSpPr/>
              <p:nvPr/>
            </p:nvGrpSpPr>
            <p:grpSpPr>
              <a:xfrm>
                <a:off x="2673060" y="3768741"/>
                <a:ext cx="1466235" cy="1071195"/>
                <a:chOff x="389095" y="3059668"/>
                <a:chExt cx="1466235" cy="1071195"/>
              </a:xfrm>
            </p:grpSpPr>
            <p:pic>
              <p:nvPicPr>
                <p:cNvPr id="5" name="Gráfico 4" descr="Computador">
                  <a:extLst>
                    <a:ext uri="{FF2B5EF4-FFF2-40B4-BE49-F238E27FC236}">
                      <a16:creationId xmlns:a16="http://schemas.microsoft.com/office/drawing/2014/main" xmlns="" id="{ACDEFD00-E210-4F32-9AD7-BAABAEE626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xmlns="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5006" y="3216463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xmlns="" id="{C9C701AD-6967-4201-878A-EB262D72C3E1}"/>
                    </a:ext>
                  </a:extLst>
                </p:cNvPr>
                <p:cNvSpPr txBox="1"/>
                <p:nvPr/>
              </p:nvSpPr>
              <p:spPr>
                <a:xfrm>
                  <a:off x="389095" y="3059668"/>
                  <a:ext cx="146623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dirty="0"/>
                    <a:t>App Parceiros</a:t>
                  </a:r>
                </a:p>
              </p:txBody>
            </p:sp>
          </p:grpSp>
          <p:grpSp>
            <p:nvGrpSpPr>
              <p:cNvPr id="45" name="Agrupar 44">
                <a:extLst>
                  <a:ext uri="{FF2B5EF4-FFF2-40B4-BE49-F238E27FC236}">
                    <a16:creationId xmlns:a16="http://schemas.microsoft.com/office/drawing/2014/main" xmlns="" id="{6CA3BE6E-B82B-4662-936B-654EC8327E73}"/>
                  </a:ext>
                </a:extLst>
              </p:cNvPr>
              <p:cNvGrpSpPr/>
              <p:nvPr/>
            </p:nvGrpSpPr>
            <p:grpSpPr>
              <a:xfrm>
                <a:off x="2732848" y="4705812"/>
                <a:ext cx="1346651" cy="1071195"/>
                <a:chOff x="448883" y="3059668"/>
                <a:chExt cx="1346651" cy="1071195"/>
              </a:xfrm>
            </p:grpSpPr>
            <p:pic>
              <p:nvPicPr>
                <p:cNvPr id="46" name="Gráfico 45" descr="Computador">
                  <a:extLst>
                    <a:ext uri="{FF2B5EF4-FFF2-40B4-BE49-F238E27FC236}">
                      <a16:creationId xmlns:a16="http://schemas.microsoft.com/office/drawing/2014/main" xmlns="" id="{0DC9B8EB-94AA-4E17-A70C-C90065CD08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xmlns="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5006" y="3216463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47" name="CaixaDeTexto 46">
                  <a:extLst>
                    <a:ext uri="{FF2B5EF4-FFF2-40B4-BE49-F238E27FC236}">
                      <a16:creationId xmlns:a16="http://schemas.microsoft.com/office/drawing/2014/main" xmlns="" id="{7E17FB88-AF8B-4DBC-A934-1CC365E506C6}"/>
                    </a:ext>
                  </a:extLst>
                </p:cNvPr>
                <p:cNvSpPr txBox="1"/>
                <p:nvPr/>
              </p:nvSpPr>
              <p:spPr>
                <a:xfrm>
                  <a:off x="448883" y="3059668"/>
                  <a:ext cx="134665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dirty="0"/>
                    <a:t>App Internas</a:t>
                  </a:r>
                </a:p>
              </p:txBody>
            </p:sp>
          </p:grpSp>
          <p:grpSp>
            <p:nvGrpSpPr>
              <p:cNvPr id="48" name="Agrupar 47">
                <a:extLst>
                  <a:ext uri="{FF2B5EF4-FFF2-40B4-BE49-F238E27FC236}">
                    <a16:creationId xmlns:a16="http://schemas.microsoft.com/office/drawing/2014/main" xmlns="" id="{25486D6A-6ABC-4B4C-8188-BF953F3A36DA}"/>
                  </a:ext>
                </a:extLst>
              </p:cNvPr>
              <p:cNvGrpSpPr/>
              <p:nvPr/>
            </p:nvGrpSpPr>
            <p:grpSpPr>
              <a:xfrm>
                <a:off x="2779368" y="2831671"/>
                <a:ext cx="1253613" cy="1071195"/>
                <a:chOff x="495403" y="3059668"/>
                <a:chExt cx="1253613" cy="1071195"/>
              </a:xfrm>
            </p:grpSpPr>
            <p:pic>
              <p:nvPicPr>
                <p:cNvPr id="49" name="Gráfico 48" descr="Computador">
                  <a:extLst>
                    <a:ext uri="{FF2B5EF4-FFF2-40B4-BE49-F238E27FC236}">
                      <a16:creationId xmlns:a16="http://schemas.microsoft.com/office/drawing/2014/main" xmlns="" id="{FE2DA0C2-1162-477D-868C-1C0D1624F5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xmlns="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5006" y="3216463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50" name="CaixaDeTexto 49">
                  <a:extLst>
                    <a:ext uri="{FF2B5EF4-FFF2-40B4-BE49-F238E27FC236}">
                      <a16:creationId xmlns:a16="http://schemas.microsoft.com/office/drawing/2014/main" xmlns="" id="{79958B25-FDF9-43FD-8809-5E92F3A69B61}"/>
                    </a:ext>
                  </a:extLst>
                </p:cNvPr>
                <p:cNvSpPr txBox="1"/>
                <p:nvPr/>
              </p:nvSpPr>
              <p:spPr>
                <a:xfrm>
                  <a:off x="495403" y="3059668"/>
                  <a:ext cx="12536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dirty="0"/>
                    <a:t>App Twitter</a:t>
                  </a:r>
                </a:p>
              </p:txBody>
            </p:sp>
          </p:grpSp>
        </p:grpSp>
        <p:grpSp>
          <p:nvGrpSpPr>
            <p:cNvPr id="86" name="Agrupar 85">
              <a:extLst>
                <a:ext uri="{FF2B5EF4-FFF2-40B4-BE49-F238E27FC236}">
                  <a16:creationId xmlns:a16="http://schemas.microsoft.com/office/drawing/2014/main" xmlns="" id="{DEBDCDDE-CA7C-4291-B543-43E028D9BE74}"/>
                </a:ext>
              </a:extLst>
            </p:cNvPr>
            <p:cNvGrpSpPr/>
            <p:nvPr/>
          </p:nvGrpSpPr>
          <p:grpSpPr>
            <a:xfrm>
              <a:off x="5888522" y="2733671"/>
              <a:ext cx="1133182" cy="2771688"/>
              <a:chOff x="7414251" y="2829754"/>
              <a:chExt cx="1204177" cy="2945336"/>
            </a:xfrm>
          </p:grpSpPr>
          <p:grpSp>
            <p:nvGrpSpPr>
              <p:cNvPr id="51" name="Agrupar 50">
                <a:extLst>
                  <a:ext uri="{FF2B5EF4-FFF2-40B4-BE49-F238E27FC236}">
                    <a16:creationId xmlns:a16="http://schemas.microsoft.com/office/drawing/2014/main" xmlns="" id="{FE4BC7FE-FC0E-47C3-A745-90A6068066E6}"/>
                  </a:ext>
                </a:extLst>
              </p:cNvPr>
              <p:cNvGrpSpPr/>
              <p:nvPr/>
            </p:nvGrpSpPr>
            <p:grpSpPr>
              <a:xfrm>
                <a:off x="7426273" y="3766824"/>
                <a:ext cx="1180131" cy="1071195"/>
                <a:chOff x="532141" y="3059668"/>
                <a:chExt cx="1180131" cy="1071195"/>
              </a:xfrm>
            </p:grpSpPr>
            <p:pic>
              <p:nvPicPr>
                <p:cNvPr id="52" name="Gráfico 51" descr="Computador">
                  <a:extLst>
                    <a:ext uri="{FF2B5EF4-FFF2-40B4-BE49-F238E27FC236}">
                      <a16:creationId xmlns:a16="http://schemas.microsoft.com/office/drawing/2014/main" xmlns="" id="{E95645C1-040D-4D72-B26C-EFA4A8719F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xmlns="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5006" y="3216463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53" name="CaixaDeTexto 52">
                  <a:extLst>
                    <a:ext uri="{FF2B5EF4-FFF2-40B4-BE49-F238E27FC236}">
                      <a16:creationId xmlns:a16="http://schemas.microsoft.com/office/drawing/2014/main" xmlns="" id="{A0689A77-A56D-4650-AF00-C3F22CB44A92}"/>
                    </a:ext>
                  </a:extLst>
                </p:cNvPr>
                <p:cNvSpPr txBox="1"/>
                <p:nvPr/>
              </p:nvSpPr>
              <p:spPr>
                <a:xfrm>
                  <a:off x="532141" y="3059668"/>
                  <a:ext cx="1180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dirty="0" err="1"/>
                    <a:t>ConsumerB</a:t>
                  </a:r>
                  <a:endParaRPr lang="pt-BR" dirty="0"/>
                </a:p>
              </p:txBody>
            </p:sp>
          </p:grpSp>
          <p:grpSp>
            <p:nvGrpSpPr>
              <p:cNvPr id="54" name="Agrupar 53">
                <a:extLst>
                  <a:ext uri="{FF2B5EF4-FFF2-40B4-BE49-F238E27FC236}">
                    <a16:creationId xmlns:a16="http://schemas.microsoft.com/office/drawing/2014/main" xmlns="" id="{BA3A23B3-AF24-4843-BDA0-E0A795F7C1C7}"/>
                  </a:ext>
                </a:extLst>
              </p:cNvPr>
              <p:cNvGrpSpPr/>
              <p:nvPr/>
            </p:nvGrpSpPr>
            <p:grpSpPr>
              <a:xfrm>
                <a:off x="7414251" y="4703895"/>
                <a:ext cx="1204176" cy="1071195"/>
                <a:chOff x="520119" y="3059668"/>
                <a:chExt cx="1204176" cy="1071195"/>
              </a:xfrm>
            </p:grpSpPr>
            <p:pic>
              <p:nvPicPr>
                <p:cNvPr id="55" name="Gráfico 54" descr="Computador">
                  <a:extLst>
                    <a:ext uri="{FF2B5EF4-FFF2-40B4-BE49-F238E27FC236}">
                      <a16:creationId xmlns:a16="http://schemas.microsoft.com/office/drawing/2014/main" xmlns="" id="{791256E2-BDB4-4E13-B954-614F9BFF30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xmlns="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5006" y="3216463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56" name="CaixaDeTexto 55">
                  <a:extLst>
                    <a:ext uri="{FF2B5EF4-FFF2-40B4-BE49-F238E27FC236}">
                      <a16:creationId xmlns:a16="http://schemas.microsoft.com/office/drawing/2014/main" xmlns="" id="{47E46551-9F4F-4825-A1DC-6EEE3F748635}"/>
                    </a:ext>
                  </a:extLst>
                </p:cNvPr>
                <p:cNvSpPr txBox="1"/>
                <p:nvPr/>
              </p:nvSpPr>
              <p:spPr>
                <a:xfrm>
                  <a:off x="520119" y="3059668"/>
                  <a:ext cx="120417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dirty="0" err="1"/>
                    <a:t>ConsumerC</a:t>
                  </a:r>
                  <a:endParaRPr lang="pt-BR" dirty="0"/>
                </a:p>
                <a:p>
                  <a:pPr algn="ctr"/>
                  <a:endParaRPr lang="pt-BR" dirty="0"/>
                </a:p>
              </p:txBody>
            </p:sp>
          </p:grpSp>
          <p:grpSp>
            <p:nvGrpSpPr>
              <p:cNvPr id="57" name="Agrupar 56">
                <a:extLst>
                  <a:ext uri="{FF2B5EF4-FFF2-40B4-BE49-F238E27FC236}">
                    <a16:creationId xmlns:a16="http://schemas.microsoft.com/office/drawing/2014/main" xmlns="" id="{499F7FB9-E102-48C7-B80F-C0BCE115EEB5}"/>
                  </a:ext>
                </a:extLst>
              </p:cNvPr>
              <p:cNvGrpSpPr/>
              <p:nvPr/>
            </p:nvGrpSpPr>
            <p:grpSpPr>
              <a:xfrm>
                <a:off x="7414252" y="2829754"/>
                <a:ext cx="1204176" cy="1071195"/>
                <a:chOff x="520120" y="3059668"/>
                <a:chExt cx="1204176" cy="1071195"/>
              </a:xfrm>
            </p:grpSpPr>
            <p:pic>
              <p:nvPicPr>
                <p:cNvPr id="58" name="Gráfico 57" descr="Computador">
                  <a:extLst>
                    <a:ext uri="{FF2B5EF4-FFF2-40B4-BE49-F238E27FC236}">
                      <a16:creationId xmlns:a16="http://schemas.microsoft.com/office/drawing/2014/main" xmlns="" id="{58ADF007-42A6-4921-832E-34F3DE100E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xmlns="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5006" y="3216463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59" name="CaixaDeTexto 58">
                  <a:extLst>
                    <a:ext uri="{FF2B5EF4-FFF2-40B4-BE49-F238E27FC236}">
                      <a16:creationId xmlns:a16="http://schemas.microsoft.com/office/drawing/2014/main" xmlns="" id="{D28CA5B6-3A1C-4B26-BF77-90AB0814201D}"/>
                    </a:ext>
                  </a:extLst>
                </p:cNvPr>
                <p:cNvSpPr txBox="1"/>
                <p:nvPr/>
              </p:nvSpPr>
              <p:spPr>
                <a:xfrm>
                  <a:off x="520120" y="3059668"/>
                  <a:ext cx="12041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pt-BR" dirty="0" err="1"/>
                    <a:t>ConsumerA</a:t>
                  </a:r>
                  <a:endParaRPr lang="pt-BR" dirty="0"/>
                </a:p>
              </p:txBody>
            </p:sp>
          </p:grpSp>
        </p:grpSp>
        <p:grpSp>
          <p:nvGrpSpPr>
            <p:cNvPr id="60" name="Agrupar 59">
              <a:extLst>
                <a:ext uri="{FF2B5EF4-FFF2-40B4-BE49-F238E27FC236}">
                  <a16:creationId xmlns:a16="http://schemas.microsoft.com/office/drawing/2014/main" xmlns="" id="{234CEC0C-4F53-4F24-9E91-D876F79C1061}"/>
                </a:ext>
              </a:extLst>
            </p:cNvPr>
            <p:cNvGrpSpPr/>
            <p:nvPr/>
          </p:nvGrpSpPr>
          <p:grpSpPr>
            <a:xfrm rot="1181874">
              <a:off x="4788025" y="4139140"/>
              <a:ext cx="1079410" cy="914400"/>
              <a:chOff x="3450809" y="3766824"/>
              <a:chExt cx="1079410" cy="914400"/>
            </a:xfrm>
          </p:grpSpPr>
          <p:pic>
            <p:nvPicPr>
              <p:cNvPr id="61" name="Gráfico 60" descr="Seta: curva ligeira">
                <a:extLst>
                  <a:ext uri="{FF2B5EF4-FFF2-40B4-BE49-F238E27FC236}">
                    <a16:creationId xmlns:a16="http://schemas.microsoft.com/office/drawing/2014/main" xmlns="" id="{C9A0437A-0D18-40AC-ADB9-28C23A3F96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p:blipFill>
            <p:spPr>
              <a:xfrm>
                <a:off x="3450809" y="3766824"/>
                <a:ext cx="1079410" cy="914400"/>
              </a:xfrm>
              <a:prstGeom prst="rect">
                <a:avLst/>
              </a:prstGeom>
            </p:spPr>
          </p:pic>
          <p:grpSp>
            <p:nvGrpSpPr>
              <p:cNvPr id="62" name="Agrupar 61">
                <a:extLst>
                  <a:ext uri="{FF2B5EF4-FFF2-40B4-BE49-F238E27FC236}">
                    <a16:creationId xmlns:a16="http://schemas.microsoft.com/office/drawing/2014/main" xmlns="" id="{1D911C17-A5DE-4834-9972-F6147B852A88}"/>
                  </a:ext>
                </a:extLst>
              </p:cNvPr>
              <p:cNvGrpSpPr/>
              <p:nvPr/>
            </p:nvGrpSpPr>
            <p:grpSpPr>
              <a:xfrm>
                <a:off x="3797459" y="3952989"/>
                <a:ext cx="369332" cy="369332"/>
                <a:chOff x="2121252" y="2030136"/>
                <a:chExt cx="1425584" cy="1425583"/>
              </a:xfrm>
            </p:grpSpPr>
            <p:sp>
              <p:nvSpPr>
                <p:cNvPr id="63" name="Retângulo 62">
                  <a:extLst>
                    <a:ext uri="{FF2B5EF4-FFF2-40B4-BE49-F238E27FC236}">
                      <a16:creationId xmlns:a16="http://schemas.microsoft.com/office/drawing/2014/main" xmlns="" id="{378A650D-BD95-40B2-BD2C-899049D7BB69}"/>
                    </a:ext>
                  </a:extLst>
                </p:cNvPr>
                <p:cNvSpPr/>
                <p:nvPr/>
              </p:nvSpPr>
              <p:spPr>
                <a:xfrm>
                  <a:off x="2256639" y="2315361"/>
                  <a:ext cx="1148838" cy="834313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pt-BR" sz="1500" dirty="0"/>
                </a:p>
              </p:txBody>
            </p:sp>
            <p:pic>
              <p:nvPicPr>
                <p:cNvPr id="64" name="Gráfico 63" descr="Envelope">
                  <a:extLst>
                    <a:ext uri="{FF2B5EF4-FFF2-40B4-BE49-F238E27FC236}">
                      <a16:creationId xmlns:a16="http://schemas.microsoft.com/office/drawing/2014/main" xmlns="" id="{9E891E41-0DF1-4924-B1A5-A24C70B995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xmlns="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21252" y="2030136"/>
                  <a:ext cx="1425584" cy="1425583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5" name="Agrupar 64">
              <a:extLst>
                <a:ext uri="{FF2B5EF4-FFF2-40B4-BE49-F238E27FC236}">
                  <a16:creationId xmlns:a16="http://schemas.microsoft.com/office/drawing/2014/main" xmlns="" id="{9A70D72F-6758-4EE1-8E41-D7BE9CFE85EB}"/>
                </a:ext>
              </a:extLst>
            </p:cNvPr>
            <p:cNvGrpSpPr/>
            <p:nvPr/>
          </p:nvGrpSpPr>
          <p:grpSpPr>
            <a:xfrm rot="20261418">
              <a:off x="4788025" y="3076588"/>
              <a:ext cx="1079410" cy="914400"/>
              <a:chOff x="3450809" y="3766824"/>
              <a:chExt cx="1079410" cy="914400"/>
            </a:xfrm>
          </p:grpSpPr>
          <p:pic>
            <p:nvPicPr>
              <p:cNvPr id="66" name="Gráfico 65" descr="Seta: curva ligeira">
                <a:extLst>
                  <a:ext uri="{FF2B5EF4-FFF2-40B4-BE49-F238E27FC236}">
                    <a16:creationId xmlns:a16="http://schemas.microsoft.com/office/drawing/2014/main" xmlns="" id="{CAA601AD-CA8C-4AE1-9216-599E615D52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p:blipFill>
            <p:spPr>
              <a:xfrm>
                <a:off x="3450809" y="3766824"/>
                <a:ext cx="1079410" cy="914400"/>
              </a:xfrm>
              <a:prstGeom prst="rect">
                <a:avLst/>
              </a:prstGeom>
            </p:spPr>
          </p:pic>
          <p:grpSp>
            <p:nvGrpSpPr>
              <p:cNvPr id="67" name="Agrupar 66">
                <a:extLst>
                  <a:ext uri="{FF2B5EF4-FFF2-40B4-BE49-F238E27FC236}">
                    <a16:creationId xmlns:a16="http://schemas.microsoft.com/office/drawing/2014/main" xmlns="" id="{B1905097-8638-47B0-B5F3-8EB2B6C64E8C}"/>
                  </a:ext>
                </a:extLst>
              </p:cNvPr>
              <p:cNvGrpSpPr/>
              <p:nvPr/>
            </p:nvGrpSpPr>
            <p:grpSpPr>
              <a:xfrm>
                <a:off x="3797459" y="3952989"/>
                <a:ext cx="369332" cy="369332"/>
                <a:chOff x="2121252" y="2030136"/>
                <a:chExt cx="1425584" cy="1425583"/>
              </a:xfrm>
            </p:grpSpPr>
            <p:sp>
              <p:nvSpPr>
                <p:cNvPr id="68" name="Retângulo 67">
                  <a:extLst>
                    <a:ext uri="{FF2B5EF4-FFF2-40B4-BE49-F238E27FC236}">
                      <a16:creationId xmlns:a16="http://schemas.microsoft.com/office/drawing/2014/main" xmlns="" id="{11E7F63F-5765-4B7D-B0B4-A8D764BEDD2B}"/>
                    </a:ext>
                  </a:extLst>
                </p:cNvPr>
                <p:cNvSpPr/>
                <p:nvPr/>
              </p:nvSpPr>
              <p:spPr>
                <a:xfrm>
                  <a:off x="2256639" y="2315361"/>
                  <a:ext cx="1148838" cy="834313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pt-BR" sz="1500" dirty="0"/>
                </a:p>
              </p:txBody>
            </p:sp>
            <p:pic>
              <p:nvPicPr>
                <p:cNvPr id="69" name="Gráfico 68" descr="Envelope">
                  <a:extLst>
                    <a:ext uri="{FF2B5EF4-FFF2-40B4-BE49-F238E27FC236}">
                      <a16:creationId xmlns:a16="http://schemas.microsoft.com/office/drawing/2014/main" xmlns="" id="{C008883A-F9A0-45D3-8CBA-E524A78B22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xmlns="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21252" y="2030136"/>
                  <a:ext cx="1425584" cy="1425583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0" name="Agrupar 69">
              <a:extLst>
                <a:ext uri="{FF2B5EF4-FFF2-40B4-BE49-F238E27FC236}">
                  <a16:creationId xmlns:a16="http://schemas.microsoft.com/office/drawing/2014/main" xmlns="" id="{573583CC-8D87-484D-889A-4589DEE2268B}"/>
                </a:ext>
              </a:extLst>
            </p:cNvPr>
            <p:cNvGrpSpPr/>
            <p:nvPr/>
          </p:nvGrpSpPr>
          <p:grpSpPr>
            <a:xfrm rot="21358998">
              <a:off x="2306279" y="3781022"/>
              <a:ext cx="1079410" cy="914400"/>
              <a:chOff x="3450809" y="3766824"/>
              <a:chExt cx="1079410" cy="914400"/>
            </a:xfrm>
          </p:grpSpPr>
          <p:pic>
            <p:nvPicPr>
              <p:cNvPr id="71" name="Gráfico 70" descr="Seta: curva ligeira">
                <a:extLst>
                  <a:ext uri="{FF2B5EF4-FFF2-40B4-BE49-F238E27FC236}">
                    <a16:creationId xmlns:a16="http://schemas.microsoft.com/office/drawing/2014/main" xmlns="" id="{871B05E1-1447-4BD8-9D5D-D118E6AC89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p:blipFill>
            <p:spPr>
              <a:xfrm>
                <a:off x="3450809" y="3766824"/>
                <a:ext cx="1079410" cy="914400"/>
              </a:xfrm>
              <a:prstGeom prst="rect">
                <a:avLst/>
              </a:prstGeom>
            </p:spPr>
          </p:pic>
          <p:grpSp>
            <p:nvGrpSpPr>
              <p:cNvPr id="72" name="Agrupar 71">
                <a:extLst>
                  <a:ext uri="{FF2B5EF4-FFF2-40B4-BE49-F238E27FC236}">
                    <a16:creationId xmlns:a16="http://schemas.microsoft.com/office/drawing/2014/main" xmlns="" id="{D21A0642-A87A-44E3-BA05-A79FF2A1B438}"/>
                  </a:ext>
                </a:extLst>
              </p:cNvPr>
              <p:cNvGrpSpPr/>
              <p:nvPr/>
            </p:nvGrpSpPr>
            <p:grpSpPr>
              <a:xfrm>
                <a:off x="3797459" y="3952989"/>
                <a:ext cx="369332" cy="369332"/>
                <a:chOff x="2121252" y="2030136"/>
                <a:chExt cx="1425584" cy="1425583"/>
              </a:xfrm>
            </p:grpSpPr>
            <p:sp>
              <p:nvSpPr>
                <p:cNvPr id="73" name="Retângulo 72">
                  <a:extLst>
                    <a:ext uri="{FF2B5EF4-FFF2-40B4-BE49-F238E27FC236}">
                      <a16:creationId xmlns:a16="http://schemas.microsoft.com/office/drawing/2014/main" xmlns="" id="{B4FD1B64-7707-4166-81E9-4AAE30E01F58}"/>
                    </a:ext>
                  </a:extLst>
                </p:cNvPr>
                <p:cNvSpPr/>
                <p:nvPr/>
              </p:nvSpPr>
              <p:spPr>
                <a:xfrm>
                  <a:off x="2256639" y="2315361"/>
                  <a:ext cx="1148838" cy="834313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pt-BR" sz="1500" dirty="0"/>
                </a:p>
              </p:txBody>
            </p:sp>
            <p:pic>
              <p:nvPicPr>
                <p:cNvPr id="74" name="Gráfico 73" descr="Envelope">
                  <a:extLst>
                    <a:ext uri="{FF2B5EF4-FFF2-40B4-BE49-F238E27FC236}">
                      <a16:creationId xmlns:a16="http://schemas.microsoft.com/office/drawing/2014/main" xmlns="" id="{480F54F7-2DEE-4D5F-ACB8-8B309132F7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xmlns="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21252" y="2030136"/>
                  <a:ext cx="1425584" cy="1425583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5" name="Agrupar 74">
              <a:extLst>
                <a:ext uri="{FF2B5EF4-FFF2-40B4-BE49-F238E27FC236}">
                  <a16:creationId xmlns:a16="http://schemas.microsoft.com/office/drawing/2014/main" xmlns="" id="{5EFAB0D8-2029-42E4-B56C-27B948674BD7}"/>
                </a:ext>
              </a:extLst>
            </p:cNvPr>
            <p:cNvGrpSpPr/>
            <p:nvPr/>
          </p:nvGrpSpPr>
          <p:grpSpPr>
            <a:xfrm rot="20352240">
              <a:off x="2306279" y="4291540"/>
              <a:ext cx="1079410" cy="914400"/>
              <a:chOff x="3450809" y="3766824"/>
              <a:chExt cx="1079410" cy="914400"/>
            </a:xfrm>
          </p:grpSpPr>
          <p:pic>
            <p:nvPicPr>
              <p:cNvPr id="76" name="Gráfico 75" descr="Seta: curva ligeira">
                <a:extLst>
                  <a:ext uri="{FF2B5EF4-FFF2-40B4-BE49-F238E27FC236}">
                    <a16:creationId xmlns:a16="http://schemas.microsoft.com/office/drawing/2014/main" xmlns="" id="{1D4115D1-20EC-421F-B594-D6C1C1E82B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p:blipFill>
            <p:spPr>
              <a:xfrm>
                <a:off x="3450809" y="3766824"/>
                <a:ext cx="1079410" cy="914400"/>
              </a:xfrm>
              <a:prstGeom prst="rect">
                <a:avLst/>
              </a:prstGeom>
            </p:spPr>
          </p:pic>
          <p:grpSp>
            <p:nvGrpSpPr>
              <p:cNvPr id="77" name="Agrupar 76">
                <a:extLst>
                  <a:ext uri="{FF2B5EF4-FFF2-40B4-BE49-F238E27FC236}">
                    <a16:creationId xmlns:a16="http://schemas.microsoft.com/office/drawing/2014/main" xmlns="" id="{F255C01A-3CB7-45FC-A84E-00E207AA0702}"/>
                  </a:ext>
                </a:extLst>
              </p:cNvPr>
              <p:cNvGrpSpPr/>
              <p:nvPr/>
            </p:nvGrpSpPr>
            <p:grpSpPr>
              <a:xfrm>
                <a:off x="3797459" y="3952989"/>
                <a:ext cx="369332" cy="369332"/>
                <a:chOff x="2121252" y="2030136"/>
                <a:chExt cx="1425584" cy="1425583"/>
              </a:xfrm>
            </p:grpSpPr>
            <p:sp>
              <p:nvSpPr>
                <p:cNvPr id="78" name="Retângulo 77">
                  <a:extLst>
                    <a:ext uri="{FF2B5EF4-FFF2-40B4-BE49-F238E27FC236}">
                      <a16:creationId xmlns:a16="http://schemas.microsoft.com/office/drawing/2014/main" xmlns="" id="{822FC7A0-F620-490E-867D-070135CDCC4B}"/>
                    </a:ext>
                  </a:extLst>
                </p:cNvPr>
                <p:cNvSpPr/>
                <p:nvPr/>
              </p:nvSpPr>
              <p:spPr>
                <a:xfrm>
                  <a:off x="2256639" y="2315361"/>
                  <a:ext cx="1148838" cy="834313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pt-BR" sz="1500" dirty="0"/>
                </a:p>
              </p:txBody>
            </p:sp>
            <p:pic>
              <p:nvPicPr>
                <p:cNvPr id="79" name="Gráfico 78" descr="Envelope">
                  <a:extLst>
                    <a:ext uri="{FF2B5EF4-FFF2-40B4-BE49-F238E27FC236}">
                      <a16:creationId xmlns:a16="http://schemas.microsoft.com/office/drawing/2014/main" xmlns="" id="{4892B6E0-2B2E-4F23-81D5-D2C244366F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xmlns="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21252" y="2030136"/>
                  <a:ext cx="1425584" cy="1425583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0" name="Agrupar 79">
              <a:extLst>
                <a:ext uri="{FF2B5EF4-FFF2-40B4-BE49-F238E27FC236}">
                  <a16:creationId xmlns:a16="http://schemas.microsoft.com/office/drawing/2014/main" xmlns="" id="{27B33190-DF4F-4AAF-B56A-DB07D39EE5E6}"/>
                </a:ext>
              </a:extLst>
            </p:cNvPr>
            <p:cNvGrpSpPr/>
            <p:nvPr/>
          </p:nvGrpSpPr>
          <p:grpSpPr>
            <a:xfrm rot="851090">
              <a:off x="2306279" y="3228988"/>
              <a:ext cx="1079410" cy="914400"/>
              <a:chOff x="3450809" y="3766824"/>
              <a:chExt cx="1079410" cy="914400"/>
            </a:xfrm>
          </p:grpSpPr>
          <p:pic>
            <p:nvPicPr>
              <p:cNvPr id="81" name="Gráfico 80" descr="Seta: curva ligeira">
                <a:extLst>
                  <a:ext uri="{FF2B5EF4-FFF2-40B4-BE49-F238E27FC236}">
                    <a16:creationId xmlns:a16="http://schemas.microsoft.com/office/drawing/2014/main" xmlns="" id="{E4978199-7DC8-4777-9413-7396EFC4A1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p:blipFill>
            <p:spPr>
              <a:xfrm>
                <a:off x="3450809" y="3766824"/>
                <a:ext cx="1079410" cy="914400"/>
              </a:xfrm>
              <a:prstGeom prst="rect">
                <a:avLst/>
              </a:prstGeom>
            </p:spPr>
          </p:pic>
          <p:grpSp>
            <p:nvGrpSpPr>
              <p:cNvPr id="82" name="Agrupar 81">
                <a:extLst>
                  <a:ext uri="{FF2B5EF4-FFF2-40B4-BE49-F238E27FC236}">
                    <a16:creationId xmlns:a16="http://schemas.microsoft.com/office/drawing/2014/main" xmlns="" id="{C6453562-A631-4DCD-B983-16E1D447326D}"/>
                  </a:ext>
                </a:extLst>
              </p:cNvPr>
              <p:cNvGrpSpPr/>
              <p:nvPr/>
            </p:nvGrpSpPr>
            <p:grpSpPr>
              <a:xfrm>
                <a:off x="3797459" y="3952989"/>
                <a:ext cx="369332" cy="369332"/>
                <a:chOff x="2121252" y="2030136"/>
                <a:chExt cx="1425584" cy="1425583"/>
              </a:xfrm>
            </p:grpSpPr>
            <p:sp>
              <p:nvSpPr>
                <p:cNvPr id="83" name="Retângulo 82">
                  <a:extLst>
                    <a:ext uri="{FF2B5EF4-FFF2-40B4-BE49-F238E27FC236}">
                      <a16:creationId xmlns:a16="http://schemas.microsoft.com/office/drawing/2014/main" xmlns="" id="{E7C3C5A3-DA00-478B-99C3-AEC7A1ABF0BB}"/>
                    </a:ext>
                  </a:extLst>
                </p:cNvPr>
                <p:cNvSpPr/>
                <p:nvPr/>
              </p:nvSpPr>
              <p:spPr>
                <a:xfrm>
                  <a:off x="2256639" y="2315361"/>
                  <a:ext cx="1148838" cy="834313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pt-BR" sz="1500" dirty="0"/>
                </a:p>
              </p:txBody>
            </p:sp>
            <p:pic>
              <p:nvPicPr>
                <p:cNvPr id="84" name="Gráfico 83" descr="Envelope">
                  <a:extLst>
                    <a:ext uri="{FF2B5EF4-FFF2-40B4-BE49-F238E27FC236}">
                      <a16:creationId xmlns:a16="http://schemas.microsoft.com/office/drawing/2014/main" xmlns="" id="{F8FC55B0-5DFB-4BE7-A0D2-156CC8E32C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xmlns="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21252" y="2030136"/>
                  <a:ext cx="1425584" cy="1425583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4" name="Agrupar 103">
              <a:extLst>
                <a:ext uri="{FF2B5EF4-FFF2-40B4-BE49-F238E27FC236}">
                  <a16:creationId xmlns:a16="http://schemas.microsoft.com/office/drawing/2014/main" xmlns="" id="{CBC3D257-E3D2-47A0-B9EC-C3D232BCF113}"/>
                </a:ext>
              </a:extLst>
            </p:cNvPr>
            <p:cNvGrpSpPr/>
            <p:nvPr/>
          </p:nvGrpSpPr>
          <p:grpSpPr>
            <a:xfrm>
              <a:off x="3442595" y="3645748"/>
              <a:ext cx="1376351" cy="323165"/>
              <a:chOff x="5025771" y="3853554"/>
              <a:chExt cx="1376351" cy="323165"/>
            </a:xfrm>
          </p:grpSpPr>
          <p:sp>
            <p:nvSpPr>
              <p:cNvPr id="87" name="Cilindro 86">
                <a:extLst>
                  <a:ext uri="{FF2B5EF4-FFF2-40B4-BE49-F238E27FC236}">
                    <a16:creationId xmlns:a16="http://schemas.microsoft.com/office/drawing/2014/main" xmlns="" id="{6D6669CE-459A-4C35-A6C2-E6D8E39A57C0}"/>
                  </a:ext>
                </a:extLst>
              </p:cNvPr>
              <p:cNvSpPr/>
              <p:nvPr/>
            </p:nvSpPr>
            <p:spPr>
              <a:xfrm rot="16200000">
                <a:off x="5580729" y="3326962"/>
                <a:ext cx="266435" cy="1376351"/>
              </a:xfrm>
              <a:prstGeom prst="can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500" dirty="0"/>
              </a:p>
            </p:txBody>
          </p:sp>
          <p:sp>
            <p:nvSpPr>
              <p:cNvPr id="88" name="CaixaDeTexto 87">
                <a:extLst>
                  <a:ext uri="{FF2B5EF4-FFF2-40B4-BE49-F238E27FC236}">
                    <a16:creationId xmlns:a16="http://schemas.microsoft.com/office/drawing/2014/main" xmlns="" id="{8474B2F4-C40F-4EA0-9D31-BABF000A07FA}"/>
                  </a:ext>
                </a:extLst>
              </p:cNvPr>
              <p:cNvSpPr txBox="1"/>
              <p:nvPr/>
            </p:nvSpPr>
            <p:spPr>
              <a:xfrm>
                <a:off x="5372346" y="3853554"/>
                <a:ext cx="851515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500" dirty="0">
                    <a:solidFill>
                      <a:schemeClr val="bg1"/>
                    </a:solidFill>
                  </a:rPr>
                  <a:t>Tópico A</a:t>
                </a:r>
              </a:p>
            </p:txBody>
          </p:sp>
        </p:grpSp>
        <p:grpSp>
          <p:nvGrpSpPr>
            <p:cNvPr id="105" name="Agrupar 104">
              <a:extLst>
                <a:ext uri="{FF2B5EF4-FFF2-40B4-BE49-F238E27FC236}">
                  <a16:creationId xmlns:a16="http://schemas.microsoft.com/office/drawing/2014/main" xmlns="" id="{12C7F1E5-ED84-4D74-B740-D2B0DBFE88B2}"/>
                </a:ext>
              </a:extLst>
            </p:cNvPr>
            <p:cNvGrpSpPr/>
            <p:nvPr/>
          </p:nvGrpSpPr>
          <p:grpSpPr>
            <a:xfrm>
              <a:off x="3436758" y="4142685"/>
              <a:ext cx="1376351" cy="323165"/>
              <a:chOff x="5025771" y="3853554"/>
              <a:chExt cx="1376351" cy="323165"/>
            </a:xfrm>
          </p:grpSpPr>
          <p:sp>
            <p:nvSpPr>
              <p:cNvPr id="106" name="Cilindro 105">
                <a:extLst>
                  <a:ext uri="{FF2B5EF4-FFF2-40B4-BE49-F238E27FC236}">
                    <a16:creationId xmlns:a16="http://schemas.microsoft.com/office/drawing/2014/main" xmlns="" id="{5F4C0C91-7413-4A8D-986A-D41CD14C32F2}"/>
                  </a:ext>
                </a:extLst>
              </p:cNvPr>
              <p:cNvSpPr/>
              <p:nvPr/>
            </p:nvSpPr>
            <p:spPr>
              <a:xfrm rot="16200000">
                <a:off x="5580729" y="3326962"/>
                <a:ext cx="266435" cy="1376351"/>
              </a:xfrm>
              <a:prstGeom prst="can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500" dirty="0"/>
              </a:p>
            </p:txBody>
          </p:sp>
          <p:sp>
            <p:nvSpPr>
              <p:cNvPr id="107" name="CaixaDeTexto 106">
                <a:extLst>
                  <a:ext uri="{FF2B5EF4-FFF2-40B4-BE49-F238E27FC236}">
                    <a16:creationId xmlns:a16="http://schemas.microsoft.com/office/drawing/2014/main" xmlns="" id="{6F680D02-7AD6-40A2-B2BC-E8B1252369E6}"/>
                  </a:ext>
                </a:extLst>
              </p:cNvPr>
              <p:cNvSpPr txBox="1"/>
              <p:nvPr/>
            </p:nvSpPr>
            <p:spPr>
              <a:xfrm>
                <a:off x="5372346" y="3853554"/>
                <a:ext cx="832279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500" dirty="0">
                    <a:solidFill>
                      <a:schemeClr val="bg1"/>
                    </a:solidFill>
                  </a:rPr>
                  <a:t>Tópico B</a:t>
                </a:r>
              </a:p>
            </p:txBody>
          </p:sp>
        </p:grpSp>
        <p:sp>
          <p:nvSpPr>
            <p:cNvPr id="120" name="Seta: para Baixo 119">
              <a:extLst>
                <a:ext uri="{FF2B5EF4-FFF2-40B4-BE49-F238E27FC236}">
                  <a16:creationId xmlns:a16="http://schemas.microsoft.com/office/drawing/2014/main" xmlns="" id="{F4863E6F-7EB0-4694-A6ED-981F6A32DD90}"/>
                </a:ext>
              </a:extLst>
            </p:cNvPr>
            <p:cNvSpPr/>
            <p:nvPr/>
          </p:nvSpPr>
          <p:spPr>
            <a:xfrm>
              <a:off x="3906447" y="4661309"/>
              <a:ext cx="560086" cy="247867"/>
            </a:xfrm>
            <a:prstGeom prst="downArrow">
              <a:avLst/>
            </a:prstGeom>
            <a:gradFill flip="none" rotWithShape="1">
              <a:gsLst>
                <a:gs pos="100000">
                  <a:schemeClr val="accent2">
                    <a:lumMod val="40000"/>
                    <a:lumOff val="60000"/>
                  </a:schemeClr>
                </a:gs>
                <a:gs pos="0">
                  <a:schemeClr val="accent2">
                    <a:lumMod val="5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solidFill>
                <a:schemeClr val="accent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500" dirty="0"/>
            </a:p>
          </p:txBody>
        </p:sp>
        <p:sp>
          <p:nvSpPr>
            <p:cNvPr id="121" name="CaixaDeTexto 120">
              <a:extLst>
                <a:ext uri="{FF2B5EF4-FFF2-40B4-BE49-F238E27FC236}">
                  <a16:creationId xmlns:a16="http://schemas.microsoft.com/office/drawing/2014/main" xmlns="" id="{A2543738-E6E9-4E12-B3E4-3D415C6B6F95}"/>
                </a:ext>
              </a:extLst>
            </p:cNvPr>
            <p:cNvSpPr txBox="1"/>
            <p:nvPr/>
          </p:nvSpPr>
          <p:spPr>
            <a:xfrm>
              <a:off x="1123127" y="2167688"/>
              <a:ext cx="1385316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300" b="1" dirty="0" err="1"/>
                <a:t>Producers</a:t>
              </a:r>
              <a:endParaRPr lang="pt-BR" sz="2300" b="1" dirty="0"/>
            </a:p>
          </p:txBody>
        </p:sp>
        <p:sp>
          <p:nvSpPr>
            <p:cNvPr id="122" name="CaixaDeTexto 121">
              <a:extLst>
                <a:ext uri="{FF2B5EF4-FFF2-40B4-BE49-F238E27FC236}">
                  <a16:creationId xmlns:a16="http://schemas.microsoft.com/office/drawing/2014/main" xmlns="" id="{41F7938C-AD94-4854-8CFA-B5C77AAD5770}"/>
                </a:ext>
              </a:extLst>
            </p:cNvPr>
            <p:cNvSpPr txBox="1"/>
            <p:nvPr/>
          </p:nvSpPr>
          <p:spPr>
            <a:xfrm>
              <a:off x="5680702" y="2167688"/>
              <a:ext cx="1548822" cy="446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300" b="1" dirty="0" err="1"/>
                <a:t>Consumers</a:t>
              </a:r>
              <a:endParaRPr lang="pt-BR" sz="2300" b="1" dirty="0"/>
            </a:p>
          </p:txBody>
        </p:sp>
      </p:grpSp>
      <p:sp>
        <p:nvSpPr>
          <p:cNvPr id="195" name="Retângulo 194">
            <a:extLst>
              <a:ext uri="{FF2B5EF4-FFF2-40B4-BE49-F238E27FC236}">
                <a16:creationId xmlns:a16="http://schemas.microsoft.com/office/drawing/2014/main" xmlns="" id="{BC254474-42CB-44BB-AC64-A86DBE29E398}"/>
              </a:ext>
            </a:extLst>
          </p:cNvPr>
          <p:cNvSpPr/>
          <p:nvPr/>
        </p:nvSpPr>
        <p:spPr>
          <a:xfrm>
            <a:off x="7414313" y="4000096"/>
            <a:ext cx="985057" cy="1882559"/>
          </a:xfrm>
          <a:prstGeom prst="rect">
            <a:avLst/>
          </a:prstGeom>
          <a:solidFill>
            <a:schemeClr val="bg2">
              <a:lumMod val="50000"/>
            </a:schemeClr>
          </a:solidFill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500" dirty="0"/>
          </a:p>
        </p:txBody>
      </p:sp>
      <p:sp>
        <p:nvSpPr>
          <p:cNvPr id="196" name="CaixaDeTexto 195">
            <a:extLst>
              <a:ext uri="{FF2B5EF4-FFF2-40B4-BE49-F238E27FC236}">
                <a16:creationId xmlns:a16="http://schemas.microsoft.com/office/drawing/2014/main" xmlns="" id="{260B7C88-7055-4729-B965-731288D88AB8}"/>
              </a:ext>
            </a:extLst>
          </p:cNvPr>
          <p:cNvSpPr txBox="1"/>
          <p:nvPr/>
        </p:nvSpPr>
        <p:spPr>
          <a:xfrm>
            <a:off x="7555497" y="4151475"/>
            <a:ext cx="7717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500" b="1" dirty="0" err="1"/>
              <a:t>Kudu</a:t>
            </a:r>
            <a:endParaRPr lang="pt-BR" sz="1500" b="1" dirty="0"/>
          </a:p>
        </p:txBody>
      </p:sp>
      <p:pic>
        <p:nvPicPr>
          <p:cNvPr id="197" name="Gráfico 196" descr="Banco de dados">
            <a:extLst>
              <a:ext uri="{FF2B5EF4-FFF2-40B4-BE49-F238E27FC236}">
                <a16:creationId xmlns:a16="http://schemas.microsoft.com/office/drawing/2014/main" xmlns="" id="{D8F9C783-BA1D-498B-A9F6-FE882289D3E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7515638" y="4642555"/>
            <a:ext cx="764056" cy="764056"/>
          </a:xfrm>
          <a:prstGeom prst="rect">
            <a:avLst/>
          </a:prstGeom>
        </p:spPr>
      </p:pic>
      <p:grpSp>
        <p:nvGrpSpPr>
          <p:cNvPr id="31" name="Agrupar 30">
            <a:extLst>
              <a:ext uri="{FF2B5EF4-FFF2-40B4-BE49-F238E27FC236}">
                <a16:creationId xmlns:a16="http://schemas.microsoft.com/office/drawing/2014/main" xmlns="" id="{1D477338-31A1-470B-B390-D90EBF8E3BC6}"/>
              </a:ext>
            </a:extLst>
          </p:cNvPr>
          <p:cNvGrpSpPr/>
          <p:nvPr/>
        </p:nvGrpSpPr>
        <p:grpSpPr>
          <a:xfrm>
            <a:off x="588519" y="2199855"/>
            <a:ext cx="6616551" cy="3676975"/>
            <a:chOff x="950469" y="1828380"/>
            <a:chExt cx="6616551" cy="3676975"/>
          </a:xfrm>
        </p:grpSpPr>
        <p:grpSp>
          <p:nvGrpSpPr>
            <p:cNvPr id="95" name="Agrupar 94">
              <a:extLst>
                <a:ext uri="{FF2B5EF4-FFF2-40B4-BE49-F238E27FC236}">
                  <a16:creationId xmlns:a16="http://schemas.microsoft.com/office/drawing/2014/main" xmlns="" id="{89420585-8EB4-4502-8CC2-460381DA5684}"/>
                </a:ext>
              </a:extLst>
            </p:cNvPr>
            <p:cNvGrpSpPr/>
            <p:nvPr/>
          </p:nvGrpSpPr>
          <p:grpSpPr>
            <a:xfrm>
              <a:off x="950469" y="2152935"/>
              <a:ext cx="6616551" cy="3352420"/>
              <a:chOff x="950474" y="2152940"/>
              <a:chExt cx="6616551" cy="3352420"/>
            </a:xfrm>
          </p:grpSpPr>
          <p:sp>
            <p:nvSpPr>
              <p:cNvPr id="98" name="Retângulo 97">
                <a:extLst>
                  <a:ext uri="{FF2B5EF4-FFF2-40B4-BE49-F238E27FC236}">
                    <a16:creationId xmlns:a16="http://schemas.microsoft.com/office/drawing/2014/main" xmlns="" id="{35975002-7D76-4955-8159-0E6F1058FF1A}"/>
                  </a:ext>
                </a:extLst>
              </p:cNvPr>
              <p:cNvSpPr/>
              <p:nvPr/>
            </p:nvSpPr>
            <p:spPr>
              <a:xfrm>
                <a:off x="5477846" y="2190746"/>
                <a:ext cx="1966983" cy="33146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571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/>
                <a:endParaRPr lang="pt-BR" sz="1500" dirty="0"/>
              </a:p>
            </p:txBody>
          </p:sp>
          <p:sp>
            <p:nvSpPr>
              <p:cNvPr id="99" name="Retângulo 98">
                <a:extLst>
                  <a:ext uri="{FF2B5EF4-FFF2-40B4-BE49-F238E27FC236}">
                    <a16:creationId xmlns:a16="http://schemas.microsoft.com/office/drawing/2014/main" xmlns="" id="{9BE0ADA4-0C33-4A4B-A895-90C9213FB5B2}"/>
                  </a:ext>
                </a:extLst>
              </p:cNvPr>
              <p:cNvSpPr/>
              <p:nvPr/>
            </p:nvSpPr>
            <p:spPr>
              <a:xfrm>
                <a:off x="950474" y="2190746"/>
                <a:ext cx="1730621" cy="3314614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 w="571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/>
                <a:endParaRPr lang="pt-BR" sz="1500" dirty="0"/>
              </a:p>
            </p:txBody>
          </p:sp>
          <p:pic>
            <p:nvPicPr>
              <p:cNvPr id="101" name="Gráfico 100" descr="Hierarquia">
                <a:extLst>
                  <a:ext uri="{FF2B5EF4-FFF2-40B4-BE49-F238E27FC236}">
                    <a16:creationId xmlns:a16="http://schemas.microsoft.com/office/drawing/2014/main" xmlns="" id="{52672552-3B31-4D77-9DDD-B807C796B8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p:blipFill>
            <p:spPr>
              <a:xfrm>
                <a:off x="3653694" y="2547981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02" name="CaixaDeTexto 101">
                <a:extLst>
                  <a:ext uri="{FF2B5EF4-FFF2-40B4-BE49-F238E27FC236}">
                    <a16:creationId xmlns:a16="http://schemas.microsoft.com/office/drawing/2014/main" xmlns="" id="{151393D0-0009-4636-9093-CA877782CF0C}"/>
                  </a:ext>
                </a:extLst>
              </p:cNvPr>
              <p:cNvSpPr txBox="1"/>
              <p:nvPr/>
            </p:nvSpPr>
            <p:spPr>
              <a:xfrm>
                <a:off x="3195804" y="2167688"/>
                <a:ext cx="1830181" cy="4462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BR" sz="2300" b="1" dirty="0">
                    <a:solidFill>
                      <a:schemeClr val="accent2">
                        <a:lumMod val="75000"/>
                      </a:schemeClr>
                    </a:solidFill>
                  </a:rPr>
                  <a:t>Cluster Kafka</a:t>
                </a:r>
              </a:p>
            </p:txBody>
          </p:sp>
          <p:grpSp>
            <p:nvGrpSpPr>
              <p:cNvPr id="103" name="Agrupar 102">
                <a:extLst>
                  <a:ext uri="{FF2B5EF4-FFF2-40B4-BE49-F238E27FC236}">
                    <a16:creationId xmlns:a16="http://schemas.microsoft.com/office/drawing/2014/main" xmlns="" id="{01BC6553-A9E2-4ED2-81CD-2D4D3BE08B3B}"/>
                  </a:ext>
                </a:extLst>
              </p:cNvPr>
              <p:cNvGrpSpPr/>
              <p:nvPr/>
            </p:nvGrpSpPr>
            <p:grpSpPr>
              <a:xfrm>
                <a:off x="4788025" y="3628622"/>
                <a:ext cx="1079410" cy="914400"/>
                <a:chOff x="3450809" y="3766824"/>
                <a:chExt cx="1079410" cy="914400"/>
              </a:xfrm>
            </p:grpSpPr>
            <p:pic>
              <p:nvPicPr>
                <p:cNvPr id="187" name="Gráfico 186" descr="Seta: curva ligeira">
                  <a:extLst>
                    <a:ext uri="{FF2B5EF4-FFF2-40B4-BE49-F238E27FC236}">
                      <a16:creationId xmlns:a16="http://schemas.microsoft.com/office/drawing/2014/main" xmlns="" id="{7312C0A5-440C-407E-A6D9-BF5FCFD5AD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xmlns="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50809" y="3766824"/>
                  <a:ext cx="1079410" cy="914400"/>
                </a:xfrm>
                <a:prstGeom prst="rect">
                  <a:avLst/>
                </a:prstGeom>
              </p:spPr>
            </p:pic>
            <p:grpSp>
              <p:nvGrpSpPr>
                <p:cNvPr id="188" name="Agrupar 187">
                  <a:extLst>
                    <a:ext uri="{FF2B5EF4-FFF2-40B4-BE49-F238E27FC236}">
                      <a16:creationId xmlns:a16="http://schemas.microsoft.com/office/drawing/2014/main" xmlns="" id="{8818FB24-19DF-444F-A638-EF9346AB2882}"/>
                    </a:ext>
                  </a:extLst>
                </p:cNvPr>
                <p:cNvGrpSpPr/>
                <p:nvPr/>
              </p:nvGrpSpPr>
              <p:grpSpPr>
                <a:xfrm>
                  <a:off x="3797459" y="3952989"/>
                  <a:ext cx="369332" cy="369332"/>
                  <a:chOff x="2121252" y="2030136"/>
                  <a:chExt cx="1425584" cy="1425583"/>
                </a:xfrm>
              </p:grpSpPr>
              <p:sp>
                <p:nvSpPr>
                  <p:cNvPr id="189" name="Retângulo 188">
                    <a:extLst>
                      <a:ext uri="{FF2B5EF4-FFF2-40B4-BE49-F238E27FC236}">
                        <a16:creationId xmlns:a16="http://schemas.microsoft.com/office/drawing/2014/main" xmlns="" id="{A9633A48-EB1D-4B2F-9054-08A3B9CB107D}"/>
                      </a:ext>
                    </a:extLst>
                  </p:cNvPr>
                  <p:cNvSpPr/>
                  <p:nvPr/>
                </p:nvSpPr>
                <p:spPr>
                  <a:xfrm>
                    <a:off x="2256639" y="2315361"/>
                    <a:ext cx="1148838" cy="834313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/>
                    <a:endParaRPr lang="pt-BR" sz="1500" dirty="0"/>
                  </a:p>
                </p:txBody>
              </p:sp>
              <p:pic>
                <p:nvPicPr>
                  <p:cNvPr id="190" name="Gráfico 189" descr="Envelope">
                    <a:extLst>
                      <a:ext uri="{FF2B5EF4-FFF2-40B4-BE49-F238E27FC236}">
                        <a16:creationId xmlns:a16="http://schemas.microsoft.com/office/drawing/2014/main" xmlns="" id="{13B6F270-2FDC-4D02-9794-0A1D98CDBC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xmlns="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1252" y="2030136"/>
                    <a:ext cx="1425584" cy="142558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08" name="Agrupar 107">
                <a:extLst>
                  <a:ext uri="{FF2B5EF4-FFF2-40B4-BE49-F238E27FC236}">
                    <a16:creationId xmlns:a16="http://schemas.microsoft.com/office/drawing/2014/main" xmlns="" id="{FBBAD35C-F660-4B0F-A435-50F7EFFE9417}"/>
                  </a:ext>
                </a:extLst>
              </p:cNvPr>
              <p:cNvGrpSpPr/>
              <p:nvPr/>
            </p:nvGrpSpPr>
            <p:grpSpPr>
              <a:xfrm>
                <a:off x="1222512" y="2733671"/>
                <a:ext cx="1186544" cy="2771688"/>
                <a:chOff x="2775735" y="2831671"/>
                <a:chExt cx="1260882" cy="2945336"/>
              </a:xfrm>
            </p:grpSpPr>
            <p:grpSp>
              <p:nvGrpSpPr>
                <p:cNvPr id="178" name="Agrupar 177">
                  <a:extLst>
                    <a:ext uri="{FF2B5EF4-FFF2-40B4-BE49-F238E27FC236}">
                      <a16:creationId xmlns:a16="http://schemas.microsoft.com/office/drawing/2014/main" xmlns="" id="{120D9E39-D672-4678-B324-504EFEFBD73F}"/>
                    </a:ext>
                  </a:extLst>
                </p:cNvPr>
                <p:cNvGrpSpPr/>
                <p:nvPr/>
              </p:nvGrpSpPr>
              <p:grpSpPr>
                <a:xfrm>
                  <a:off x="2775736" y="3768741"/>
                  <a:ext cx="1260881" cy="1071195"/>
                  <a:chOff x="491771" y="3059668"/>
                  <a:chExt cx="1260881" cy="1071195"/>
                </a:xfrm>
              </p:grpSpPr>
              <p:pic>
                <p:nvPicPr>
                  <p:cNvPr id="185" name="Gráfico 184" descr="Computador">
                    <a:extLst>
                      <a:ext uri="{FF2B5EF4-FFF2-40B4-BE49-F238E27FC236}">
                        <a16:creationId xmlns:a16="http://schemas.microsoft.com/office/drawing/2014/main" xmlns="" id="{0D336667-4E88-4A64-AFC0-12EFDDB1B8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xmlns="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5006" y="3216463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186" name="CaixaDeTexto 185">
                    <a:extLst>
                      <a:ext uri="{FF2B5EF4-FFF2-40B4-BE49-F238E27FC236}">
                        <a16:creationId xmlns:a16="http://schemas.microsoft.com/office/drawing/2014/main" xmlns="" id="{94F1B60E-4679-42DD-BB15-70E99EF1B9D5}"/>
                      </a:ext>
                    </a:extLst>
                  </p:cNvPr>
                  <p:cNvSpPr txBox="1"/>
                  <p:nvPr/>
                </p:nvSpPr>
                <p:spPr>
                  <a:xfrm>
                    <a:off x="491771" y="3059668"/>
                    <a:ext cx="1260881" cy="39247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pt-BR" dirty="0"/>
                      <a:t>Máquina 2</a:t>
                    </a:r>
                  </a:p>
                </p:txBody>
              </p:sp>
            </p:grpSp>
            <p:grpSp>
              <p:nvGrpSpPr>
                <p:cNvPr id="179" name="Agrupar 178">
                  <a:extLst>
                    <a:ext uri="{FF2B5EF4-FFF2-40B4-BE49-F238E27FC236}">
                      <a16:creationId xmlns:a16="http://schemas.microsoft.com/office/drawing/2014/main" xmlns="" id="{E95E408A-7A3B-4D8B-B4C3-CE6CBCF24C88}"/>
                    </a:ext>
                  </a:extLst>
                </p:cNvPr>
                <p:cNvGrpSpPr/>
                <p:nvPr/>
              </p:nvGrpSpPr>
              <p:grpSpPr>
                <a:xfrm>
                  <a:off x="2789361" y="4705812"/>
                  <a:ext cx="1233626" cy="1071195"/>
                  <a:chOff x="505396" y="3059668"/>
                  <a:chExt cx="1233626" cy="1071195"/>
                </a:xfrm>
              </p:grpSpPr>
              <p:pic>
                <p:nvPicPr>
                  <p:cNvPr id="183" name="Gráfico 182" descr="Computador">
                    <a:extLst>
                      <a:ext uri="{FF2B5EF4-FFF2-40B4-BE49-F238E27FC236}">
                        <a16:creationId xmlns:a16="http://schemas.microsoft.com/office/drawing/2014/main" xmlns="" id="{CE7C7694-38DB-46D0-909D-22DE577475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xmlns="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5006" y="3216463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184" name="CaixaDeTexto 183">
                    <a:extLst>
                      <a:ext uri="{FF2B5EF4-FFF2-40B4-BE49-F238E27FC236}">
                        <a16:creationId xmlns:a16="http://schemas.microsoft.com/office/drawing/2014/main" xmlns="" id="{C4CD0998-17F4-49BB-BDC0-740DAF500BCA}"/>
                      </a:ext>
                    </a:extLst>
                  </p:cNvPr>
                  <p:cNvSpPr txBox="1"/>
                  <p:nvPr/>
                </p:nvSpPr>
                <p:spPr>
                  <a:xfrm>
                    <a:off x="505396" y="3059668"/>
                    <a:ext cx="1233626" cy="39247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pt-BR" dirty="0"/>
                      <a:t>Máquina n</a:t>
                    </a:r>
                  </a:p>
                </p:txBody>
              </p:sp>
            </p:grpSp>
            <p:grpSp>
              <p:nvGrpSpPr>
                <p:cNvPr id="180" name="Agrupar 179">
                  <a:extLst>
                    <a:ext uri="{FF2B5EF4-FFF2-40B4-BE49-F238E27FC236}">
                      <a16:creationId xmlns:a16="http://schemas.microsoft.com/office/drawing/2014/main" xmlns="" id="{CE6D1039-1D41-4704-9F94-DA1981904435}"/>
                    </a:ext>
                  </a:extLst>
                </p:cNvPr>
                <p:cNvGrpSpPr/>
                <p:nvPr/>
              </p:nvGrpSpPr>
              <p:grpSpPr>
                <a:xfrm>
                  <a:off x="2775735" y="2831671"/>
                  <a:ext cx="1260881" cy="1071195"/>
                  <a:chOff x="491770" y="3059668"/>
                  <a:chExt cx="1260881" cy="1071195"/>
                </a:xfrm>
              </p:grpSpPr>
              <p:pic>
                <p:nvPicPr>
                  <p:cNvPr id="181" name="Gráfico 180" descr="Computador">
                    <a:extLst>
                      <a:ext uri="{FF2B5EF4-FFF2-40B4-BE49-F238E27FC236}">
                        <a16:creationId xmlns:a16="http://schemas.microsoft.com/office/drawing/2014/main" xmlns="" id="{8067A9AF-0F06-45EC-B7BC-33EB309FB45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xmlns="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5006" y="3216463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182" name="CaixaDeTexto 181">
                    <a:extLst>
                      <a:ext uri="{FF2B5EF4-FFF2-40B4-BE49-F238E27FC236}">
                        <a16:creationId xmlns:a16="http://schemas.microsoft.com/office/drawing/2014/main" xmlns="" id="{5C77B010-870F-4714-AAB7-B93994224B55}"/>
                      </a:ext>
                    </a:extLst>
                  </p:cNvPr>
                  <p:cNvSpPr txBox="1"/>
                  <p:nvPr/>
                </p:nvSpPr>
                <p:spPr>
                  <a:xfrm>
                    <a:off x="491770" y="3059668"/>
                    <a:ext cx="1260881" cy="39247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pt-BR" dirty="0"/>
                      <a:t>Máquina 1</a:t>
                    </a:r>
                  </a:p>
                </p:txBody>
              </p:sp>
            </p:grpSp>
          </p:grpSp>
          <p:grpSp>
            <p:nvGrpSpPr>
              <p:cNvPr id="125" name="Agrupar 124">
                <a:extLst>
                  <a:ext uri="{FF2B5EF4-FFF2-40B4-BE49-F238E27FC236}">
                    <a16:creationId xmlns:a16="http://schemas.microsoft.com/office/drawing/2014/main" xmlns="" id="{A6C2EA62-193D-4810-83DE-C7F9B69E58AE}"/>
                  </a:ext>
                </a:extLst>
              </p:cNvPr>
              <p:cNvGrpSpPr/>
              <p:nvPr/>
            </p:nvGrpSpPr>
            <p:grpSpPr>
              <a:xfrm>
                <a:off x="6024863" y="2733671"/>
                <a:ext cx="860489" cy="2771688"/>
                <a:chOff x="7559138" y="2829754"/>
                <a:chExt cx="914400" cy="2945336"/>
              </a:xfrm>
            </p:grpSpPr>
            <p:grpSp>
              <p:nvGrpSpPr>
                <p:cNvPr id="169" name="Agrupar 168">
                  <a:extLst>
                    <a:ext uri="{FF2B5EF4-FFF2-40B4-BE49-F238E27FC236}">
                      <a16:creationId xmlns:a16="http://schemas.microsoft.com/office/drawing/2014/main" xmlns="" id="{11E6BD0C-8C85-4BE9-ADD7-3E8ADD1CBDD3}"/>
                    </a:ext>
                  </a:extLst>
                </p:cNvPr>
                <p:cNvGrpSpPr/>
                <p:nvPr/>
              </p:nvGrpSpPr>
              <p:grpSpPr>
                <a:xfrm>
                  <a:off x="7559138" y="3766824"/>
                  <a:ext cx="914400" cy="1071195"/>
                  <a:chOff x="665006" y="3059668"/>
                  <a:chExt cx="914400" cy="1071195"/>
                </a:xfrm>
              </p:grpSpPr>
              <p:pic>
                <p:nvPicPr>
                  <p:cNvPr id="176" name="Gráfico 175" descr="Computador">
                    <a:extLst>
                      <a:ext uri="{FF2B5EF4-FFF2-40B4-BE49-F238E27FC236}">
                        <a16:creationId xmlns:a16="http://schemas.microsoft.com/office/drawing/2014/main" xmlns="" id="{F66B8F6E-BBD5-402C-AF60-55040F57472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xmlns="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5006" y="3216463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177" name="CaixaDeTexto 176">
                    <a:extLst>
                      <a:ext uri="{FF2B5EF4-FFF2-40B4-BE49-F238E27FC236}">
                        <a16:creationId xmlns:a16="http://schemas.microsoft.com/office/drawing/2014/main" xmlns="" id="{B3DC0DC5-244B-43C4-B3FF-14241C445CAE}"/>
                      </a:ext>
                    </a:extLst>
                  </p:cNvPr>
                  <p:cNvSpPr txBox="1"/>
                  <p:nvPr/>
                </p:nvSpPr>
                <p:spPr>
                  <a:xfrm>
                    <a:off x="788504" y="3059668"/>
                    <a:ext cx="667406" cy="39247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pt-BR" dirty="0" err="1"/>
                      <a:t>JobB</a:t>
                    </a:r>
                    <a:endParaRPr lang="pt-BR" dirty="0"/>
                  </a:p>
                </p:txBody>
              </p:sp>
            </p:grpSp>
            <p:grpSp>
              <p:nvGrpSpPr>
                <p:cNvPr id="170" name="Agrupar 169">
                  <a:extLst>
                    <a:ext uri="{FF2B5EF4-FFF2-40B4-BE49-F238E27FC236}">
                      <a16:creationId xmlns:a16="http://schemas.microsoft.com/office/drawing/2014/main" xmlns="" id="{C49B1FF5-D58F-4601-B89D-F2127831D917}"/>
                    </a:ext>
                  </a:extLst>
                </p:cNvPr>
                <p:cNvGrpSpPr/>
                <p:nvPr/>
              </p:nvGrpSpPr>
              <p:grpSpPr>
                <a:xfrm>
                  <a:off x="7559138" y="4703895"/>
                  <a:ext cx="914400" cy="1071195"/>
                  <a:chOff x="665006" y="3059668"/>
                  <a:chExt cx="914400" cy="1071195"/>
                </a:xfrm>
              </p:grpSpPr>
              <p:pic>
                <p:nvPicPr>
                  <p:cNvPr id="174" name="Gráfico 173" descr="Computador">
                    <a:extLst>
                      <a:ext uri="{FF2B5EF4-FFF2-40B4-BE49-F238E27FC236}">
                        <a16:creationId xmlns:a16="http://schemas.microsoft.com/office/drawing/2014/main" xmlns="" id="{823C89B6-0753-44FC-8EC5-E3ABB7ADDE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xmlns="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5006" y="3216463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175" name="CaixaDeTexto 174">
                    <a:extLst>
                      <a:ext uri="{FF2B5EF4-FFF2-40B4-BE49-F238E27FC236}">
                        <a16:creationId xmlns:a16="http://schemas.microsoft.com/office/drawing/2014/main" xmlns="" id="{BEA63CDA-0F88-42B9-80E4-9B0B108190BD}"/>
                      </a:ext>
                    </a:extLst>
                  </p:cNvPr>
                  <p:cNvSpPr txBox="1"/>
                  <p:nvPr/>
                </p:nvSpPr>
                <p:spPr>
                  <a:xfrm>
                    <a:off x="775728" y="3059668"/>
                    <a:ext cx="692958" cy="68682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pt-BR" dirty="0" err="1"/>
                      <a:t>JobC</a:t>
                    </a:r>
                    <a:endParaRPr lang="pt-BR" dirty="0"/>
                  </a:p>
                  <a:p>
                    <a:pPr algn="r"/>
                    <a:endParaRPr lang="pt-BR" dirty="0"/>
                  </a:p>
                </p:txBody>
              </p:sp>
            </p:grpSp>
            <p:grpSp>
              <p:nvGrpSpPr>
                <p:cNvPr id="171" name="Agrupar 170">
                  <a:extLst>
                    <a:ext uri="{FF2B5EF4-FFF2-40B4-BE49-F238E27FC236}">
                      <a16:creationId xmlns:a16="http://schemas.microsoft.com/office/drawing/2014/main" xmlns="" id="{B369066C-4A75-4DAD-BFCA-80388FD84CB6}"/>
                    </a:ext>
                  </a:extLst>
                </p:cNvPr>
                <p:cNvGrpSpPr/>
                <p:nvPr/>
              </p:nvGrpSpPr>
              <p:grpSpPr>
                <a:xfrm>
                  <a:off x="7559138" y="2829754"/>
                  <a:ext cx="914400" cy="1071195"/>
                  <a:chOff x="665006" y="3059668"/>
                  <a:chExt cx="914400" cy="1071195"/>
                </a:xfrm>
              </p:grpSpPr>
              <p:pic>
                <p:nvPicPr>
                  <p:cNvPr id="172" name="Gráfico 171" descr="Computador">
                    <a:extLst>
                      <a:ext uri="{FF2B5EF4-FFF2-40B4-BE49-F238E27FC236}">
                        <a16:creationId xmlns:a16="http://schemas.microsoft.com/office/drawing/2014/main" xmlns="" id="{8F249FD0-73B6-4E79-8668-1CF5FCD3486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xmlns="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5006" y="3216463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173" name="CaixaDeTexto 172">
                    <a:extLst>
                      <a:ext uri="{FF2B5EF4-FFF2-40B4-BE49-F238E27FC236}">
                        <a16:creationId xmlns:a16="http://schemas.microsoft.com/office/drawing/2014/main" xmlns="" id="{75B44051-F75D-455A-BCC6-242E89C0D610}"/>
                      </a:ext>
                    </a:extLst>
                  </p:cNvPr>
                  <p:cNvSpPr txBox="1"/>
                  <p:nvPr/>
                </p:nvSpPr>
                <p:spPr>
                  <a:xfrm>
                    <a:off x="775729" y="3059668"/>
                    <a:ext cx="692958" cy="39247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pt-BR" dirty="0" err="1"/>
                      <a:t>JobA</a:t>
                    </a:r>
                    <a:endParaRPr lang="pt-BR" dirty="0"/>
                  </a:p>
                </p:txBody>
              </p:sp>
            </p:grpSp>
          </p:grpSp>
          <p:grpSp>
            <p:nvGrpSpPr>
              <p:cNvPr id="129" name="Agrupar 128">
                <a:extLst>
                  <a:ext uri="{FF2B5EF4-FFF2-40B4-BE49-F238E27FC236}">
                    <a16:creationId xmlns:a16="http://schemas.microsoft.com/office/drawing/2014/main" xmlns="" id="{8B8970FE-8CD0-4B7D-957B-A935675F46E2}"/>
                  </a:ext>
                </a:extLst>
              </p:cNvPr>
              <p:cNvGrpSpPr/>
              <p:nvPr/>
            </p:nvGrpSpPr>
            <p:grpSpPr>
              <a:xfrm rot="1181874">
                <a:off x="4788025" y="4139140"/>
                <a:ext cx="1079410" cy="914400"/>
                <a:chOff x="3450809" y="3766824"/>
                <a:chExt cx="1079410" cy="914400"/>
              </a:xfrm>
            </p:grpSpPr>
            <p:pic>
              <p:nvPicPr>
                <p:cNvPr id="165" name="Gráfico 164" descr="Seta: curva ligeira">
                  <a:extLst>
                    <a:ext uri="{FF2B5EF4-FFF2-40B4-BE49-F238E27FC236}">
                      <a16:creationId xmlns:a16="http://schemas.microsoft.com/office/drawing/2014/main" xmlns="" id="{13B1E7B7-1077-49FC-88B0-DD572FECBF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xmlns="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50809" y="3766824"/>
                  <a:ext cx="1079410" cy="914400"/>
                </a:xfrm>
                <a:prstGeom prst="rect">
                  <a:avLst/>
                </a:prstGeom>
              </p:spPr>
            </p:pic>
            <p:grpSp>
              <p:nvGrpSpPr>
                <p:cNvPr id="166" name="Agrupar 165">
                  <a:extLst>
                    <a:ext uri="{FF2B5EF4-FFF2-40B4-BE49-F238E27FC236}">
                      <a16:creationId xmlns:a16="http://schemas.microsoft.com/office/drawing/2014/main" xmlns="" id="{B7B68AB4-1B20-4B04-B9AC-1CA9A102BFA0}"/>
                    </a:ext>
                  </a:extLst>
                </p:cNvPr>
                <p:cNvGrpSpPr/>
                <p:nvPr/>
              </p:nvGrpSpPr>
              <p:grpSpPr>
                <a:xfrm>
                  <a:off x="3797459" y="3952989"/>
                  <a:ext cx="369332" cy="369332"/>
                  <a:chOff x="2121252" y="2030136"/>
                  <a:chExt cx="1425584" cy="1425583"/>
                </a:xfrm>
              </p:grpSpPr>
              <p:sp>
                <p:nvSpPr>
                  <p:cNvPr id="167" name="Retângulo 166">
                    <a:extLst>
                      <a:ext uri="{FF2B5EF4-FFF2-40B4-BE49-F238E27FC236}">
                        <a16:creationId xmlns:a16="http://schemas.microsoft.com/office/drawing/2014/main" xmlns="" id="{5B769556-DD04-4F9D-B40F-841B84CA7EFB}"/>
                      </a:ext>
                    </a:extLst>
                  </p:cNvPr>
                  <p:cNvSpPr/>
                  <p:nvPr/>
                </p:nvSpPr>
                <p:spPr>
                  <a:xfrm>
                    <a:off x="2256639" y="2315361"/>
                    <a:ext cx="1148838" cy="834313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/>
                    <a:endParaRPr lang="pt-BR" sz="1500" dirty="0"/>
                  </a:p>
                </p:txBody>
              </p:sp>
              <p:pic>
                <p:nvPicPr>
                  <p:cNvPr id="168" name="Gráfico 167" descr="Envelope">
                    <a:extLst>
                      <a:ext uri="{FF2B5EF4-FFF2-40B4-BE49-F238E27FC236}">
                        <a16:creationId xmlns:a16="http://schemas.microsoft.com/office/drawing/2014/main" xmlns="" id="{3047A41C-9702-4177-90D0-A011D6D0407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xmlns="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1252" y="2030136"/>
                    <a:ext cx="1425584" cy="142558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30" name="Agrupar 129">
                <a:extLst>
                  <a:ext uri="{FF2B5EF4-FFF2-40B4-BE49-F238E27FC236}">
                    <a16:creationId xmlns:a16="http://schemas.microsoft.com/office/drawing/2014/main" xmlns="" id="{80A3589D-3B6F-4E47-8F63-3653FAD463B1}"/>
                  </a:ext>
                </a:extLst>
              </p:cNvPr>
              <p:cNvGrpSpPr/>
              <p:nvPr/>
            </p:nvGrpSpPr>
            <p:grpSpPr>
              <a:xfrm rot="20261418">
                <a:off x="4788025" y="3076588"/>
                <a:ext cx="1079410" cy="914400"/>
                <a:chOff x="3450809" y="3766824"/>
                <a:chExt cx="1079410" cy="914400"/>
              </a:xfrm>
            </p:grpSpPr>
            <p:pic>
              <p:nvPicPr>
                <p:cNvPr id="161" name="Gráfico 160" descr="Seta: curva ligeira">
                  <a:extLst>
                    <a:ext uri="{FF2B5EF4-FFF2-40B4-BE49-F238E27FC236}">
                      <a16:creationId xmlns:a16="http://schemas.microsoft.com/office/drawing/2014/main" xmlns="" id="{C090743B-3DA3-4EAD-88F5-5E73AA3D35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xmlns="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50809" y="3766824"/>
                  <a:ext cx="1079410" cy="914400"/>
                </a:xfrm>
                <a:prstGeom prst="rect">
                  <a:avLst/>
                </a:prstGeom>
              </p:spPr>
            </p:pic>
            <p:grpSp>
              <p:nvGrpSpPr>
                <p:cNvPr id="162" name="Agrupar 161">
                  <a:extLst>
                    <a:ext uri="{FF2B5EF4-FFF2-40B4-BE49-F238E27FC236}">
                      <a16:creationId xmlns:a16="http://schemas.microsoft.com/office/drawing/2014/main" xmlns="" id="{C15137BD-2C89-470C-847F-FA5247377B98}"/>
                    </a:ext>
                  </a:extLst>
                </p:cNvPr>
                <p:cNvGrpSpPr/>
                <p:nvPr/>
              </p:nvGrpSpPr>
              <p:grpSpPr>
                <a:xfrm>
                  <a:off x="3797459" y="3952989"/>
                  <a:ext cx="369332" cy="369332"/>
                  <a:chOff x="2121252" y="2030136"/>
                  <a:chExt cx="1425584" cy="1425583"/>
                </a:xfrm>
              </p:grpSpPr>
              <p:sp>
                <p:nvSpPr>
                  <p:cNvPr id="163" name="Retângulo 162">
                    <a:extLst>
                      <a:ext uri="{FF2B5EF4-FFF2-40B4-BE49-F238E27FC236}">
                        <a16:creationId xmlns:a16="http://schemas.microsoft.com/office/drawing/2014/main" xmlns="" id="{F2FAEE15-36A8-4388-B5E8-7CE80D35CBF0}"/>
                      </a:ext>
                    </a:extLst>
                  </p:cNvPr>
                  <p:cNvSpPr/>
                  <p:nvPr/>
                </p:nvSpPr>
                <p:spPr>
                  <a:xfrm>
                    <a:off x="2256639" y="2315361"/>
                    <a:ext cx="1148838" cy="834313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/>
                    <a:endParaRPr lang="pt-BR" sz="1500" dirty="0"/>
                  </a:p>
                </p:txBody>
              </p:sp>
              <p:pic>
                <p:nvPicPr>
                  <p:cNvPr id="164" name="Gráfico 163" descr="Envelope">
                    <a:extLst>
                      <a:ext uri="{FF2B5EF4-FFF2-40B4-BE49-F238E27FC236}">
                        <a16:creationId xmlns:a16="http://schemas.microsoft.com/office/drawing/2014/main" xmlns="" id="{EAC71716-93AD-476A-85E7-3A90A8573A3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xmlns="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1252" y="2030136"/>
                    <a:ext cx="1425584" cy="142558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31" name="Agrupar 130">
                <a:extLst>
                  <a:ext uri="{FF2B5EF4-FFF2-40B4-BE49-F238E27FC236}">
                    <a16:creationId xmlns:a16="http://schemas.microsoft.com/office/drawing/2014/main" xmlns="" id="{676382EC-B8EC-4613-9668-F8750E77C3C1}"/>
                  </a:ext>
                </a:extLst>
              </p:cNvPr>
              <p:cNvGrpSpPr/>
              <p:nvPr/>
            </p:nvGrpSpPr>
            <p:grpSpPr>
              <a:xfrm rot="21358998">
                <a:off x="2306279" y="3781022"/>
                <a:ext cx="1079410" cy="914400"/>
                <a:chOff x="3450809" y="3766824"/>
                <a:chExt cx="1079410" cy="914400"/>
              </a:xfrm>
            </p:grpSpPr>
            <p:pic>
              <p:nvPicPr>
                <p:cNvPr id="157" name="Gráfico 156" descr="Seta: curva ligeira">
                  <a:extLst>
                    <a:ext uri="{FF2B5EF4-FFF2-40B4-BE49-F238E27FC236}">
                      <a16:creationId xmlns:a16="http://schemas.microsoft.com/office/drawing/2014/main" xmlns="" id="{1786B11D-559E-44F2-853D-74FEA11F5A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xmlns="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50809" y="3766824"/>
                  <a:ext cx="1079410" cy="914400"/>
                </a:xfrm>
                <a:prstGeom prst="rect">
                  <a:avLst/>
                </a:prstGeom>
              </p:spPr>
            </p:pic>
            <p:grpSp>
              <p:nvGrpSpPr>
                <p:cNvPr id="158" name="Agrupar 157">
                  <a:extLst>
                    <a:ext uri="{FF2B5EF4-FFF2-40B4-BE49-F238E27FC236}">
                      <a16:creationId xmlns:a16="http://schemas.microsoft.com/office/drawing/2014/main" xmlns="" id="{F0D7DA7F-A4CD-439F-945B-5212B595E91E}"/>
                    </a:ext>
                  </a:extLst>
                </p:cNvPr>
                <p:cNvGrpSpPr/>
                <p:nvPr/>
              </p:nvGrpSpPr>
              <p:grpSpPr>
                <a:xfrm>
                  <a:off x="3797459" y="3952989"/>
                  <a:ext cx="369332" cy="369332"/>
                  <a:chOff x="2121252" y="2030136"/>
                  <a:chExt cx="1425584" cy="1425583"/>
                </a:xfrm>
              </p:grpSpPr>
              <p:sp>
                <p:nvSpPr>
                  <p:cNvPr id="159" name="Retângulo 158">
                    <a:extLst>
                      <a:ext uri="{FF2B5EF4-FFF2-40B4-BE49-F238E27FC236}">
                        <a16:creationId xmlns:a16="http://schemas.microsoft.com/office/drawing/2014/main" xmlns="" id="{B35ECEF5-B644-4079-9CD5-0EC481F714D8}"/>
                      </a:ext>
                    </a:extLst>
                  </p:cNvPr>
                  <p:cNvSpPr/>
                  <p:nvPr/>
                </p:nvSpPr>
                <p:spPr>
                  <a:xfrm>
                    <a:off x="2256639" y="2315361"/>
                    <a:ext cx="1148838" cy="834313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/>
                    <a:endParaRPr lang="pt-BR" sz="1500" dirty="0"/>
                  </a:p>
                </p:txBody>
              </p:sp>
              <p:pic>
                <p:nvPicPr>
                  <p:cNvPr id="160" name="Gráfico 159" descr="Envelope">
                    <a:extLst>
                      <a:ext uri="{FF2B5EF4-FFF2-40B4-BE49-F238E27FC236}">
                        <a16:creationId xmlns:a16="http://schemas.microsoft.com/office/drawing/2014/main" xmlns="" id="{7759CD6B-2BC8-4351-9CA5-B0BEEA89DE4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xmlns="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1252" y="2030136"/>
                    <a:ext cx="1425584" cy="142558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32" name="Agrupar 131">
                <a:extLst>
                  <a:ext uri="{FF2B5EF4-FFF2-40B4-BE49-F238E27FC236}">
                    <a16:creationId xmlns:a16="http://schemas.microsoft.com/office/drawing/2014/main" xmlns="" id="{1810DE44-D4BE-4CB2-AF08-765282D40D85}"/>
                  </a:ext>
                </a:extLst>
              </p:cNvPr>
              <p:cNvGrpSpPr/>
              <p:nvPr/>
            </p:nvGrpSpPr>
            <p:grpSpPr>
              <a:xfrm rot="20352240">
                <a:off x="2306279" y="4291540"/>
                <a:ext cx="1079410" cy="914400"/>
                <a:chOff x="3450809" y="3766824"/>
                <a:chExt cx="1079410" cy="914400"/>
              </a:xfrm>
            </p:grpSpPr>
            <p:pic>
              <p:nvPicPr>
                <p:cNvPr id="153" name="Gráfico 152" descr="Seta: curva ligeira">
                  <a:extLst>
                    <a:ext uri="{FF2B5EF4-FFF2-40B4-BE49-F238E27FC236}">
                      <a16:creationId xmlns:a16="http://schemas.microsoft.com/office/drawing/2014/main" xmlns="" id="{DE751F51-382C-43D4-93F1-94687504ED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xmlns="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50809" y="3766824"/>
                  <a:ext cx="1079410" cy="914400"/>
                </a:xfrm>
                <a:prstGeom prst="rect">
                  <a:avLst/>
                </a:prstGeom>
              </p:spPr>
            </p:pic>
            <p:grpSp>
              <p:nvGrpSpPr>
                <p:cNvPr id="154" name="Agrupar 153">
                  <a:extLst>
                    <a:ext uri="{FF2B5EF4-FFF2-40B4-BE49-F238E27FC236}">
                      <a16:creationId xmlns:a16="http://schemas.microsoft.com/office/drawing/2014/main" xmlns="" id="{E5314107-AA98-4FA9-99B3-374CB49DF54B}"/>
                    </a:ext>
                  </a:extLst>
                </p:cNvPr>
                <p:cNvGrpSpPr/>
                <p:nvPr/>
              </p:nvGrpSpPr>
              <p:grpSpPr>
                <a:xfrm>
                  <a:off x="3797459" y="3952989"/>
                  <a:ext cx="369332" cy="369332"/>
                  <a:chOff x="2121252" y="2030136"/>
                  <a:chExt cx="1425584" cy="1425583"/>
                </a:xfrm>
              </p:grpSpPr>
              <p:sp>
                <p:nvSpPr>
                  <p:cNvPr id="155" name="Retângulo 154">
                    <a:extLst>
                      <a:ext uri="{FF2B5EF4-FFF2-40B4-BE49-F238E27FC236}">
                        <a16:creationId xmlns:a16="http://schemas.microsoft.com/office/drawing/2014/main" xmlns="" id="{995594C1-16A1-4638-B2CC-B206D96F4ABD}"/>
                      </a:ext>
                    </a:extLst>
                  </p:cNvPr>
                  <p:cNvSpPr/>
                  <p:nvPr/>
                </p:nvSpPr>
                <p:spPr>
                  <a:xfrm>
                    <a:off x="2256639" y="2315361"/>
                    <a:ext cx="1148838" cy="834313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/>
                    <a:endParaRPr lang="pt-BR" sz="1500" dirty="0"/>
                  </a:p>
                </p:txBody>
              </p:sp>
              <p:pic>
                <p:nvPicPr>
                  <p:cNvPr id="156" name="Gráfico 155" descr="Envelope">
                    <a:extLst>
                      <a:ext uri="{FF2B5EF4-FFF2-40B4-BE49-F238E27FC236}">
                        <a16:creationId xmlns:a16="http://schemas.microsoft.com/office/drawing/2014/main" xmlns="" id="{38B2F611-605D-4D8F-9D37-9FA2809634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xmlns="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1252" y="2030136"/>
                    <a:ext cx="1425584" cy="142558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33" name="Agrupar 132">
                <a:extLst>
                  <a:ext uri="{FF2B5EF4-FFF2-40B4-BE49-F238E27FC236}">
                    <a16:creationId xmlns:a16="http://schemas.microsoft.com/office/drawing/2014/main" xmlns="" id="{3774E9C3-D367-490A-9C08-B2AF193B4F87}"/>
                  </a:ext>
                </a:extLst>
              </p:cNvPr>
              <p:cNvGrpSpPr/>
              <p:nvPr/>
            </p:nvGrpSpPr>
            <p:grpSpPr>
              <a:xfrm rot="851090">
                <a:off x="2306279" y="3228988"/>
                <a:ext cx="1079410" cy="914400"/>
                <a:chOff x="3450809" y="3766824"/>
                <a:chExt cx="1079410" cy="914400"/>
              </a:xfrm>
            </p:grpSpPr>
            <p:pic>
              <p:nvPicPr>
                <p:cNvPr id="149" name="Gráfico 148" descr="Seta: curva ligeira">
                  <a:extLst>
                    <a:ext uri="{FF2B5EF4-FFF2-40B4-BE49-F238E27FC236}">
                      <a16:creationId xmlns:a16="http://schemas.microsoft.com/office/drawing/2014/main" xmlns="" id="{F582A76D-B879-4168-B8D1-E0A7EBF064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xmlns="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50809" y="3766824"/>
                  <a:ext cx="1079410" cy="914400"/>
                </a:xfrm>
                <a:prstGeom prst="rect">
                  <a:avLst/>
                </a:prstGeom>
              </p:spPr>
            </p:pic>
            <p:grpSp>
              <p:nvGrpSpPr>
                <p:cNvPr id="150" name="Agrupar 149">
                  <a:extLst>
                    <a:ext uri="{FF2B5EF4-FFF2-40B4-BE49-F238E27FC236}">
                      <a16:creationId xmlns:a16="http://schemas.microsoft.com/office/drawing/2014/main" xmlns="" id="{A38FEF14-216A-4761-81EE-31AEDB9FC483}"/>
                    </a:ext>
                  </a:extLst>
                </p:cNvPr>
                <p:cNvGrpSpPr/>
                <p:nvPr/>
              </p:nvGrpSpPr>
              <p:grpSpPr>
                <a:xfrm>
                  <a:off x="3797459" y="3952989"/>
                  <a:ext cx="369332" cy="369332"/>
                  <a:chOff x="2121252" y="2030136"/>
                  <a:chExt cx="1425584" cy="1425583"/>
                </a:xfrm>
              </p:grpSpPr>
              <p:sp>
                <p:nvSpPr>
                  <p:cNvPr id="151" name="Retângulo 150">
                    <a:extLst>
                      <a:ext uri="{FF2B5EF4-FFF2-40B4-BE49-F238E27FC236}">
                        <a16:creationId xmlns:a16="http://schemas.microsoft.com/office/drawing/2014/main" xmlns="" id="{AB697174-9986-4239-BDAE-78187FB1E913}"/>
                      </a:ext>
                    </a:extLst>
                  </p:cNvPr>
                  <p:cNvSpPr/>
                  <p:nvPr/>
                </p:nvSpPr>
                <p:spPr>
                  <a:xfrm>
                    <a:off x="2256639" y="2315361"/>
                    <a:ext cx="1148838" cy="834313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/>
                    <a:endParaRPr lang="pt-BR" sz="1500" dirty="0"/>
                  </a:p>
                </p:txBody>
              </p:sp>
              <p:pic>
                <p:nvPicPr>
                  <p:cNvPr id="152" name="Gráfico 151" descr="Envelope">
                    <a:extLst>
                      <a:ext uri="{FF2B5EF4-FFF2-40B4-BE49-F238E27FC236}">
                        <a16:creationId xmlns:a16="http://schemas.microsoft.com/office/drawing/2014/main" xmlns="" id="{569ED163-838F-487D-A0A6-90BD6AD0F0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xmlns="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21252" y="2030136"/>
                    <a:ext cx="1425584" cy="142558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34" name="Agrupar 133">
                <a:extLst>
                  <a:ext uri="{FF2B5EF4-FFF2-40B4-BE49-F238E27FC236}">
                    <a16:creationId xmlns:a16="http://schemas.microsoft.com/office/drawing/2014/main" xmlns="" id="{86C449FF-7B0B-4FE2-AB7C-2CA94A93D35E}"/>
                  </a:ext>
                </a:extLst>
              </p:cNvPr>
              <p:cNvGrpSpPr/>
              <p:nvPr/>
            </p:nvGrpSpPr>
            <p:grpSpPr>
              <a:xfrm>
                <a:off x="3442595" y="3645748"/>
                <a:ext cx="1376351" cy="323165"/>
                <a:chOff x="5025771" y="3853554"/>
                <a:chExt cx="1376351" cy="323165"/>
              </a:xfrm>
            </p:grpSpPr>
            <p:sp>
              <p:nvSpPr>
                <p:cNvPr id="147" name="Cilindro 146">
                  <a:extLst>
                    <a:ext uri="{FF2B5EF4-FFF2-40B4-BE49-F238E27FC236}">
                      <a16:creationId xmlns:a16="http://schemas.microsoft.com/office/drawing/2014/main" xmlns="" id="{8255F1BA-0D97-46EE-BB94-612E6B0FCC68}"/>
                    </a:ext>
                  </a:extLst>
                </p:cNvPr>
                <p:cNvSpPr/>
                <p:nvPr/>
              </p:nvSpPr>
              <p:spPr>
                <a:xfrm rot="16200000">
                  <a:off x="5580729" y="3326962"/>
                  <a:ext cx="266435" cy="1376351"/>
                </a:xfrm>
                <a:prstGeom prst="can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pt-BR" sz="1500" dirty="0"/>
                </a:p>
              </p:txBody>
            </p:sp>
            <p:sp>
              <p:nvSpPr>
                <p:cNvPr id="148" name="CaixaDeTexto 147">
                  <a:extLst>
                    <a:ext uri="{FF2B5EF4-FFF2-40B4-BE49-F238E27FC236}">
                      <a16:creationId xmlns:a16="http://schemas.microsoft.com/office/drawing/2014/main" xmlns="" id="{D8F99888-76B9-4963-B12B-FA075255F384}"/>
                    </a:ext>
                  </a:extLst>
                </p:cNvPr>
                <p:cNvSpPr txBox="1"/>
                <p:nvPr/>
              </p:nvSpPr>
              <p:spPr>
                <a:xfrm>
                  <a:off x="5168825" y="3853554"/>
                  <a:ext cx="1168911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BR" sz="1500" dirty="0" err="1">
                      <a:solidFill>
                        <a:schemeClr val="bg1"/>
                      </a:solidFill>
                    </a:rPr>
                    <a:t>Autenticacao</a:t>
                  </a:r>
                  <a:endParaRPr lang="pt-BR" sz="15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35" name="Agrupar 134">
                <a:extLst>
                  <a:ext uri="{FF2B5EF4-FFF2-40B4-BE49-F238E27FC236}">
                    <a16:creationId xmlns:a16="http://schemas.microsoft.com/office/drawing/2014/main" xmlns="" id="{A079E39B-5AE4-446D-B4A6-80802A598FB8}"/>
                  </a:ext>
                </a:extLst>
              </p:cNvPr>
              <p:cNvGrpSpPr/>
              <p:nvPr/>
            </p:nvGrpSpPr>
            <p:grpSpPr>
              <a:xfrm>
                <a:off x="3436758" y="4142685"/>
                <a:ext cx="1376351" cy="323165"/>
                <a:chOff x="5025771" y="3853554"/>
                <a:chExt cx="1376351" cy="323165"/>
              </a:xfrm>
            </p:grpSpPr>
            <p:sp>
              <p:nvSpPr>
                <p:cNvPr id="145" name="Cilindro 144">
                  <a:extLst>
                    <a:ext uri="{FF2B5EF4-FFF2-40B4-BE49-F238E27FC236}">
                      <a16:creationId xmlns:a16="http://schemas.microsoft.com/office/drawing/2014/main" xmlns="" id="{531D03A5-097D-490E-A61F-D98BA15C71B9}"/>
                    </a:ext>
                  </a:extLst>
                </p:cNvPr>
                <p:cNvSpPr/>
                <p:nvPr/>
              </p:nvSpPr>
              <p:spPr>
                <a:xfrm rot="16200000">
                  <a:off x="5580729" y="3326962"/>
                  <a:ext cx="266435" cy="1376351"/>
                </a:xfrm>
                <a:prstGeom prst="can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endParaRPr lang="pt-BR" sz="1500" dirty="0"/>
                </a:p>
              </p:txBody>
            </p:sp>
            <p:sp>
              <p:nvSpPr>
                <p:cNvPr id="146" name="CaixaDeTexto 145">
                  <a:extLst>
                    <a:ext uri="{FF2B5EF4-FFF2-40B4-BE49-F238E27FC236}">
                      <a16:creationId xmlns:a16="http://schemas.microsoft.com/office/drawing/2014/main" xmlns="" id="{A25CA738-AF45-4486-A111-E68B87241CDF}"/>
                    </a:ext>
                  </a:extLst>
                </p:cNvPr>
                <p:cNvSpPr txBox="1"/>
                <p:nvPr/>
              </p:nvSpPr>
              <p:spPr>
                <a:xfrm>
                  <a:off x="5190466" y="3853554"/>
                  <a:ext cx="1106393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BR" sz="1500" strike="sngStrike" dirty="0" err="1">
                      <a:solidFill>
                        <a:schemeClr val="bg1"/>
                      </a:solidFill>
                    </a:rPr>
                    <a:t>Autorizacao</a:t>
                  </a:r>
                  <a:endParaRPr lang="pt-BR" sz="1500" strike="sngStrike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38" name="CaixaDeTexto 137">
                <a:extLst>
                  <a:ext uri="{FF2B5EF4-FFF2-40B4-BE49-F238E27FC236}">
                    <a16:creationId xmlns:a16="http://schemas.microsoft.com/office/drawing/2014/main" xmlns="" id="{996D0890-0812-4E2B-8F6F-577E606B9FFF}"/>
                  </a:ext>
                </a:extLst>
              </p:cNvPr>
              <p:cNvSpPr txBox="1"/>
              <p:nvPr/>
            </p:nvSpPr>
            <p:spPr>
              <a:xfrm>
                <a:off x="1348349" y="2167688"/>
                <a:ext cx="934872" cy="4462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BR" sz="2300" b="1" dirty="0" err="1"/>
                  <a:t>Gaudi</a:t>
                </a:r>
                <a:endParaRPr lang="pt-BR" sz="2300" b="1" dirty="0"/>
              </a:p>
            </p:txBody>
          </p:sp>
          <p:sp>
            <p:nvSpPr>
              <p:cNvPr id="139" name="CaixaDeTexto 138">
                <a:extLst>
                  <a:ext uri="{FF2B5EF4-FFF2-40B4-BE49-F238E27FC236}">
                    <a16:creationId xmlns:a16="http://schemas.microsoft.com/office/drawing/2014/main" xmlns="" id="{7FEB8CC4-5357-4E59-88F5-4010FE08A4D3}"/>
                  </a:ext>
                </a:extLst>
              </p:cNvPr>
              <p:cNvSpPr txBox="1"/>
              <p:nvPr/>
            </p:nvSpPr>
            <p:spPr>
              <a:xfrm>
                <a:off x="5343189" y="2152940"/>
                <a:ext cx="2223836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BR" sz="2300" b="1" dirty="0" err="1" smtClean="0"/>
                  <a:t>Spark</a:t>
                </a:r>
                <a:r>
                  <a:rPr lang="pt-BR" sz="2300" b="1" dirty="0" smtClean="0"/>
                  <a:t> Streaming</a:t>
                </a:r>
                <a:endParaRPr lang="pt-BR" sz="2300" b="1" dirty="0"/>
              </a:p>
            </p:txBody>
          </p:sp>
        </p:grpSp>
        <p:sp>
          <p:nvSpPr>
            <p:cNvPr id="237" name="CaixaDeTexto 236">
              <a:extLst>
                <a:ext uri="{FF2B5EF4-FFF2-40B4-BE49-F238E27FC236}">
                  <a16:creationId xmlns:a16="http://schemas.microsoft.com/office/drawing/2014/main" xmlns="" id="{15DD0D5C-4E33-4991-ACA9-6564D533D400}"/>
                </a:ext>
              </a:extLst>
            </p:cNvPr>
            <p:cNvSpPr txBox="1"/>
            <p:nvPr/>
          </p:nvSpPr>
          <p:spPr>
            <a:xfrm>
              <a:off x="2342269" y="1828380"/>
              <a:ext cx="105586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500" b="1" dirty="0"/>
                <a:t>LOGSTASH</a:t>
              </a:r>
            </a:p>
          </p:txBody>
        </p:sp>
        <p:cxnSp>
          <p:nvCxnSpPr>
            <p:cNvPr id="238" name="Conector de Seta Reta 237">
              <a:extLst>
                <a:ext uri="{FF2B5EF4-FFF2-40B4-BE49-F238E27FC236}">
                  <a16:creationId xmlns:a16="http://schemas.microsoft.com/office/drawing/2014/main" xmlns="" id="{C990C26A-C2D3-4828-8F5F-385C6D9A49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0914" y="2127892"/>
              <a:ext cx="25268" cy="968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xmlns="" id="{6A27B693-B9A1-4EEF-9C6D-1C9D205B5496}"/>
              </a:ext>
            </a:extLst>
          </p:cNvPr>
          <p:cNvSpPr/>
          <p:nvPr/>
        </p:nvSpPr>
        <p:spPr>
          <a:xfrm>
            <a:off x="6719021" y="4765740"/>
            <a:ext cx="790534" cy="523468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36000" rIns="36000" bIns="36000"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INSERT</a:t>
            </a:r>
          </a:p>
        </p:txBody>
      </p:sp>
      <p:grpSp>
        <p:nvGrpSpPr>
          <p:cNvPr id="295" name="Agrupar 294">
            <a:extLst>
              <a:ext uri="{FF2B5EF4-FFF2-40B4-BE49-F238E27FC236}">
                <a16:creationId xmlns:a16="http://schemas.microsoft.com/office/drawing/2014/main" xmlns="" id="{F960A3D6-CE59-426F-9D3F-699DB47DD6CA}"/>
              </a:ext>
            </a:extLst>
          </p:cNvPr>
          <p:cNvGrpSpPr/>
          <p:nvPr/>
        </p:nvGrpSpPr>
        <p:grpSpPr>
          <a:xfrm>
            <a:off x="7257190" y="2569500"/>
            <a:ext cx="2742959" cy="721163"/>
            <a:chOff x="7751044" y="2169450"/>
            <a:chExt cx="3204018" cy="721163"/>
          </a:xfrm>
        </p:grpSpPr>
        <p:sp>
          <p:nvSpPr>
            <p:cNvPr id="296" name="Retângulo 295">
              <a:extLst>
                <a:ext uri="{FF2B5EF4-FFF2-40B4-BE49-F238E27FC236}">
                  <a16:creationId xmlns:a16="http://schemas.microsoft.com/office/drawing/2014/main" xmlns="" id="{59880EED-0480-4F19-BE56-E1608795F354}"/>
                </a:ext>
              </a:extLst>
            </p:cNvPr>
            <p:cNvSpPr/>
            <p:nvPr/>
          </p:nvSpPr>
          <p:spPr>
            <a:xfrm>
              <a:off x="7751044" y="2169450"/>
              <a:ext cx="3204018" cy="721163"/>
            </a:xfrm>
            <a:prstGeom prst="rect">
              <a:avLst/>
            </a:prstGeom>
            <a:solidFill>
              <a:srgbClr val="F1C911"/>
            </a:solidFill>
            <a:ln w="57150">
              <a:solidFill>
                <a:srgbClr val="FFC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500" dirty="0"/>
            </a:p>
          </p:txBody>
        </p:sp>
        <p:pic>
          <p:nvPicPr>
            <p:cNvPr id="297" name="Imagem 296">
              <a:extLst>
                <a:ext uri="{FF2B5EF4-FFF2-40B4-BE49-F238E27FC236}">
                  <a16:creationId xmlns:a16="http://schemas.microsoft.com/office/drawing/2014/main" xmlns="" id="{CF6E9676-8820-4745-BEAE-184A1CAA2E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22195" t="35425" r="23784" b="36942"/>
            <a:stretch/>
          </p:blipFill>
          <p:spPr>
            <a:xfrm>
              <a:off x="8393498" y="2274295"/>
              <a:ext cx="1749989" cy="503732"/>
            </a:xfrm>
            <a:prstGeom prst="rect">
              <a:avLst/>
            </a:prstGeom>
          </p:spPr>
        </p:pic>
      </p:grpSp>
      <p:sp>
        <p:nvSpPr>
          <p:cNvPr id="298" name="Seta: para Cima 297">
            <a:extLst>
              <a:ext uri="{FF2B5EF4-FFF2-40B4-BE49-F238E27FC236}">
                <a16:creationId xmlns:a16="http://schemas.microsoft.com/office/drawing/2014/main" xmlns="" id="{2AD5929B-8BEA-422E-9FD9-D9FD2DBBC8FE}"/>
              </a:ext>
            </a:extLst>
          </p:cNvPr>
          <p:cNvSpPr/>
          <p:nvPr/>
        </p:nvSpPr>
        <p:spPr>
          <a:xfrm>
            <a:off x="7676505" y="3261663"/>
            <a:ext cx="460673" cy="773393"/>
          </a:xfrm>
          <a:prstGeom prst="upArrow">
            <a:avLst/>
          </a:prstGeom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vert270" lIns="36000" rIns="36000" bIns="36000" rtlCol="0" anchor="ctr"/>
          <a:lstStyle/>
          <a:p>
            <a:pPr algn="ctr"/>
            <a:r>
              <a:rPr lang="pt-BR" sz="1500" dirty="0"/>
              <a:t>SQL</a:t>
            </a:r>
          </a:p>
        </p:txBody>
      </p:sp>
      <p:grpSp>
        <p:nvGrpSpPr>
          <p:cNvPr id="316" name="Agrupar 315">
            <a:extLst>
              <a:ext uri="{FF2B5EF4-FFF2-40B4-BE49-F238E27FC236}">
                <a16:creationId xmlns:a16="http://schemas.microsoft.com/office/drawing/2014/main" xmlns="" id="{A3FE8735-1C83-41CE-8C7A-E5A7924FC021}"/>
              </a:ext>
            </a:extLst>
          </p:cNvPr>
          <p:cNvGrpSpPr/>
          <p:nvPr/>
        </p:nvGrpSpPr>
        <p:grpSpPr>
          <a:xfrm>
            <a:off x="8187124" y="3261663"/>
            <a:ext cx="3435851" cy="2620992"/>
            <a:chOff x="8291899" y="3004488"/>
            <a:chExt cx="3435851" cy="2620992"/>
          </a:xfrm>
        </p:grpSpPr>
        <p:sp>
          <p:nvSpPr>
            <p:cNvPr id="317" name="Retângulo 316">
              <a:extLst>
                <a:ext uri="{FF2B5EF4-FFF2-40B4-BE49-F238E27FC236}">
                  <a16:creationId xmlns:a16="http://schemas.microsoft.com/office/drawing/2014/main" xmlns="" id="{4DA0620E-660E-4DE9-8867-399949E96685}"/>
                </a:ext>
              </a:extLst>
            </p:cNvPr>
            <p:cNvSpPr/>
            <p:nvPr/>
          </p:nvSpPr>
          <p:spPr>
            <a:xfrm>
              <a:off x="8952978" y="3742921"/>
              <a:ext cx="985057" cy="188255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571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500" dirty="0"/>
            </a:p>
          </p:txBody>
        </p:sp>
        <p:sp>
          <p:nvSpPr>
            <p:cNvPr id="318" name="CaixaDeTexto 317">
              <a:extLst>
                <a:ext uri="{FF2B5EF4-FFF2-40B4-BE49-F238E27FC236}">
                  <a16:creationId xmlns:a16="http://schemas.microsoft.com/office/drawing/2014/main" xmlns="" id="{F27CC103-B9CB-4B44-B19D-07855344A2CD}"/>
                </a:ext>
              </a:extLst>
            </p:cNvPr>
            <p:cNvSpPr txBox="1"/>
            <p:nvPr/>
          </p:nvSpPr>
          <p:spPr>
            <a:xfrm>
              <a:off x="9006296" y="3894300"/>
              <a:ext cx="87842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500" b="1" dirty="0"/>
                <a:t>Parquet</a:t>
              </a:r>
            </a:p>
          </p:txBody>
        </p:sp>
        <p:sp>
          <p:nvSpPr>
            <p:cNvPr id="319" name="Seta: para Cima 318">
              <a:extLst>
                <a:ext uri="{FF2B5EF4-FFF2-40B4-BE49-F238E27FC236}">
                  <a16:creationId xmlns:a16="http://schemas.microsoft.com/office/drawing/2014/main" xmlns="" id="{8FA65B1B-B5F3-4857-9648-00E120057C68}"/>
                </a:ext>
              </a:extLst>
            </p:cNvPr>
            <p:cNvSpPr/>
            <p:nvPr/>
          </p:nvSpPr>
          <p:spPr>
            <a:xfrm>
              <a:off x="9215170" y="3004488"/>
              <a:ext cx="460673" cy="773393"/>
            </a:xfrm>
            <a:prstGeom prst="upArrow">
              <a:avLst/>
            </a:prstGeom>
            <a:ln w="285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vert270" lIns="36000" rIns="36000" bIns="36000" rtlCol="0" anchor="ctr"/>
            <a:lstStyle/>
            <a:p>
              <a:pPr algn="ctr"/>
              <a:r>
                <a:rPr lang="pt-BR" sz="1500" dirty="0"/>
                <a:t>SQL</a:t>
              </a:r>
            </a:p>
          </p:txBody>
        </p:sp>
        <p:grpSp>
          <p:nvGrpSpPr>
            <p:cNvPr id="320" name="Agrupar 319">
              <a:extLst>
                <a:ext uri="{FF2B5EF4-FFF2-40B4-BE49-F238E27FC236}">
                  <a16:creationId xmlns:a16="http://schemas.microsoft.com/office/drawing/2014/main" xmlns="" id="{A6ED5986-B1E4-4C92-8277-92EA57BB6878}"/>
                </a:ext>
              </a:extLst>
            </p:cNvPr>
            <p:cNvGrpSpPr/>
            <p:nvPr/>
          </p:nvGrpSpPr>
          <p:grpSpPr>
            <a:xfrm>
              <a:off x="8291899" y="4815827"/>
              <a:ext cx="865008" cy="678332"/>
              <a:chOff x="9651820" y="5694912"/>
              <a:chExt cx="1005649" cy="788618"/>
            </a:xfrm>
          </p:grpSpPr>
          <p:pic>
            <p:nvPicPr>
              <p:cNvPr id="330" name="Gráfico 329" descr="Cronômetro">
                <a:extLst>
                  <a:ext uri="{FF2B5EF4-FFF2-40B4-BE49-F238E27FC236}">
                    <a16:creationId xmlns:a16="http://schemas.microsoft.com/office/drawing/2014/main" xmlns="" id="{22ACFAA4-E8E3-4DEF-AAB8-727B7A678D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xmlns="" r:embed="rId14"/>
                  </a:ext>
                </a:extLst>
              </a:blip>
              <a:stretch>
                <a:fillRect/>
              </a:stretch>
            </p:blipFill>
            <p:spPr>
              <a:xfrm>
                <a:off x="9944008" y="5984195"/>
                <a:ext cx="434086" cy="434086"/>
              </a:xfrm>
              <a:prstGeom prst="rect">
                <a:avLst/>
              </a:prstGeom>
            </p:spPr>
          </p:pic>
          <p:sp>
            <p:nvSpPr>
              <p:cNvPr id="331" name="CaixaDeTexto 330">
                <a:extLst>
                  <a:ext uri="{FF2B5EF4-FFF2-40B4-BE49-F238E27FC236}">
                    <a16:creationId xmlns:a16="http://schemas.microsoft.com/office/drawing/2014/main" xmlns="" id="{B65DEA21-703C-4094-83A7-D260511BAC3B}"/>
                  </a:ext>
                </a:extLst>
              </p:cNvPr>
              <p:cNvSpPr txBox="1"/>
              <p:nvPr/>
            </p:nvSpPr>
            <p:spPr>
              <a:xfrm>
                <a:off x="9651820" y="5694912"/>
                <a:ext cx="993689" cy="375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500" dirty="0"/>
                  <a:t>3 MESES</a:t>
                </a:r>
              </a:p>
            </p:txBody>
          </p:sp>
          <p:sp>
            <p:nvSpPr>
              <p:cNvPr id="332" name="Seta: Curva para Cima 331">
                <a:extLst>
                  <a:ext uri="{FF2B5EF4-FFF2-40B4-BE49-F238E27FC236}">
                    <a16:creationId xmlns:a16="http://schemas.microsoft.com/office/drawing/2014/main" xmlns="" id="{EA55FDB2-957A-491A-AF02-266AA214900F}"/>
                  </a:ext>
                </a:extLst>
              </p:cNvPr>
              <p:cNvSpPr/>
              <p:nvPr/>
            </p:nvSpPr>
            <p:spPr>
              <a:xfrm>
                <a:off x="9686114" y="6087873"/>
                <a:ext cx="971355" cy="395657"/>
              </a:xfrm>
              <a:prstGeom prst="curvedUpArrow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36000" rIns="36000" bIns="36000" rtlCol="0" anchor="ctr"/>
              <a:lstStyle/>
              <a:p>
                <a:pPr algn="ctr"/>
                <a:endParaRPr lang="pt-BR" sz="15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321" name="Gráfico 320" descr="Banco de dados">
              <a:extLst>
                <a:ext uri="{FF2B5EF4-FFF2-40B4-BE49-F238E27FC236}">
                  <a16:creationId xmlns:a16="http://schemas.microsoft.com/office/drawing/2014/main" xmlns="" id="{266B8330-096A-4B10-BEE9-049662AB0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9063478" y="4385380"/>
              <a:ext cx="764056" cy="764056"/>
            </a:xfrm>
            <a:prstGeom prst="rect">
              <a:avLst/>
            </a:prstGeom>
          </p:spPr>
        </p:pic>
        <p:grpSp>
          <p:nvGrpSpPr>
            <p:cNvPr id="322" name="Agrupar 321">
              <a:extLst>
                <a:ext uri="{FF2B5EF4-FFF2-40B4-BE49-F238E27FC236}">
                  <a16:creationId xmlns:a16="http://schemas.microsoft.com/office/drawing/2014/main" xmlns="" id="{3B81A5C0-AF91-4312-AC21-A259376BB5CB}"/>
                </a:ext>
              </a:extLst>
            </p:cNvPr>
            <p:cNvGrpSpPr/>
            <p:nvPr/>
          </p:nvGrpSpPr>
          <p:grpSpPr>
            <a:xfrm>
              <a:off x="10195531" y="4155195"/>
              <a:ext cx="1532219" cy="1013314"/>
              <a:chOff x="10009133" y="5032033"/>
              <a:chExt cx="1532219" cy="1013314"/>
            </a:xfrm>
          </p:grpSpPr>
          <p:sp>
            <p:nvSpPr>
              <p:cNvPr id="324" name="Nuvem 323">
                <a:extLst>
                  <a:ext uri="{FF2B5EF4-FFF2-40B4-BE49-F238E27FC236}">
                    <a16:creationId xmlns:a16="http://schemas.microsoft.com/office/drawing/2014/main" xmlns="" id="{6C9F93BC-FCF2-4B32-8AEF-3AAB553635E4}"/>
                  </a:ext>
                </a:extLst>
              </p:cNvPr>
              <p:cNvSpPr/>
              <p:nvPr/>
            </p:nvSpPr>
            <p:spPr>
              <a:xfrm>
                <a:off x="10009133" y="5032033"/>
                <a:ext cx="1532219" cy="1013314"/>
              </a:xfrm>
              <a:prstGeom prst="cloud">
                <a:avLst/>
              </a:prstGeom>
              <a:ln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lIns="36000" rIns="36000" bIns="36000" rtlCol="0" anchor="ctr"/>
              <a:lstStyle/>
              <a:p>
                <a:pPr algn="ctr"/>
                <a:endParaRPr lang="pt-BR" sz="1500" dirty="0"/>
              </a:p>
            </p:txBody>
          </p:sp>
          <p:sp>
            <p:nvSpPr>
              <p:cNvPr id="326" name="CaixaDeTexto 325">
                <a:extLst>
                  <a:ext uri="{FF2B5EF4-FFF2-40B4-BE49-F238E27FC236}">
                    <a16:creationId xmlns:a16="http://schemas.microsoft.com/office/drawing/2014/main" xmlns="" id="{10B13A57-95B8-428B-9D16-CC9793A7053D}"/>
                  </a:ext>
                </a:extLst>
              </p:cNvPr>
              <p:cNvSpPr txBox="1"/>
              <p:nvPr/>
            </p:nvSpPr>
            <p:spPr>
              <a:xfrm>
                <a:off x="10091610" y="5195721"/>
                <a:ext cx="144974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500" b="1" dirty="0" smtClean="0"/>
                  <a:t>S3 (AWS)</a:t>
                </a:r>
                <a:endParaRPr lang="pt-BR" sz="1500" b="1" dirty="0"/>
              </a:p>
            </p:txBody>
          </p:sp>
        </p:grpSp>
        <p:sp>
          <p:nvSpPr>
            <p:cNvPr id="323" name="Seta: de Cima para Baixo 322">
              <a:extLst>
                <a:ext uri="{FF2B5EF4-FFF2-40B4-BE49-F238E27FC236}">
                  <a16:creationId xmlns:a16="http://schemas.microsoft.com/office/drawing/2014/main" xmlns="" id="{438C2D79-A2D8-4060-BBB1-B31F2CD940A0}"/>
                </a:ext>
              </a:extLst>
            </p:cNvPr>
            <p:cNvSpPr/>
            <p:nvPr/>
          </p:nvSpPr>
          <p:spPr>
            <a:xfrm rot="16200000">
              <a:off x="9836753" y="4435347"/>
              <a:ext cx="349111" cy="764056"/>
            </a:xfrm>
            <a:prstGeom prst="upDownArrow">
              <a:avLst/>
            </a:prstGeom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vert" lIns="36000" rIns="36000" bIns="36000" rtlCol="0" anchor="ctr"/>
            <a:lstStyle/>
            <a:p>
              <a:pPr algn="ctr"/>
              <a:r>
                <a:rPr lang="pt-BR" sz="1500" dirty="0"/>
                <a:t>SQL</a:t>
              </a:r>
            </a:p>
          </p:txBody>
        </p:sp>
      </p:grpSp>
      <p:grpSp>
        <p:nvGrpSpPr>
          <p:cNvPr id="200" name="Agrupar 199">
            <a:extLst>
              <a:ext uri="{FF2B5EF4-FFF2-40B4-BE49-F238E27FC236}">
                <a16:creationId xmlns:a16="http://schemas.microsoft.com/office/drawing/2014/main" xmlns="" id="{2CC89FE3-990B-42FD-8C40-A048E81B2D36}"/>
              </a:ext>
            </a:extLst>
          </p:cNvPr>
          <p:cNvGrpSpPr/>
          <p:nvPr/>
        </p:nvGrpSpPr>
        <p:grpSpPr>
          <a:xfrm>
            <a:off x="3020124" y="5319518"/>
            <a:ext cx="1545762" cy="498755"/>
            <a:chOff x="5465522" y="5281912"/>
            <a:chExt cx="1545762" cy="498755"/>
          </a:xfrm>
        </p:grpSpPr>
        <p:grpSp>
          <p:nvGrpSpPr>
            <p:cNvPr id="201" name="Agrupar 200">
              <a:extLst>
                <a:ext uri="{FF2B5EF4-FFF2-40B4-BE49-F238E27FC236}">
                  <a16:creationId xmlns:a16="http://schemas.microsoft.com/office/drawing/2014/main" xmlns="" id="{45B2EA87-0FD6-4BC3-B7DF-3D33636656C0}"/>
                </a:ext>
              </a:extLst>
            </p:cNvPr>
            <p:cNvGrpSpPr/>
            <p:nvPr/>
          </p:nvGrpSpPr>
          <p:grpSpPr>
            <a:xfrm>
              <a:off x="5465522" y="5283730"/>
              <a:ext cx="496937" cy="496937"/>
              <a:chOff x="4879527" y="1524001"/>
              <a:chExt cx="615595" cy="615595"/>
            </a:xfrm>
          </p:grpSpPr>
          <p:sp>
            <p:nvSpPr>
              <p:cNvPr id="203" name="Retângulo 202">
                <a:extLst>
                  <a:ext uri="{FF2B5EF4-FFF2-40B4-BE49-F238E27FC236}">
                    <a16:creationId xmlns:a16="http://schemas.microsoft.com/office/drawing/2014/main" xmlns="" id="{9382CE94-8E72-4C10-ADBE-BC7DC860C573}"/>
                  </a:ext>
                </a:extLst>
              </p:cNvPr>
              <p:cNvSpPr/>
              <p:nvPr/>
            </p:nvSpPr>
            <p:spPr>
              <a:xfrm>
                <a:off x="5115268" y="1530954"/>
                <a:ext cx="371099" cy="477704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chemeClr val="accent2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500" dirty="0"/>
              </a:p>
            </p:txBody>
          </p:sp>
          <p:sp>
            <p:nvSpPr>
              <p:cNvPr id="204" name="Retângulo 203">
                <a:extLst>
                  <a:ext uri="{FF2B5EF4-FFF2-40B4-BE49-F238E27FC236}">
                    <a16:creationId xmlns:a16="http://schemas.microsoft.com/office/drawing/2014/main" xmlns="" id="{1C859491-3C9E-4B95-B4E6-CAC3D837A917}"/>
                  </a:ext>
                </a:extLst>
              </p:cNvPr>
              <p:cNvSpPr/>
              <p:nvPr/>
            </p:nvSpPr>
            <p:spPr>
              <a:xfrm>
                <a:off x="4995409" y="1589677"/>
                <a:ext cx="371099" cy="47770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500" dirty="0"/>
              </a:p>
            </p:txBody>
          </p:sp>
          <p:pic>
            <p:nvPicPr>
              <p:cNvPr id="205" name="Gráfico 204" descr="Documento">
                <a:extLst>
                  <a:ext uri="{FF2B5EF4-FFF2-40B4-BE49-F238E27FC236}">
                    <a16:creationId xmlns:a16="http://schemas.microsoft.com/office/drawing/2014/main" xmlns="" id="{6DF8A91B-6DA6-4ABB-A924-CA56FD8D53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xmlns="" r:embed="rId18"/>
                  </a:ext>
                </a:extLst>
              </a:blip>
              <a:stretch>
                <a:fillRect/>
              </a:stretch>
            </p:blipFill>
            <p:spPr>
              <a:xfrm>
                <a:off x="4879527" y="1524001"/>
                <a:ext cx="615595" cy="615595"/>
              </a:xfrm>
              <a:prstGeom prst="rect">
                <a:avLst/>
              </a:prstGeom>
            </p:spPr>
          </p:pic>
        </p:grpSp>
        <p:sp>
          <p:nvSpPr>
            <p:cNvPr id="202" name="CaixaDeTexto 201">
              <a:extLst>
                <a:ext uri="{FF2B5EF4-FFF2-40B4-BE49-F238E27FC236}">
                  <a16:creationId xmlns:a16="http://schemas.microsoft.com/office/drawing/2014/main" xmlns="" id="{5120A32D-A5AF-4BDE-880C-51B965F53C9F}"/>
                </a:ext>
              </a:extLst>
            </p:cNvPr>
            <p:cNvSpPr txBox="1"/>
            <p:nvPr/>
          </p:nvSpPr>
          <p:spPr>
            <a:xfrm>
              <a:off x="5933792" y="5281912"/>
              <a:ext cx="10774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chemeClr val="accent2">
                      <a:lumMod val="75000"/>
                    </a:schemeClr>
                  </a:solidFill>
                  <a:latin typeface="Arial Black" panose="020B0A04020102020204" pitchFamily="34" charset="0"/>
                </a:rPr>
                <a:t>Kafka File System</a:t>
              </a:r>
            </a:p>
          </p:txBody>
        </p:sp>
      </p:grpSp>
      <p:sp>
        <p:nvSpPr>
          <p:cNvPr id="4" name="Seta dobrada para cima 3"/>
          <p:cNvSpPr/>
          <p:nvPr/>
        </p:nvSpPr>
        <p:spPr>
          <a:xfrm rot="5400000">
            <a:off x="7695985" y="5653716"/>
            <a:ext cx="892394" cy="731520"/>
          </a:xfrm>
          <a:prstGeom prst="bent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API</a:t>
            </a:r>
            <a:endParaRPr lang="pt-BR" dirty="0"/>
          </a:p>
        </p:txBody>
      </p:sp>
      <p:sp>
        <p:nvSpPr>
          <p:cNvPr id="191" name="Retângulo 190">
            <a:extLst>
              <a:ext uri="{FF2B5EF4-FFF2-40B4-BE49-F238E27FC236}">
                <a16:creationId xmlns:a16="http://schemas.microsoft.com/office/drawing/2014/main" xmlns="" id="{59880EED-0480-4F19-BE56-E1608795F354}"/>
              </a:ext>
            </a:extLst>
          </p:cNvPr>
          <p:cNvSpPr/>
          <p:nvPr/>
        </p:nvSpPr>
        <p:spPr>
          <a:xfrm>
            <a:off x="8543336" y="6191932"/>
            <a:ext cx="2705277" cy="575812"/>
          </a:xfrm>
          <a:prstGeom prst="rect">
            <a:avLst/>
          </a:prstGeom>
          <a:solidFill>
            <a:schemeClr val="tx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6000" tIns="4572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endParaRPr lang="pt-BR" sz="1500" dirty="0">
              <a:solidFill>
                <a:schemeClr val="dk1"/>
              </a:solidFill>
            </a:endParaRPr>
          </a:p>
        </p:txBody>
      </p:sp>
      <p:pic>
        <p:nvPicPr>
          <p:cNvPr id="198" name="Gráfico 328" descr="Documento">
            <a:extLst>
              <a:ext uri="{FF2B5EF4-FFF2-40B4-BE49-F238E27FC236}">
                <a16:creationId xmlns:a16="http://schemas.microsoft.com/office/drawing/2014/main" xmlns="" id="{0E0B7AF4-F11E-4AE6-AA69-611525F6007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10718044" y="4867208"/>
            <a:ext cx="360119" cy="360565"/>
          </a:xfrm>
          <a:prstGeom prst="rect">
            <a:avLst/>
          </a:prstGeom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xmlns="" id="{4495AD1D-D468-4192-9CD4-DFB8C9997D7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861" y="6323596"/>
            <a:ext cx="1184798" cy="385059"/>
          </a:xfrm>
          <a:prstGeom prst="rect">
            <a:avLst/>
          </a:prstGeom>
        </p:spPr>
      </p:pic>
      <p:sp>
        <p:nvSpPr>
          <p:cNvPr id="206" name="Seta dobrada para cima 205"/>
          <p:cNvSpPr/>
          <p:nvPr/>
        </p:nvSpPr>
        <p:spPr>
          <a:xfrm rot="5400000">
            <a:off x="5749792" y="4134164"/>
            <a:ext cx="804869" cy="4629409"/>
          </a:xfrm>
          <a:prstGeom prst="bentUpArrow">
            <a:avLst>
              <a:gd name="adj1" fmla="val 25000"/>
              <a:gd name="adj2" fmla="val 26168"/>
              <a:gd name="adj3" fmla="val 25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API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629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 animBg="1"/>
      <p:bldP spid="196" grpId="0"/>
      <p:bldP spid="26" grpId="0" animBg="1"/>
      <p:bldP spid="298" grpId="0" animBg="1"/>
      <p:bldP spid="4" grpId="0" animBg="1"/>
      <p:bldP spid="191" grpId="0" animBg="1"/>
      <p:bldP spid="20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xmlns="" id="{B82CBE1A-7DE8-418C-8CBB-71089522E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Por que não usar o EMR (AWS) Nesta arquitetura?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323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Custo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C9EA366C-A2F5-484B-AC46-1700C9E8D298}"/>
              </a:ext>
            </a:extLst>
          </p:cNvPr>
          <p:cNvSpPr txBox="1"/>
          <p:nvPr/>
        </p:nvSpPr>
        <p:spPr>
          <a:xfrm>
            <a:off x="1141413" y="1912422"/>
            <a:ext cx="1027600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preço do </a:t>
            </a:r>
            <a:r>
              <a:rPr lang="pt-BR" dirty="0" err="1"/>
              <a:t>Amazon</a:t>
            </a:r>
            <a:r>
              <a:rPr lang="pt-BR" dirty="0"/>
              <a:t> EMR é adicional ao preço do </a:t>
            </a:r>
            <a:r>
              <a:rPr lang="pt-BR" dirty="0" err="1"/>
              <a:t>Amazon</a:t>
            </a:r>
            <a:r>
              <a:rPr lang="pt-BR" dirty="0"/>
              <a:t> </a:t>
            </a:r>
            <a:r>
              <a:rPr lang="pt-BR" dirty="0" smtClean="0"/>
              <a:t>EC2 </a:t>
            </a:r>
            <a:r>
              <a:rPr lang="pt-BR" dirty="0"/>
              <a:t>e ao preço do </a:t>
            </a:r>
            <a:r>
              <a:rPr lang="pt-BR" dirty="0" err="1"/>
              <a:t>Amazon</a:t>
            </a:r>
            <a:r>
              <a:rPr lang="pt-BR" dirty="0"/>
              <a:t> EBS (se há volumes do </a:t>
            </a:r>
            <a:r>
              <a:rPr lang="pt-BR" dirty="0" err="1"/>
              <a:t>Amazon</a:t>
            </a:r>
            <a:r>
              <a:rPr lang="pt-BR" dirty="0"/>
              <a:t> EBS anexados</a:t>
            </a:r>
            <a:r>
              <a:rPr lang="pt-BR" dirty="0"/>
              <a:t>) - </a:t>
            </a:r>
            <a:r>
              <a:rPr lang="pt-BR" dirty="0">
                <a:hlinkClick r:id="rId2"/>
              </a:rPr>
              <a:t>https://aws.amazon.com/pt/emr/pricing/?nc=sn&amp;loc=4 </a:t>
            </a:r>
            <a:endParaRPr lang="pt-BR" dirty="0"/>
          </a:p>
          <a:p>
            <a:endParaRPr lang="pt-BR" sz="2000" dirty="0" smtClean="0"/>
          </a:p>
          <a:p>
            <a:endParaRPr lang="pt-BR" sz="2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C9EA366C-A2F5-484B-AC46-1700C9E8D298}"/>
              </a:ext>
            </a:extLst>
          </p:cNvPr>
          <p:cNvSpPr txBox="1"/>
          <p:nvPr/>
        </p:nvSpPr>
        <p:spPr>
          <a:xfrm>
            <a:off x="1141412" y="2760050"/>
            <a:ext cx="10276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Comparativo entre EMR e EC2, respectivamente:</a:t>
            </a:r>
            <a:endParaRPr lang="pt-BR" sz="2000" dirty="0"/>
          </a:p>
        </p:txBody>
      </p:sp>
      <p:pic>
        <p:nvPicPr>
          <p:cNvPr id="11" name="Imagem 10"/>
          <p:cNvPicPr/>
          <p:nvPr/>
        </p:nvPicPr>
        <p:blipFill rotWithShape="1">
          <a:blip r:embed="rId3"/>
          <a:srcRect l="4166" t="25366" r="68229" b="53262"/>
          <a:stretch/>
        </p:blipFill>
        <p:spPr bwMode="auto">
          <a:xfrm>
            <a:off x="5813318" y="3633526"/>
            <a:ext cx="4291330" cy="15111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Imagem 11"/>
          <p:cNvPicPr/>
          <p:nvPr/>
        </p:nvPicPr>
        <p:blipFill rotWithShape="1">
          <a:blip r:embed="rId4"/>
          <a:srcRect l="4148" t="25508" r="67419" b="52792"/>
          <a:stretch/>
        </p:blipFill>
        <p:spPr bwMode="auto">
          <a:xfrm>
            <a:off x="1273675" y="3620488"/>
            <a:ext cx="4243705" cy="152422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xmlns="" id="{C9EA366C-A2F5-484B-AC46-1700C9E8D298}"/>
              </a:ext>
            </a:extLst>
          </p:cNvPr>
          <p:cNvSpPr txBox="1"/>
          <p:nvPr/>
        </p:nvSpPr>
        <p:spPr>
          <a:xfrm>
            <a:off x="1273675" y="5295132"/>
            <a:ext cx="102760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/>
              <a:t>Como as máquinas devem ficar ligadas por 24 horas, o custo do EMR, dependendo de como for implantado, pode ficar mais caro do que uma estrutura EC2.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70932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Impala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C9EA366C-A2F5-484B-AC46-1700C9E8D298}"/>
              </a:ext>
            </a:extLst>
          </p:cNvPr>
          <p:cNvSpPr txBox="1"/>
          <p:nvPr/>
        </p:nvSpPr>
        <p:spPr>
          <a:xfrm>
            <a:off x="1141413" y="1912422"/>
            <a:ext cx="102760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Nas últimas versões do EMR o </a:t>
            </a:r>
            <a:r>
              <a:rPr lang="pt-BR" sz="2000" dirty="0" err="1"/>
              <a:t>Impala</a:t>
            </a:r>
            <a:r>
              <a:rPr lang="pt-BR" sz="2000" dirty="0"/>
              <a:t> não está </a:t>
            </a:r>
            <a:r>
              <a:rPr lang="pt-BR" sz="2000" dirty="0" smtClean="0"/>
              <a:t>disponível. </a:t>
            </a:r>
            <a:r>
              <a:rPr lang="pt-BR" sz="2000" dirty="0"/>
              <a:t>As alternativas para exploração seriam: </a:t>
            </a:r>
            <a:r>
              <a:rPr lang="pt-BR" sz="2000" dirty="0" err="1"/>
              <a:t>HIve</a:t>
            </a:r>
            <a:r>
              <a:rPr lang="pt-BR" sz="2000" dirty="0"/>
              <a:t> ou Presto. O primeiro não tem integração com o Apache </a:t>
            </a:r>
            <a:r>
              <a:rPr lang="pt-BR" sz="2000" dirty="0" err="1"/>
              <a:t>Kudu</a:t>
            </a:r>
            <a:r>
              <a:rPr lang="pt-BR" sz="2000" dirty="0"/>
              <a:t> e não é ideal para consultas </a:t>
            </a:r>
            <a:r>
              <a:rPr lang="pt-BR" sz="2000" dirty="0" err="1" smtClean="0"/>
              <a:t>ad-hoc</a:t>
            </a:r>
            <a:r>
              <a:rPr lang="pt-BR" sz="2000" dirty="0" smtClean="0"/>
              <a:t>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30369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Storage</a:t>
            </a:r>
            <a:r>
              <a:rPr lang="pt-BR" dirty="0" smtClean="0"/>
              <a:t> analítico e operacional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C9EA366C-A2F5-484B-AC46-1700C9E8D298}"/>
              </a:ext>
            </a:extLst>
          </p:cNvPr>
          <p:cNvSpPr txBox="1"/>
          <p:nvPr/>
        </p:nvSpPr>
        <p:spPr>
          <a:xfrm>
            <a:off x="1141413" y="1912422"/>
            <a:ext cx="102760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/>
              <a:t>O Apache </a:t>
            </a:r>
            <a:r>
              <a:rPr lang="pt-BR" sz="2000" dirty="0" err="1" smtClean="0"/>
              <a:t>Kudu</a:t>
            </a:r>
            <a:r>
              <a:rPr lang="pt-BR" sz="2000" dirty="0" smtClean="0"/>
              <a:t>, que foi projetado para ser analítico e operacional, não está disponível no EMR. Teria que encontrar outra alternativa de </a:t>
            </a:r>
            <a:r>
              <a:rPr lang="pt-BR" sz="2000" dirty="0" err="1" smtClean="0"/>
              <a:t>storage</a:t>
            </a:r>
            <a:r>
              <a:rPr lang="pt-BR" sz="2000" dirty="0" smtClean="0"/>
              <a:t> que atenda esse requisito.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827938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332882C-75E3-4653-BB80-EC6A34C2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Dúvidas</a:t>
            </a:r>
          </a:p>
        </p:txBody>
      </p:sp>
      <p:pic>
        <p:nvPicPr>
          <p:cNvPr id="5" name="Imagem 4" descr="Uma imagem contendo brinquedo&#10;&#10;Descrição gerada com alta confiança">
            <a:extLst>
              <a:ext uri="{FF2B5EF4-FFF2-40B4-BE49-F238E27FC236}">
                <a16:creationId xmlns:a16="http://schemas.microsoft.com/office/drawing/2014/main" xmlns="" id="{5B138CA7-993C-4825-88D8-E5136A26C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803" y="1576971"/>
            <a:ext cx="4142394" cy="414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890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4025</TotalTime>
  <Words>1026</Words>
  <Application>Microsoft Office PowerPoint</Application>
  <PresentationFormat>Widescreen</PresentationFormat>
  <Paragraphs>152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7" baseType="lpstr">
      <vt:lpstr>Aldhabi</vt:lpstr>
      <vt:lpstr>Arial</vt:lpstr>
      <vt:lpstr>Arial Black</vt:lpstr>
      <vt:lpstr>Arial Rounded MT Bold</vt:lpstr>
      <vt:lpstr>Calibri</vt:lpstr>
      <vt:lpstr>Trebuchet MS</vt:lpstr>
      <vt:lpstr>Tw Cen MT</vt:lpstr>
      <vt:lpstr>Circuito</vt:lpstr>
      <vt:lpstr>Sugestão de Arquitetura</vt:lpstr>
      <vt:lpstr>objetivo</vt:lpstr>
      <vt:lpstr>Desafios</vt:lpstr>
      <vt:lpstr>Arquitetura proposta</vt:lpstr>
      <vt:lpstr>Os componentes</vt:lpstr>
      <vt:lpstr>kafka</vt:lpstr>
      <vt:lpstr>kafka</vt:lpstr>
      <vt:lpstr>kafka</vt:lpstr>
      <vt:lpstr>Spark</vt:lpstr>
      <vt:lpstr>Spark</vt:lpstr>
      <vt:lpstr>kudu</vt:lpstr>
      <vt:lpstr>kudu</vt:lpstr>
      <vt:lpstr>impala</vt:lpstr>
      <vt:lpstr>resumindo</vt:lpstr>
      <vt:lpstr>Por que não usar o EMR (AWS) Nesta arquitetura?</vt:lpstr>
      <vt:lpstr>Custo</vt:lpstr>
      <vt:lpstr>Impala</vt:lpstr>
      <vt:lpstr>Storage analítico e operacional</vt:lpstr>
      <vt:lpstr>Dúvidas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 Cloudera</dc:title>
  <dc:creator>Cleide Yumiko Tominaga Verni</dc:creator>
  <cp:lastModifiedBy>Bruno dos Santos Farias</cp:lastModifiedBy>
  <cp:revision>209</cp:revision>
  <dcterms:created xsi:type="dcterms:W3CDTF">2018-05-21T12:03:18Z</dcterms:created>
  <dcterms:modified xsi:type="dcterms:W3CDTF">2018-10-31T21:38:48Z</dcterms:modified>
</cp:coreProperties>
</file>