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notesMasterIdLst>
    <p:notesMasterId r:id="rId25"/>
  </p:notesMasterIdLst>
  <p:sldIdLst>
    <p:sldId id="256" r:id="rId2"/>
    <p:sldId id="267" r:id="rId3"/>
    <p:sldId id="266" r:id="rId4"/>
    <p:sldId id="278" r:id="rId5"/>
    <p:sldId id="257" r:id="rId6"/>
    <p:sldId id="258" r:id="rId7"/>
    <p:sldId id="259" r:id="rId8"/>
    <p:sldId id="260" r:id="rId9"/>
    <p:sldId id="268" r:id="rId10"/>
    <p:sldId id="276" r:id="rId11"/>
    <p:sldId id="277" r:id="rId12"/>
    <p:sldId id="263" r:id="rId13"/>
    <p:sldId id="273" r:id="rId14"/>
    <p:sldId id="274" r:id="rId15"/>
    <p:sldId id="262" r:id="rId16"/>
    <p:sldId id="275" r:id="rId17"/>
    <p:sldId id="279" r:id="rId18"/>
    <p:sldId id="283" r:id="rId19"/>
    <p:sldId id="284" r:id="rId20"/>
    <p:sldId id="272" r:id="rId21"/>
    <p:sldId id="281" r:id="rId22"/>
    <p:sldId id="282" r:id="rId23"/>
    <p:sldId id="26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911"/>
    <a:srgbClr val="0079D6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144"/>
      </p:cViewPr>
      <p:guideLst>
        <p:guide orient="horz" pos="268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4C283-EC21-469F-913C-17AE47E4A2D9}" type="datetimeFigureOut">
              <a:rPr lang="pt-BR" smtClean="0"/>
              <a:t>30/05/2018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574EF-E940-4F44-8FDE-AB4A114D64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06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85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76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516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7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8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29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11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52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2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13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1394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61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32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57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994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19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89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jp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40.png"/><Relationship Id="rId18" Type="http://schemas.openxmlformats.org/officeDocument/2006/relationships/image" Target="../media/image21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39.jpg"/><Relationship Id="rId17" Type="http://schemas.openxmlformats.org/officeDocument/2006/relationships/image" Target="../media/image20.png"/><Relationship Id="rId2" Type="http://schemas.openxmlformats.org/officeDocument/2006/relationships/image" Target="../media/image12.png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38.svg"/><Relationship Id="rId5" Type="http://schemas.openxmlformats.org/officeDocument/2006/relationships/image" Target="../media/image15.sv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41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0A33C-12C6-4D40-9106-1CD99B68F3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POC Cloudera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A4FF81-6718-43ED-9BEF-4C6AAE1644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Modelo de Autenticação X Autorização</a:t>
            </a:r>
          </a:p>
        </p:txBody>
      </p:sp>
    </p:spTree>
    <p:extLst>
      <p:ext uri="{BB962C8B-B14F-4D97-AF65-F5344CB8AC3E}">
        <p14:creationId xmlns:p14="http://schemas.microsoft.com/office/powerpoint/2010/main" val="3853690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CF56F-CFBA-4459-8ED3-B1A44BE8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Cenário atual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D93532-2637-4368-AFA0-33CE3AE6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Temos apenas o registro da última autenticação válida do usuário por dia, o que não significa que o usuário está utilizando o serviço, pois o mesmo pode não estar autorizado no momento</a:t>
            </a:r>
          </a:p>
          <a:p>
            <a:r>
              <a:rPr lang="pt-BR" dirty="0"/>
              <a:t>Não sabemos a frequência que o usuário se autentica nos serviços do UOL, e nem o percentual de tentativas falhas</a:t>
            </a:r>
          </a:p>
          <a:p>
            <a:r>
              <a:rPr lang="pt-BR" b="1" dirty="0"/>
              <a:t>Decisões são tomadas baseadas em informações incompletas</a:t>
            </a:r>
          </a:p>
        </p:txBody>
      </p:sp>
    </p:spTree>
    <p:extLst>
      <p:ext uri="{BB962C8B-B14F-4D97-AF65-F5344CB8AC3E}">
        <p14:creationId xmlns:p14="http://schemas.microsoft.com/office/powerpoint/2010/main" val="784197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84BA3-B7DA-4D06-945F-882210BD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3B79A2-D35F-4E23-8ADD-9A576FF31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Disponibilizar o cruzamento de todas as autenticações dos usuários UOL (e suas tentativas) com os eventos de autorização, permitindo que as áreas usuárias possam explorar tais informações de forma simples e rápida, para ações internas (campanhas direcionadas), tomada de decisões mais precisas e insights. </a:t>
            </a:r>
          </a:p>
        </p:txBody>
      </p:sp>
    </p:spTree>
    <p:extLst>
      <p:ext uri="{BB962C8B-B14F-4D97-AF65-F5344CB8AC3E}">
        <p14:creationId xmlns:p14="http://schemas.microsoft.com/office/powerpoint/2010/main" val="340918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8A2B3-6421-4BEF-A9F2-AC0E12E7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40EE8A-C68D-4A5E-AC66-826479D1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209951" cy="3541714"/>
          </a:xfrm>
        </p:spPr>
        <p:txBody>
          <a:bodyPr/>
          <a:lstStyle/>
          <a:p>
            <a:r>
              <a:rPr lang="pt-BR" dirty="0"/>
              <a:t>Atingir o processamento de uma hora de dados </a:t>
            </a:r>
            <a:r>
              <a:rPr lang="pt-BR" sz="2000" dirty="0"/>
              <a:t>(15,4 milhões de eventos)*</a:t>
            </a:r>
            <a:r>
              <a:rPr lang="pt-BR" dirty="0"/>
              <a:t> em até 20 minutos</a:t>
            </a:r>
          </a:p>
          <a:p>
            <a:r>
              <a:rPr lang="pt-BR" dirty="0"/>
              <a:t>Garantir a resiliência dos componentes HDFS/Kafka/</a:t>
            </a:r>
            <a:r>
              <a:rPr lang="pt-BR" dirty="0" err="1"/>
              <a:t>Spark</a:t>
            </a:r>
            <a:endParaRPr lang="pt-BR" dirty="0"/>
          </a:p>
          <a:p>
            <a:pPr>
              <a:buFontTx/>
              <a:buChar char="-"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000" dirty="0"/>
              <a:t>* Considerando o volume diário de 370 milhões de eventos, o equivalentes a 98 GB</a:t>
            </a:r>
          </a:p>
        </p:txBody>
      </p:sp>
    </p:spTree>
    <p:extLst>
      <p:ext uri="{BB962C8B-B14F-4D97-AF65-F5344CB8AC3E}">
        <p14:creationId xmlns:p14="http://schemas.microsoft.com/office/powerpoint/2010/main" val="317138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3782E906-3D03-4EF4-81DB-A5BA099EE4AE}"/>
              </a:ext>
            </a:extLst>
          </p:cNvPr>
          <p:cNvSpPr/>
          <p:nvPr/>
        </p:nvSpPr>
        <p:spPr>
          <a:xfrm>
            <a:off x="5888290" y="1310389"/>
            <a:ext cx="5930726" cy="50688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D76E9BD8-BAD8-4F2D-8153-DE1C4EA0017D}"/>
              </a:ext>
            </a:extLst>
          </p:cNvPr>
          <p:cNvSpPr/>
          <p:nvPr/>
        </p:nvSpPr>
        <p:spPr>
          <a:xfrm>
            <a:off x="349723" y="4151480"/>
            <a:ext cx="1440000" cy="2088000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r>
              <a:rPr lang="pt-BR" sz="1500" dirty="0"/>
              <a:t>Responsável pela autenticação e autorização de clientes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F8CA2942-1ACA-4653-91BD-4B69F7BF5026}"/>
              </a:ext>
            </a:extLst>
          </p:cNvPr>
          <p:cNvSpPr/>
          <p:nvPr/>
        </p:nvSpPr>
        <p:spPr>
          <a:xfrm>
            <a:off x="372984" y="1779801"/>
            <a:ext cx="1440000" cy="2088000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r>
              <a:rPr lang="pt-BR" sz="1500" dirty="0"/>
              <a:t>Envia os eventos de autenticação e autorização em JSON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BFBB0C1E-73D6-4264-A26E-3265A2CAFA42}"/>
              </a:ext>
            </a:extLst>
          </p:cNvPr>
          <p:cNvSpPr/>
          <p:nvPr/>
        </p:nvSpPr>
        <p:spPr>
          <a:xfrm>
            <a:off x="9924714" y="1779801"/>
            <a:ext cx="1756800" cy="4460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Os registros com mais de 3 meses serão migrados para tabelas no formato parquet e arquivos de dados no Data Lake </a:t>
            </a:r>
            <a:r>
              <a:rPr lang="pt-BR" dirty="0" err="1"/>
              <a:t>Store</a:t>
            </a:r>
            <a:br>
              <a:rPr lang="pt-BR" dirty="0"/>
            </a:br>
            <a:r>
              <a:rPr lang="pt-BR" dirty="0"/>
              <a:t>(</a:t>
            </a:r>
            <a:r>
              <a:rPr lang="pt-BR" dirty="0" err="1"/>
              <a:t>storage</a:t>
            </a:r>
            <a:r>
              <a:rPr lang="pt-BR" dirty="0"/>
              <a:t> com menor custo)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57D62848-7F87-4977-B0F3-F05B444B3027}"/>
              </a:ext>
            </a:extLst>
          </p:cNvPr>
          <p:cNvSpPr/>
          <p:nvPr/>
        </p:nvSpPr>
        <p:spPr>
          <a:xfrm>
            <a:off x="7968766" y="4151480"/>
            <a:ext cx="1756800" cy="208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Visualização e exploração dos dados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D828CB67-34E3-421A-90FD-ED043A6C5892}"/>
              </a:ext>
            </a:extLst>
          </p:cNvPr>
          <p:cNvSpPr/>
          <p:nvPr/>
        </p:nvSpPr>
        <p:spPr>
          <a:xfrm>
            <a:off x="5984859" y="1779801"/>
            <a:ext cx="1756825" cy="44596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Camada de persistência que  oferece a combinação de </a:t>
            </a:r>
            <a:r>
              <a:rPr lang="pt-BR" dirty="0" err="1"/>
              <a:t>fast</a:t>
            </a:r>
            <a:r>
              <a:rPr lang="pt-BR" dirty="0"/>
              <a:t> </a:t>
            </a:r>
            <a:r>
              <a:rPr lang="pt-BR" dirty="0" err="1"/>
              <a:t>inserts</a:t>
            </a:r>
            <a:r>
              <a:rPr lang="pt-BR" dirty="0"/>
              <a:t>/ </a:t>
            </a:r>
            <a:r>
              <a:rPr lang="pt-BR" dirty="0" err="1"/>
              <a:t>updates</a:t>
            </a:r>
            <a:r>
              <a:rPr lang="pt-BR" dirty="0"/>
              <a:t> e </a:t>
            </a:r>
            <a:r>
              <a:rPr lang="pt-BR" dirty="0" err="1"/>
              <a:t>fast</a:t>
            </a:r>
            <a:r>
              <a:rPr lang="en-US" dirty="0"/>
              <a:t> analytic,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arquitetura</a:t>
            </a:r>
            <a:r>
              <a:rPr lang="en-US" dirty="0"/>
              <a:t> </a:t>
            </a:r>
            <a:r>
              <a:rPr lang="pt-BR" dirty="0"/>
              <a:t>colunar distribuída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3BE5E932-5DF7-46EF-B02C-47C63D29AA1C}"/>
              </a:ext>
            </a:extLst>
          </p:cNvPr>
          <p:cNvSpPr/>
          <p:nvPr/>
        </p:nvSpPr>
        <p:spPr>
          <a:xfrm>
            <a:off x="4000952" y="1779801"/>
            <a:ext cx="1756825" cy="44596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Framework para computação distribuída, provê uma interface para programação de clusters com paralelismo e tolerância a falhas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E7A0653-B4EB-476A-BA97-0FA93D8A088E}"/>
              </a:ext>
            </a:extLst>
          </p:cNvPr>
          <p:cNvSpPr/>
          <p:nvPr/>
        </p:nvSpPr>
        <p:spPr>
          <a:xfrm>
            <a:off x="2017045" y="1779801"/>
            <a:ext cx="1756825" cy="44596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Plataforma distribuída de mensagens e streaming, capaz de persistir um grande volume de mensagens evitando que sejam perdidas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7BDB2BB-314B-42FA-841B-B97CAD8B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65725"/>
          </a:xfrm>
        </p:spPr>
        <p:txBody>
          <a:bodyPr/>
          <a:lstStyle/>
          <a:p>
            <a:r>
              <a:rPr lang="pt-BR" dirty="0"/>
              <a:t>Arquitetura adotada</a:t>
            </a:r>
          </a:p>
        </p:txBody>
      </p:sp>
      <p:pic>
        <p:nvPicPr>
          <p:cNvPr id="34" name="Espaço Reservado para Conteúdo 33">
            <a:extLst>
              <a:ext uri="{FF2B5EF4-FFF2-40B4-BE49-F238E27FC236}">
                <a16:creationId xmlns:a16="http://schemas.microsoft.com/office/drawing/2014/main" id="{CFD33AF8-B780-43B8-A6CF-4486755D7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722" r="19248"/>
          <a:stretch/>
        </p:blipFill>
        <p:spPr>
          <a:xfrm>
            <a:off x="8482103" y="1369836"/>
            <a:ext cx="581569" cy="922682"/>
          </a:xfr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66E3C5C-69BB-4B12-B316-2289C040D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211" y="1967782"/>
            <a:ext cx="919665" cy="66375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4F62180-F331-4128-A50D-A03A6F109D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389" t="13071" r="7254" b="4985"/>
          <a:stretch/>
        </p:blipFill>
        <p:spPr>
          <a:xfrm>
            <a:off x="642455" y="1923033"/>
            <a:ext cx="901058" cy="738033"/>
          </a:xfrm>
          <a:prstGeom prst="rect">
            <a:avLst/>
          </a:prstGeom>
        </p:spPr>
      </p:pic>
      <p:pic>
        <p:nvPicPr>
          <p:cNvPr id="19" name="Imagem 18" descr="Uma imagem contendo objeto&#10;&#10;Descrição gerada com alta confiança">
            <a:extLst>
              <a:ext uri="{FF2B5EF4-FFF2-40B4-BE49-F238E27FC236}">
                <a16:creationId xmlns:a16="http://schemas.microsoft.com/office/drawing/2014/main" id="{5290388F-CB42-4205-887B-D50B4B83C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7529" y="1984237"/>
            <a:ext cx="1183670" cy="61610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48F72C3-CF40-41DA-BFC1-499B9E81A57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533" t="7985" r="4260" b="8736"/>
          <a:stretch/>
        </p:blipFill>
        <p:spPr>
          <a:xfrm>
            <a:off x="2221105" y="1968630"/>
            <a:ext cx="1348704" cy="647314"/>
          </a:xfrm>
          <a:prstGeom prst="rect">
            <a:avLst/>
          </a:prstGeom>
        </p:spPr>
      </p:pic>
      <p:grpSp>
        <p:nvGrpSpPr>
          <p:cNvPr id="39" name="Agrupar 38">
            <a:extLst>
              <a:ext uri="{FF2B5EF4-FFF2-40B4-BE49-F238E27FC236}">
                <a16:creationId xmlns:a16="http://schemas.microsoft.com/office/drawing/2014/main" id="{05779185-94FE-4959-9A79-100D50781718}"/>
              </a:ext>
            </a:extLst>
          </p:cNvPr>
          <p:cNvGrpSpPr/>
          <p:nvPr/>
        </p:nvGrpSpPr>
        <p:grpSpPr>
          <a:xfrm>
            <a:off x="662399" y="4286467"/>
            <a:ext cx="814646" cy="850371"/>
            <a:chOff x="6140380" y="5923419"/>
            <a:chExt cx="873401" cy="911702"/>
          </a:xfrm>
        </p:grpSpPr>
        <p:pic>
          <p:nvPicPr>
            <p:cNvPr id="26" name="Imagem 25" descr="GAUDI">
              <a:extLst>
                <a:ext uri="{FF2B5EF4-FFF2-40B4-BE49-F238E27FC236}">
                  <a16:creationId xmlns:a16="http://schemas.microsoft.com/office/drawing/2014/main" id="{F5647B66-76E0-4E9A-BEF6-FEFA39FB9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19528" y="5923419"/>
              <a:ext cx="515103" cy="515103"/>
            </a:xfrm>
            <a:prstGeom prst="rect">
              <a:avLst/>
            </a:prstGeom>
          </p:spPr>
        </p:pic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4CE0F11F-D7B6-423D-91B5-0FC6F289209D}"/>
                </a:ext>
              </a:extLst>
            </p:cNvPr>
            <p:cNvSpPr txBox="1"/>
            <p:nvPr/>
          </p:nvSpPr>
          <p:spPr>
            <a:xfrm>
              <a:off x="6140380" y="6455651"/>
              <a:ext cx="873401" cy="379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700" dirty="0" err="1">
                  <a:solidFill>
                    <a:schemeClr val="bg1"/>
                  </a:solidFill>
                  <a:latin typeface="Arial Rounded MT Bold" panose="020F0704030504030204" pitchFamily="34" charset="0"/>
                  <a:cs typeface="Aldhabi" panose="020B0604020202020204" pitchFamily="2" charset="-78"/>
                </a:rPr>
                <a:t>Gaudi</a:t>
              </a:r>
              <a:endParaRPr lang="pt-BR" sz="1700" dirty="0">
                <a:solidFill>
                  <a:schemeClr val="bg1"/>
                </a:solidFill>
                <a:latin typeface="Arial Rounded MT Bold" panose="020F0704030504030204" pitchFamily="34" charset="0"/>
                <a:cs typeface="Aldhabi" panose="020B0604020202020204" pitchFamily="2" charset="-78"/>
              </a:endParaRPr>
            </a:p>
          </p:txBody>
        </p:sp>
      </p:grpSp>
      <p:sp>
        <p:nvSpPr>
          <p:cNvPr id="53" name="Seta: para a Direita 52">
            <a:extLst>
              <a:ext uri="{FF2B5EF4-FFF2-40B4-BE49-F238E27FC236}">
                <a16:creationId xmlns:a16="http://schemas.microsoft.com/office/drawing/2014/main" id="{37E6C9F7-E768-48FC-91C0-7DDD379DA6F0}"/>
              </a:ext>
            </a:extLst>
          </p:cNvPr>
          <p:cNvSpPr/>
          <p:nvPr/>
        </p:nvSpPr>
        <p:spPr>
          <a:xfrm>
            <a:off x="1718842" y="3412772"/>
            <a:ext cx="493027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Seta: para a Direita 53">
            <a:extLst>
              <a:ext uri="{FF2B5EF4-FFF2-40B4-BE49-F238E27FC236}">
                <a16:creationId xmlns:a16="http://schemas.microsoft.com/office/drawing/2014/main" id="{02254B5C-EDCF-4E23-86D0-C32A1F30A8D3}"/>
              </a:ext>
            </a:extLst>
          </p:cNvPr>
          <p:cNvSpPr/>
          <p:nvPr/>
        </p:nvSpPr>
        <p:spPr>
          <a:xfrm>
            <a:off x="3696985" y="3412772"/>
            <a:ext cx="493027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1F4BD715-8793-48DD-9F72-20FCDEB2B846}"/>
              </a:ext>
            </a:extLst>
          </p:cNvPr>
          <p:cNvSpPr/>
          <p:nvPr/>
        </p:nvSpPr>
        <p:spPr>
          <a:xfrm>
            <a:off x="5675128" y="3412772"/>
            <a:ext cx="493027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Seta: para a Direita 55">
            <a:extLst>
              <a:ext uri="{FF2B5EF4-FFF2-40B4-BE49-F238E27FC236}">
                <a16:creationId xmlns:a16="http://schemas.microsoft.com/office/drawing/2014/main" id="{F1517ABB-E0DC-49CD-8B6E-2154C5037D15}"/>
              </a:ext>
            </a:extLst>
          </p:cNvPr>
          <p:cNvSpPr/>
          <p:nvPr/>
        </p:nvSpPr>
        <p:spPr>
          <a:xfrm>
            <a:off x="7653271" y="4908074"/>
            <a:ext cx="493027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Seta: para a Direita 56">
            <a:extLst>
              <a:ext uri="{FF2B5EF4-FFF2-40B4-BE49-F238E27FC236}">
                <a16:creationId xmlns:a16="http://schemas.microsoft.com/office/drawing/2014/main" id="{D6684C20-379B-46C8-A17B-E7186A263AEF}"/>
              </a:ext>
            </a:extLst>
          </p:cNvPr>
          <p:cNvSpPr/>
          <p:nvPr/>
        </p:nvSpPr>
        <p:spPr>
          <a:xfrm>
            <a:off x="7653271" y="3412772"/>
            <a:ext cx="2423602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Seta: para Cima 58">
            <a:extLst>
              <a:ext uri="{FF2B5EF4-FFF2-40B4-BE49-F238E27FC236}">
                <a16:creationId xmlns:a16="http://schemas.microsoft.com/office/drawing/2014/main" id="{DDE6122C-B4EE-4225-90C7-FBF79B59DD86}"/>
              </a:ext>
            </a:extLst>
          </p:cNvPr>
          <p:cNvSpPr/>
          <p:nvPr/>
        </p:nvSpPr>
        <p:spPr>
          <a:xfrm>
            <a:off x="757312" y="3739768"/>
            <a:ext cx="662025" cy="480451"/>
          </a:xfrm>
          <a:prstGeom prst="up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95AD1D-D468-4192-9CD4-DFB8C9997D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6176" y="1975767"/>
            <a:ext cx="653876" cy="65387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CEA9CCE-985C-4F2E-AC56-023575AB0ABF}"/>
              </a:ext>
            </a:extLst>
          </p:cNvPr>
          <p:cNvSpPr txBox="1"/>
          <p:nvPr/>
        </p:nvSpPr>
        <p:spPr>
          <a:xfrm>
            <a:off x="7940807" y="2365730"/>
            <a:ext cx="1810361" cy="118069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SQL query </a:t>
            </a:r>
            <a:r>
              <a:rPr lang="pt-BR" dirty="0" err="1">
                <a:solidFill>
                  <a:schemeClr val="bg1"/>
                </a:solidFill>
              </a:rPr>
              <a:t>engine</a:t>
            </a:r>
            <a:r>
              <a:rPr lang="pt-BR" dirty="0">
                <a:solidFill>
                  <a:schemeClr val="bg1"/>
                </a:solidFill>
              </a:rPr>
              <a:t> para facilitar o acesso aos arquivos de dados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DD1E179-77AD-486A-B740-4F23AB78B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2598" y="4298345"/>
            <a:ext cx="909137" cy="753285"/>
          </a:xfrm>
          <a:prstGeom prst="rect">
            <a:avLst/>
          </a:prstGeom>
        </p:spPr>
      </p:pic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6C7C0AA5-36B8-4581-ACAB-2A254968313D}"/>
              </a:ext>
            </a:extLst>
          </p:cNvPr>
          <p:cNvSpPr/>
          <p:nvPr/>
        </p:nvSpPr>
        <p:spPr>
          <a:xfrm flipH="1">
            <a:off x="9574839" y="4908074"/>
            <a:ext cx="493027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10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82CBE1A-7DE8-418C-8CBB-71089522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componentes</a:t>
            </a:r>
          </a:p>
        </p:txBody>
      </p:sp>
    </p:spTree>
    <p:extLst>
      <p:ext uri="{BB962C8B-B14F-4D97-AF65-F5344CB8AC3E}">
        <p14:creationId xmlns:p14="http://schemas.microsoft.com/office/powerpoint/2010/main" val="2463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703AF60-609E-4153-B0B9-1225E748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Kafta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133CDD8-87A7-44A8-AD94-CD34756CCEB4}"/>
              </a:ext>
            </a:extLst>
          </p:cNvPr>
          <p:cNvSpPr txBox="1"/>
          <p:nvPr/>
        </p:nvSpPr>
        <p:spPr>
          <a:xfrm>
            <a:off x="2984095" y="3123369"/>
            <a:ext cx="572579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0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Black" panose="020B0A04020102020204" pitchFamily="34" charset="0"/>
              </a:rPr>
              <a:t>KAF</a:t>
            </a:r>
            <a:r>
              <a:rPr lang="pt-BR" sz="10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Black" panose="020B0A04020102020204" pitchFamily="34" charset="0"/>
              </a:rPr>
              <a:t>T</a:t>
            </a:r>
            <a:r>
              <a:rPr lang="pt-BR" sz="10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Black" panose="020B0A04020102020204" pitchFamily="34" charset="0"/>
              </a:rPr>
              <a:t>A?</a:t>
            </a:r>
          </a:p>
        </p:txBody>
      </p:sp>
      <p:pic>
        <p:nvPicPr>
          <p:cNvPr id="16" name="Imagem 15" descr="Uma imagem contendo foto, diferente, comida, mostrando&#10;&#10;Descrição gerada com muito alta confiança">
            <a:extLst>
              <a:ext uri="{FF2B5EF4-FFF2-40B4-BE49-F238E27FC236}">
                <a16:creationId xmlns:a16="http://schemas.microsoft.com/office/drawing/2014/main" id="{7B39A07B-66B4-408C-B8C5-E99109194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882" y="1570908"/>
            <a:ext cx="9447060" cy="5136680"/>
          </a:xfrm>
          <a:prstGeom prst="rect">
            <a:avLst/>
          </a:prstGeom>
        </p:spPr>
      </p:pic>
      <p:sp>
        <p:nvSpPr>
          <p:cNvPr id="17" name="Símbolo de &quot;Não Permitido&quot; 16">
            <a:extLst>
              <a:ext uri="{FF2B5EF4-FFF2-40B4-BE49-F238E27FC236}">
                <a16:creationId xmlns:a16="http://schemas.microsoft.com/office/drawing/2014/main" id="{87B4B667-D542-42EE-9E2E-3F4173CDF163}"/>
              </a:ext>
            </a:extLst>
          </p:cNvPr>
          <p:cNvSpPr/>
          <p:nvPr/>
        </p:nvSpPr>
        <p:spPr>
          <a:xfrm>
            <a:off x="3675278" y="1787933"/>
            <a:ext cx="4228667" cy="4228667"/>
          </a:xfrm>
          <a:prstGeom prst="noSmoking">
            <a:avLst>
              <a:gd name="adj" fmla="val 13698"/>
            </a:avLst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pt-BR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41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kafka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Sistema </a:t>
            </a:r>
            <a:r>
              <a:rPr lang="en-US" dirty="0" err="1"/>
              <a:t>distribuído</a:t>
            </a:r>
            <a:r>
              <a:rPr lang="en-US" dirty="0"/>
              <a:t> de </a:t>
            </a:r>
            <a:r>
              <a:rPr lang="en-US" dirty="0" err="1"/>
              <a:t>mensagens</a:t>
            </a:r>
            <a:r>
              <a:rPr lang="en-US" dirty="0"/>
              <a:t>, </a:t>
            </a:r>
            <a:r>
              <a:rPr lang="en-US" dirty="0" err="1"/>
              <a:t>criado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LinkedIn e agora </a:t>
            </a:r>
            <a:r>
              <a:rPr lang="en-US" dirty="0" err="1"/>
              <a:t>mantido</a:t>
            </a:r>
            <a:r>
              <a:rPr lang="en-US" dirty="0"/>
              <a:t> pela Apache; </a:t>
            </a:r>
          </a:p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vantagens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a </a:t>
            </a:r>
            <a:r>
              <a:rPr lang="en-US" dirty="0" err="1"/>
              <a:t>simplicidade</a:t>
            </a:r>
            <a:r>
              <a:rPr lang="en-US" dirty="0"/>
              <a:t> de </a:t>
            </a:r>
            <a:r>
              <a:rPr lang="en-US" dirty="0" err="1"/>
              <a:t>configuração</a:t>
            </a:r>
            <a:r>
              <a:rPr lang="en-US" dirty="0"/>
              <a:t> e a </a:t>
            </a:r>
            <a:r>
              <a:rPr lang="en-US" dirty="0" err="1"/>
              <a:t>capacidade</a:t>
            </a:r>
            <a:r>
              <a:rPr lang="en-US" dirty="0"/>
              <a:t> para </a:t>
            </a:r>
            <a:r>
              <a:rPr lang="en-US" dirty="0" err="1"/>
              <a:t>receber</a:t>
            </a:r>
            <a:r>
              <a:rPr lang="en-US" dirty="0"/>
              <a:t> e </a:t>
            </a:r>
            <a:r>
              <a:rPr lang="en-US" dirty="0" err="1"/>
              <a:t>milhões</a:t>
            </a:r>
            <a:r>
              <a:rPr lang="en-US" dirty="0"/>
              <a:t> de </a:t>
            </a:r>
            <a:r>
              <a:rPr lang="en-US" dirty="0" err="1"/>
              <a:t>mensagens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 </a:t>
            </a:r>
            <a:r>
              <a:rPr lang="en-US" dirty="0" err="1"/>
              <a:t>segundo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De forma BEM </a:t>
            </a:r>
            <a:r>
              <a:rPr lang="en-US" dirty="0" err="1"/>
              <a:t>resumida</a:t>
            </a:r>
            <a:r>
              <a:rPr lang="en-US" dirty="0"/>
              <a:t>, </a:t>
            </a:r>
            <a:r>
              <a:rPr lang="en-US" dirty="0" err="1"/>
              <a:t>temos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Message</a:t>
            </a:r>
            <a:r>
              <a:rPr lang="en-US" dirty="0"/>
              <a:t> : é a </a:t>
            </a:r>
            <a:r>
              <a:rPr lang="en-US" dirty="0" err="1"/>
              <a:t>mensagem</a:t>
            </a:r>
            <a:r>
              <a:rPr lang="en-US" dirty="0"/>
              <a:t> (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evento</a:t>
            </a:r>
            <a:r>
              <a:rPr lang="en-US" dirty="0"/>
              <a:t>) </a:t>
            </a:r>
            <a:r>
              <a:rPr lang="en-US" dirty="0" err="1"/>
              <a:t>gerado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aplicação</a:t>
            </a:r>
            <a:r>
              <a:rPr lang="en-US" dirty="0"/>
              <a:t>, que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processado</a:t>
            </a:r>
            <a:r>
              <a:rPr lang="en-US" dirty="0"/>
              <a:t> </a:t>
            </a:r>
            <a:r>
              <a:rPr lang="en-US" dirty="0" err="1"/>
              <a:t>posteriormente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algum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 No </a:t>
            </a:r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, as </a:t>
            </a:r>
            <a:r>
              <a:rPr lang="en-US" dirty="0" err="1"/>
              <a:t>mensagens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JSONs com </a:t>
            </a:r>
            <a:r>
              <a:rPr lang="en-US" dirty="0" err="1"/>
              <a:t>os</a:t>
            </a:r>
            <a:r>
              <a:rPr lang="en-US" dirty="0"/>
              <a:t> dados de </a:t>
            </a:r>
            <a:r>
              <a:rPr lang="en-US" dirty="0" err="1"/>
              <a:t>autenticação</a:t>
            </a:r>
            <a:r>
              <a:rPr lang="en-US" dirty="0"/>
              <a:t> e </a:t>
            </a:r>
            <a:r>
              <a:rPr lang="en-US" dirty="0" err="1"/>
              <a:t>autorização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Topic</a:t>
            </a:r>
            <a:r>
              <a:rPr lang="en-US" dirty="0"/>
              <a:t> : é o </a:t>
            </a:r>
            <a:r>
              <a:rPr lang="en-US" dirty="0" err="1"/>
              <a:t>agrupamento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categorização</a:t>
            </a:r>
            <a:r>
              <a:rPr lang="en-US" dirty="0"/>
              <a:t> das </a:t>
            </a:r>
            <a:r>
              <a:rPr lang="en-US" dirty="0" err="1"/>
              <a:t>mensagens</a:t>
            </a:r>
            <a:r>
              <a:rPr lang="en-US" dirty="0"/>
              <a:t>, </a:t>
            </a:r>
            <a:r>
              <a:rPr lang="en-US" dirty="0" err="1"/>
              <a:t>exemplos</a:t>
            </a:r>
            <a:r>
              <a:rPr lang="en-US" dirty="0"/>
              <a:t> de </a:t>
            </a:r>
            <a:r>
              <a:rPr lang="en-US" dirty="0" err="1"/>
              <a:t>tópicos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“</a:t>
            </a:r>
            <a:r>
              <a:rPr lang="en-US" dirty="0" err="1"/>
              <a:t>autenticacao</a:t>
            </a:r>
            <a:r>
              <a:rPr lang="en-US" dirty="0"/>
              <a:t>” que </a:t>
            </a:r>
            <a:r>
              <a:rPr lang="en-US" dirty="0" err="1"/>
              <a:t>receberá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as </a:t>
            </a:r>
            <a:r>
              <a:rPr lang="en-US" dirty="0" err="1"/>
              <a:t>mensagens</a:t>
            </a:r>
            <a:r>
              <a:rPr lang="en-US" dirty="0"/>
              <a:t> de </a:t>
            </a:r>
            <a:r>
              <a:rPr lang="en-US" dirty="0" err="1"/>
              <a:t>autenticação</a:t>
            </a:r>
            <a:r>
              <a:rPr lang="en-US" dirty="0"/>
              <a:t>, e outro </a:t>
            </a:r>
            <a:r>
              <a:rPr lang="en-US" dirty="0" err="1"/>
              <a:t>tópico</a:t>
            </a:r>
            <a:r>
              <a:rPr lang="en-US" dirty="0"/>
              <a:t> </a:t>
            </a:r>
            <a:r>
              <a:rPr lang="en-US" dirty="0" err="1"/>
              <a:t>chamado</a:t>
            </a:r>
            <a:r>
              <a:rPr lang="en-US" dirty="0"/>
              <a:t> “</a:t>
            </a:r>
            <a:r>
              <a:rPr lang="en-US" dirty="0" err="1"/>
              <a:t>autorizacao</a:t>
            </a:r>
            <a:r>
              <a:rPr lang="en-US" dirty="0"/>
              <a:t>”.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Producer</a:t>
            </a:r>
            <a:r>
              <a:rPr lang="en-US" dirty="0"/>
              <a:t> : </a:t>
            </a:r>
            <a:r>
              <a:rPr lang="en-US" dirty="0" err="1"/>
              <a:t>aplicações</a:t>
            </a:r>
            <a:r>
              <a:rPr lang="en-US" dirty="0"/>
              <a:t> </a:t>
            </a:r>
            <a:r>
              <a:rPr lang="en-US" dirty="0" err="1"/>
              <a:t>responsáveis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gerar</a:t>
            </a:r>
            <a:r>
              <a:rPr lang="en-US" dirty="0"/>
              <a:t> as </a:t>
            </a:r>
            <a:r>
              <a:rPr lang="en-US" dirty="0" err="1"/>
              <a:t>mensagens</a:t>
            </a:r>
            <a:r>
              <a:rPr lang="en-US" dirty="0"/>
              <a:t> e </a:t>
            </a:r>
            <a:r>
              <a:rPr lang="en-US" dirty="0" err="1"/>
              <a:t>enviá</a:t>
            </a:r>
            <a:r>
              <a:rPr lang="en-US" dirty="0"/>
              <a:t>-las para o </a:t>
            </a:r>
            <a:r>
              <a:rPr lang="en-US" dirty="0" err="1"/>
              <a:t>respectivo</a:t>
            </a:r>
            <a:r>
              <a:rPr lang="en-US" dirty="0"/>
              <a:t> </a:t>
            </a:r>
            <a:r>
              <a:rPr lang="en-US" dirty="0" err="1"/>
              <a:t>tópico</a:t>
            </a:r>
            <a:r>
              <a:rPr lang="en-US" dirty="0"/>
              <a:t>.  Nesta POC, o Gaudi </a:t>
            </a:r>
            <a:r>
              <a:rPr lang="en-US" dirty="0" err="1"/>
              <a:t>envia</a:t>
            </a:r>
            <a:r>
              <a:rPr lang="en-US" dirty="0"/>
              <a:t> as </a:t>
            </a:r>
            <a:r>
              <a:rPr lang="en-US" dirty="0" err="1"/>
              <a:t>mensagens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do Logstash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Consumer</a:t>
            </a:r>
            <a:r>
              <a:rPr lang="en-US" dirty="0"/>
              <a:t> : </a:t>
            </a:r>
            <a:r>
              <a:rPr lang="en-US" dirty="0" err="1"/>
              <a:t>aplicações</a:t>
            </a:r>
            <a:r>
              <a:rPr lang="en-US" dirty="0"/>
              <a:t> que </a:t>
            </a:r>
            <a:r>
              <a:rPr lang="en-US" dirty="0" err="1"/>
              <a:t>irão</a:t>
            </a:r>
            <a:r>
              <a:rPr lang="en-US" dirty="0"/>
              <a:t> </a:t>
            </a:r>
            <a:r>
              <a:rPr lang="en-US" dirty="0" err="1"/>
              <a:t>pegar</a:t>
            </a:r>
            <a:r>
              <a:rPr lang="en-US" dirty="0"/>
              <a:t> as </a:t>
            </a:r>
            <a:r>
              <a:rPr lang="en-US" dirty="0" err="1"/>
              <a:t>mensagens</a:t>
            </a:r>
            <a:r>
              <a:rPr lang="en-US" dirty="0"/>
              <a:t> </a:t>
            </a:r>
            <a:r>
              <a:rPr lang="en-US" dirty="0" err="1"/>
              <a:t>geradas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producer para </a:t>
            </a:r>
            <a:r>
              <a:rPr lang="en-US" dirty="0" err="1"/>
              <a:t>processamento</a:t>
            </a:r>
            <a:r>
              <a:rPr lang="en-US" dirty="0"/>
              <a:t> (</a:t>
            </a:r>
            <a:r>
              <a:rPr lang="en-US" dirty="0" err="1"/>
              <a:t>nesta</a:t>
            </a:r>
            <a:r>
              <a:rPr lang="en-US" dirty="0"/>
              <a:t> POC é o Spark)</a:t>
            </a:r>
          </a:p>
        </p:txBody>
      </p:sp>
    </p:spTree>
    <p:extLst>
      <p:ext uri="{BB962C8B-B14F-4D97-AF65-F5344CB8AC3E}">
        <p14:creationId xmlns:p14="http://schemas.microsoft.com/office/powerpoint/2010/main" val="322974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tângulo 123">
            <a:extLst>
              <a:ext uri="{FF2B5EF4-FFF2-40B4-BE49-F238E27FC236}">
                <a16:creationId xmlns:a16="http://schemas.microsoft.com/office/drawing/2014/main" id="{3EA46AB4-7046-4D59-876D-ED27A16CB375}"/>
              </a:ext>
            </a:extLst>
          </p:cNvPr>
          <p:cNvSpPr/>
          <p:nvPr/>
        </p:nvSpPr>
        <p:spPr>
          <a:xfrm>
            <a:off x="7172979" y="3105150"/>
            <a:ext cx="1730621" cy="331461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123" name="Retângulo 122">
            <a:extLst>
              <a:ext uri="{FF2B5EF4-FFF2-40B4-BE49-F238E27FC236}">
                <a16:creationId xmlns:a16="http://schemas.microsoft.com/office/drawing/2014/main" id="{8EC313F6-8874-4B41-9DDF-920111BD6358}"/>
              </a:ext>
            </a:extLst>
          </p:cNvPr>
          <p:cNvSpPr/>
          <p:nvPr/>
        </p:nvSpPr>
        <p:spPr>
          <a:xfrm>
            <a:off x="2533650" y="3105150"/>
            <a:ext cx="1730621" cy="331461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369CF5C-4DC5-470C-A122-6300CA41BD36}"/>
              </a:ext>
            </a:extLst>
          </p:cNvPr>
          <p:cNvSpPr/>
          <p:nvPr/>
        </p:nvSpPr>
        <p:spPr>
          <a:xfrm>
            <a:off x="4687392" y="3105150"/>
            <a:ext cx="2013357" cy="33146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31F664-3E4D-4498-B992-5F9EBC41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kafka</a:t>
            </a:r>
            <a:endParaRPr lang="pt-BR" dirty="0"/>
          </a:p>
        </p:txBody>
      </p:sp>
      <p:pic>
        <p:nvPicPr>
          <p:cNvPr id="9" name="Gráfico 8" descr="Hierarquia">
            <a:extLst>
              <a:ext uri="{FF2B5EF4-FFF2-40B4-BE49-F238E27FC236}">
                <a16:creationId xmlns:a16="http://schemas.microsoft.com/office/drawing/2014/main" id="{0F5C8AEF-624C-48F0-9BAD-F45C70B30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6870" y="3462385"/>
            <a:ext cx="914400" cy="9144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C6C2F305-1D1C-4075-839D-C15B2BAD3D6C}"/>
              </a:ext>
            </a:extLst>
          </p:cNvPr>
          <p:cNvSpPr txBox="1"/>
          <p:nvPr/>
        </p:nvSpPr>
        <p:spPr>
          <a:xfrm>
            <a:off x="4778980" y="3082092"/>
            <a:ext cx="183018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300" b="1" dirty="0">
                <a:solidFill>
                  <a:schemeClr val="accent2">
                    <a:lumMod val="75000"/>
                  </a:schemeClr>
                </a:solidFill>
              </a:rPr>
              <a:t>Cluster Kafka</a:t>
            </a:r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4D8CA3C4-EA7D-4145-A4D1-8E802E2B22A4}"/>
              </a:ext>
            </a:extLst>
          </p:cNvPr>
          <p:cNvGrpSpPr/>
          <p:nvPr/>
        </p:nvGrpSpPr>
        <p:grpSpPr>
          <a:xfrm>
            <a:off x="6371201" y="4543026"/>
            <a:ext cx="1079410" cy="914400"/>
            <a:chOff x="3450809" y="3766824"/>
            <a:chExt cx="1079410" cy="914400"/>
          </a:xfrm>
        </p:grpSpPr>
        <p:pic>
          <p:nvPicPr>
            <p:cNvPr id="41" name="Gráfico 40" descr="Seta: curva ligeira">
              <a:extLst>
                <a:ext uri="{FF2B5EF4-FFF2-40B4-BE49-F238E27FC236}">
                  <a16:creationId xmlns:a16="http://schemas.microsoft.com/office/drawing/2014/main" id="{5080CD9A-2BBC-4B15-848D-EC7D46E40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42" name="Agrupar 41">
              <a:extLst>
                <a:ext uri="{FF2B5EF4-FFF2-40B4-BE49-F238E27FC236}">
                  <a16:creationId xmlns:a16="http://schemas.microsoft.com/office/drawing/2014/main" id="{ECBFE7C3-DC08-4FFE-B038-E1AA113E99C6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5A79A7B0-9FC3-46D1-897E-0CFDBA949C79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44" name="Gráfico 43" descr="Envelope">
                <a:extLst>
                  <a:ext uri="{FF2B5EF4-FFF2-40B4-BE49-F238E27FC236}">
                    <a16:creationId xmlns:a16="http://schemas.microsoft.com/office/drawing/2014/main" id="{5009417D-A028-42F9-A4A1-611C36FA3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0C8A0461-E6AA-4285-94BE-F0AD034D723D}"/>
              </a:ext>
            </a:extLst>
          </p:cNvPr>
          <p:cNvGrpSpPr/>
          <p:nvPr/>
        </p:nvGrpSpPr>
        <p:grpSpPr>
          <a:xfrm>
            <a:off x="2709065" y="3648075"/>
            <a:ext cx="1379790" cy="2771688"/>
            <a:chOff x="2673060" y="2831671"/>
            <a:chExt cx="1466235" cy="2945336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10142769-8BD1-4521-B746-B6D02BF415C6}"/>
                </a:ext>
              </a:extLst>
            </p:cNvPr>
            <p:cNvGrpSpPr/>
            <p:nvPr/>
          </p:nvGrpSpPr>
          <p:grpSpPr>
            <a:xfrm>
              <a:off x="2673060" y="3768741"/>
              <a:ext cx="1466235" cy="1071195"/>
              <a:chOff x="389095" y="3059668"/>
              <a:chExt cx="1466235" cy="1071195"/>
            </a:xfrm>
          </p:grpSpPr>
          <p:pic>
            <p:nvPicPr>
              <p:cNvPr id="5" name="Gráfico 4" descr="Computador">
                <a:extLst>
                  <a:ext uri="{FF2B5EF4-FFF2-40B4-BE49-F238E27FC236}">
                    <a16:creationId xmlns:a16="http://schemas.microsoft.com/office/drawing/2014/main" id="{ACDEFD00-E210-4F32-9AD7-BAABAEE62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9C701AD-6967-4201-878A-EB262D72C3E1}"/>
                  </a:ext>
                </a:extLst>
              </p:cNvPr>
              <p:cNvSpPr txBox="1"/>
              <p:nvPr/>
            </p:nvSpPr>
            <p:spPr>
              <a:xfrm>
                <a:off x="389095" y="3059668"/>
                <a:ext cx="14662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/>
                  <a:t>App Parceiros</a:t>
                </a:r>
              </a:p>
            </p:txBody>
          </p:sp>
        </p:grp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6CA3BE6E-B82B-4662-936B-654EC8327E73}"/>
                </a:ext>
              </a:extLst>
            </p:cNvPr>
            <p:cNvGrpSpPr/>
            <p:nvPr/>
          </p:nvGrpSpPr>
          <p:grpSpPr>
            <a:xfrm>
              <a:off x="2732848" y="4705812"/>
              <a:ext cx="1346651" cy="1071195"/>
              <a:chOff x="448883" y="3059668"/>
              <a:chExt cx="1346651" cy="1071195"/>
            </a:xfrm>
          </p:grpSpPr>
          <p:pic>
            <p:nvPicPr>
              <p:cNvPr id="46" name="Gráfico 45" descr="Computador">
                <a:extLst>
                  <a:ext uri="{FF2B5EF4-FFF2-40B4-BE49-F238E27FC236}">
                    <a16:creationId xmlns:a16="http://schemas.microsoft.com/office/drawing/2014/main" id="{0DC9B8EB-94AA-4E17-A70C-C90065CD08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7E17FB88-AF8B-4DBC-A934-1CC365E506C6}"/>
                  </a:ext>
                </a:extLst>
              </p:cNvPr>
              <p:cNvSpPr txBox="1"/>
              <p:nvPr/>
            </p:nvSpPr>
            <p:spPr>
              <a:xfrm>
                <a:off x="448883" y="3059668"/>
                <a:ext cx="13466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/>
                  <a:t>App Internas</a:t>
                </a:r>
              </a:p>
            </p:txBody>
          </p:sp>
        </p:grpSp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25486D6A-6ABC-4B4C-8188-BF953F3A36DA}"/>
                </a:ext>
              </a:extLst>
            </p:cNvPr>
            <p:cNvGrpSpPr/>
            <p:nvPr/>
          </p:nvGrpSpPr>
          <p:grpSpPr>
            <a:xfrm>
              <a:off x="2779368" y="2831671"/>
              <a:ext cx="1253613" cy="1071195"/>
              <a:chOff x="495403" y="3059668"/>
              <a:chExt cx="1253613" cy="1071195"/>
            </a:xfrm>
          </p:grpSpPr>
          <p:pic>
            <p:nvPicPr>
              <p:cNvPr id="49" name="Gráfico 48" descr="Computador">
                <a:extLst>
                  <a:ext uri="{FF2B5EF4-FFF2-40B4-BE49-F238E27FC236}">
                    <a16:creationId xmlns:a16="http://schemas.microsoft.com/office/drawing/2014/main" id="{FE2DA0C2-1162-477D-868C-1C0D1624F5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79958B25-FDF9-43FD-8809-5E92F3A69B61}"/>
                  </a:ext>
                </a:extLst>
              </p:cNvPr>
              <p:cNvSpPr txBox="1"/>
              <p:nvPr/>
            </p:nvSpPr>
            <p:spPr>
              <a:xfrm>
                <a:off x="495403" y="3059668"/>
                <a:ext cx="1253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/>
                  <a:t>App Twitter</a:t>
                </a:r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DEBDCDDE-CA7C-4291-B543-43E028D9BE74}"/>
              </a:ext>
            </a:extLst>
          </p:cNvPr>
          <p:cNvGrpSpPr/>
          <p:nvPr/>
        </p:nvGrpSpPr>
        <p:grpSpPr>
          <a:xfrm>
            <a:off x="7471698" y="3648075"/>
            <a:ext cx="1133182" cy="2771688"/>
            <a:chOff x="7414251" y="2829754"/>
            <a:chExt cx="1204177" cy="2945336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E4BC7FE-FC0E-47C3-A745-90A6068066E6}"/>
                </a:ext>
              </a:extLst>
            </p:cNvPr>
            <p:cNvGrpSpPr/>
            <p:nvPr/>
          </p:nvGrpSpPr>
          <p:grpSpPr>
            <a:xfrm>
              <a:off x="7426273" y="3766824"/>
              <a:ext cx="1180131" cy="1071195"/>
              <a:chOff x="532141" y="3059668"/>
              <a:chExt cx="1180131" cy="1071195"/>
            </a:xfrm>
          </p:grpSpPr>
          <p:pic>
            <p:nvPicPr>
              <p:cNvPr id="52" name="Gráfico 51" descr="Computador">
                <a:extLst>
                  <a:ext uri="{FF2B5EF4-FFF2-40B4-BE49-F238E27FC236}">
                    <a16:creationId xmlns:a16="http://schemas.microsoft.com/office/drawing/2014/main" id="{E95645C1-040D-4D72-B26C-EFA4A8719F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A0689A77-A56D-4650-AF00-C3F22CB44A92}"/>
                  </a:ext>
                </a:extLst>
              </p:cNvPr>
              <p:cNvSpPr txBox="1"/>
              <p:nvPr/>
            </p:nvSpPr>
            <p:spPr>
              <a:xfrm>
                <a:off x="532141" y="3059668"/>
                <a:ext cx="1180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 err="1"/>
                  <a:t>ConsumerB</a:t>
                </a:r>
                <a:endParaRPr lang="pt-BR" dirty="0"/>
              </a:p>
            </p:txBody>
          </p:sp>
        </p:grpSp>
        <p:grpSp>
          <p:nvGrpSpPr>
            <p:cNvPr id="54" name="Agrupar 53">
              <a:extLst>
                <a:ext uri="{FF2B5EF4-FFF2-40B4-BE49-F238E27FC236}">
                  <a16:creationId xmlns:a16="http://schemas.microsoft.com/office/drawing/2014/main" id="{BA3A23B3-AF24-4843-BDA0-E0A795F7C1C7}"/>
                </a:ext>
              </a:extLst>
            </p:cNvPr>
            <p:cNvGrpSpPr/>
            <p:nvPr/>
          </p:nvGrpSpPr>
          <p:grpSpPr>
            <a:xfrm>
              <a:off x="7414251" y="4703895"/>
              <a:ext cx="1204176" cy="1071195"/>
              <a:chOff x="520119" y="3059668"/>
              <a:chExt cx="1204176" cy="1071195"/>
            </a:xfrm>
          </p:grpSpPr>
          <p:pic>
            <p:nvPicPr>
              <p:cNvPr id="55" name="Gráfico 54" descr="Computador">
                <a:extLst>
                  <a:ext uri="{FF2B5EF4-FFF2-40B4-BE49-F238E27FC236}">
                    <a16:creationId xmlns:a16="http://schemas.microsoft.com/office/drawing/2014/main" id="{791256E2-BDB4-4E13-B954-614F9BFF30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47E46551-9F4F-4825-A1DC-6EEE3F748635}"/>
                  </a:ext>
                </a:extLst>
              </p:cNvPr>
              <p:cNvSpPr txBox="1"/>
              <p:nvPr/>
            </p:nvSpPr>
            <p:spPr>
              <a:xfrm>
                <a:off x="520119" y="3059668"/>
                <a:ext cx="120417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 err="1"/>
                  <a:t>ConsumerC</a:t>
                </a:r>
                <a:endParaRPr lang="pt-BR" dirty="0"/>
              </a:p>
              <a:p>
                <a:pPr algn="ctr"/>
                <a:endParaRPr lang="pt-BR" dirty="0"/>
              </a:p>
            </p:txBody>
          </p: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id="{499F7FB9-E102-48C7-B80F-C0BCE115EEB5}"/>
                </a:ext>
              </a:extLst>
            </p:cNvPr>
            <p:cNvGrpSpPr/>
            <p:nvPr/>
          </p:nvGrpSpPr>
          <p:grpSpPr>
            <a:xfrm>
              <a:off x="7414252" y="2829754"/>
              <a:ext cx="1204176" cy="1071195"/>
              <a:chOff x="520120" y="3059668"/>
              <a:chExt cx="1204176" cy="1071195"/>
            </a:xfrm>
          </p:grpSpPr>
          <p:pic>
            <p:nvPicPr>
              <p:cNvPr id="58" name="Gráfico 57" descr="Computador">
                <a:extLst>
                  <a:ext uri="{FF2B5EF4-FFF2-40B4-BE49-F238E27FC236}">
                    <a16:creationId xmlns:a16="http://schemas.microsoft.com/office/drawing/2014/main" id="{58ADF007-42A6-4921-832E-34F3DE100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D28CA5B6-3A1C-4B26-BF77-90AB0814201D}"/>
                  </a:ext>
                </a:extLst>
              </p:cNvPr>
              <p:cNvSpPr txBox="1"/>
              <p:nvPr/>
            </p:nvSpPr>
            <p:spPr>
              <a:xfrm>
                <a:off x="520120" y="3059668"/>
                <a:ext cx="1204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 err="1"/>
                  <a:t>ConsumerA</a:t>
                </a:r>
                <a:endParaRPr lang="pt-BR" dirty="0"/>
              </a:p>
            </p:txBody>
          </p:sp>
        </p:grp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234CEC0C-4F53-4F24-9E91-D876F79C1061}"/>
              </a:ext>
            </a:extLst>
          </p:cNvPr>
          <p:cNvGrpSpPr/>
          <p:nvPr/>
        </p:nvGrpSpPr>
        <p:grpSpPr>
          <a:xfrm rot="1181874">
            <a:off x="6371201" y="5053544"/>
            <a:ext cx="1079410" cy="914400"/>
            <a:chOff x="3450809" y="3766824"/>
            <a:chExt cx="1079410" cy="914400"/>
          </a:xfrm>
        </p:grpSpPr>
        <p:pic>
          <p:nvPicPr>
            <p:cNvPr id="61" name="Gráfico 60" descr="Seta: curva ligeira">
              <a:extLst>
                <a:ext uri="{FF2B5EF4-FFF2-40B4-BE49-F238E27FC236}">
                  <a16:creationId xmlns:a16="http://schemas.microsoft.com/office/drawing/2014/main" id="{C9A0437A-0D18-40AC-ADB9-28C23A3F9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id="{1D911C17-A5DE-4834-9972-F6147B852A88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63" name="Retângulo 62">
                <a:extLst>
                  <a:ext uri="{FF2B5EF4-FFF2-40B4-BE49-F238E27FC236}">
                    <a16:creationId xmlns:a16="http://schemas.microsoft.com/office/drawing/2014/main" id="{378A650D-BD95-40B2-BD2C-899049D7BB69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64" name="Gráfico 63" descr="Envelope">
                <a:extLst>
                  <a:ext uri="{FF2B5EF4-FFF2-40B4-BE49-F238E27FC236}">
                    <a16:creationId xmlns:a16="http://schemas.microsoft.com/office/drawing/2014/main" id="{9E891E41-0DF1-4924-B1A5-A24C70B995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9A70D72F-6758-4EE1-8E41-D7BE9CFE85EB}"/>
              </a:ext>
            </a:extLst>
          </p:cNvPr>
          <p:cNvGrpSpPr/>
          <p:nvPr/>
        </p:nvGrpSpPr>
        <p:grpSpPr>
          <a:xfrm rot="20261418">
            <a:off x="6371201" y="3990992"/>
            <a:ext cx="1079410" cy="914400"/>
            <a:chOff x="3450809" y="3766824"/>
            <a:chExt cx="1079410" cy="914400"/>
          </a:xfrm>
        </p:grpSpPr>
        <p:pic>
          <p:nvPicPr>
            <p:cNvPr id="66" name="Gráfico 65" descr="Seta: curva ligeira">
              <a:extLst>
                <a:ext uri="{FF2B5EF4-FFF2-40B4-BE49-F238E27FC236}">
                  <a16:creationId xmlns:a16="http://schemas.microsoft.com/office/drawing/2014/main" id="{CAA601AD-CA8C-4AE1-9216-599E615D5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67" name="Agrupar 66">
              <a:extLst>
                <a:ext uri="{FF2B5EF4-FFF2-40B4-BE49-F238E27FC236}">
                  <a16:creationId xmlns:a16="http://schemas.microsoft.com/office/drawing/2014/main" id="{B1905097-8638-47B0-B5F3-8EB2B6C64E8C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id="{11E7F63F-5765-4B7D-B0B4-A8D764BEDD2B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69" name="Gráfico 68" descr="Envelope">
                <a:extLst>
                  <a:ext uri="{FF2B5EF4-FFF2-40B4-BE49-F238E27FC236}">
                    <a16:creationId xmlns:a16="http://schemas.microsoft.com/office/drawing/2014/main" id="{C008883A-F9A0-45D3-8CBA-E524A78B22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573583CC-8D87-484D-889A-4589DEE2268B}"/>
              </a:ext>
            </a:extLst>
          </p:cNvPr>
          <p:cNvGrpSpPr/>
          <p:nvPr/>
        </p:nvGrpSpPr>
        <p:grpSpPr>
          <a:xfrm rot="21358998">
            <a:off x="3889455" y="4695426"/>
            <a:ext cx="1079410" cy="914400"/>
            <a:chOff x="3450809" y="3766824"/>
            <a:chExt cx="1079410" cy="914400"/>
          </a:xfrm>
        </p:grpSpPr>
        <p:pic>
          <p:nvPicPr>
            <p:cNvPr id="71" name="Gráfico 70" descr="Seta: curva ligeira">
              <a:extLst>
                <a:ext uri="{FF2B5EF4-FFF2-40B4-BE49-F238E27FC236}">
                  <a16:creationId xmlns:a16="http://schemas.microsoft.com/office/drawing/2014/main" id="{871B05E1-1447-4BD8-9D5D-D118E6AC8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id="{D21A0642-A87A-44E3-BA05-A79FF2A1B438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73" name="Retângulo 72">
                <a:extLst>
                  <a:ext uri="{FF2B5EF4-FFF2-40B4-BE49-F238E27FC236}">
                    <a16:creationId xmlns:a16="http://schemas.microsoft.com/office/drawing/2014/main" id="{B4FD1B64-7707-4166-81E9-4AAE30E01F58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74" name="Gráfico 73" descr="Envelope">
                <a:extLst>
                  <a:ext uri="{FF2B5EF4-FFF2-40B4-BE49-F238E27FC236}">
                    <a16:creationId xmlns:a16="http://schemas.microsoft.com/office/drawing/2014/main" id="{480F54F7-2DEE-4D5F-ACB8-8B309132F7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5EFAB0D8-2029-42E4-B56C-27B948674BD7}"/>
              </a:ext>
            </a:extLst>
          </p:cNvPr>
          <p:cNvGrpSpPr/>
          <p:nvPr/>
        </p:nvGrpSpPr>
        <p:grpSpPr>
          <a:xfrm rot="20352240">
            <a:off x="3889455" y="5205944"/>
            <a:ext cx="1079410" cy="914400"/>
            <a:chOff x="3450809" y="3766824"/>
            <a:chExt cx="1079410" cy="914400"/>
          </a:xfrm>
        </p:grpSpPr>
        <p:pic>
          <p:nvPicPr>
            <p:cNvPr id="76" name="Gráfico 75" descr="Seta: curva ligeira">
              <a:extLst>
                <a:ext uri="{FF2B5EF4-FFF2-40B4-BE49-F238E27FC236}">
                  <a16:creationId xmlns:a16="http://schemas.microsoft.com/office/drawing/2014/main" id="{1D4115D1-20EC-421F-B594-D6C1C1E82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F255C01A-3CB7-45FC-A84E-00E207AA0702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78" name="Retângulo 77">
                <a:extLst>
                  <a:ext uri="{FF2B5EF4-FFF2-40B4-BE49-F238E27FC236}">
                    <a16:creationId xmlns:a16="http://schemas.microsoft.com/office/drawing/2014/main" id="{822FC7A0-F620-490E-867D-070135CDCC4B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79" name="Gráfico 78" descr="Envelope">
                <a:extLst>
                  <a:ext uri="{FF2B5EF4-FFF2-40B4-BE49-F238E27FC236}">
                    <a16:creationId xmlns:a16="http://schemas.microsoft.com/office/drawing/2014/main" id="{4892B6E0-2B2E-4F23-81D5-D2C244366F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27B33190-DF4F-4AAF-B56A-DB07D39EE5E6}"/>
              </a:ext>
            </a:extLst>
          </p:cNvPr>
          <p:cNvGrpSpPr/>
          <p:nvPr/>
        </p:nvGrpSpPr>
        <p:grpSpPr>
          <a:xfrm rot="851090">
            <a:off x="3889455" y="4143392"/>
            <a:ext cx="1079410" cy="914400"/>
            <a:chOff x="3450809" y="3766824"/>
            <a:chExt cx="1079410" cy="914400"/>
          </a:xfrm>
        </p:grpSpPr>
        <p:pic>
          <p:nvPicPr>
            <p:cNvPr id="81" name="Gráfico 80" descr="Seta: curva ligeira">
              <a:extLst>
                <a:ext uri="{FF2B5EF4-FFF2-40B4-BE49-F238E27FC236}">
                  <a16:creationId xmlns:a16="http://schemas.microsoft.com/office/drawing/2014/main" id="{E4978199-7DC8-4777-9413-7396EFC4A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82" name="Agrupar 81">
              <a:extLst>
                <a:ext uri="{FF2B5EF4-FFF2-40B4-BE49-F238E27FC236}">
                  <a16:creationId xmlns:a16="http://schemas.microsoft.com/office/drawing/2014/main" id="{C6453562-A631-4DCD-B983-16E1D447326D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id="{E7C3C5A3-DA00-478B-99C3-AEC7A1ABF0BB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84" name="Gráfico 83" descr="Envelope">
                <a:extLst>
                  <a:ext uri="{FF2B5EF4-FFF2-40B4-BE49-F238E27FC236}">
                    <a16:creationId xmlns:a16="http://schemas.microsoft.com/office/drawing/2014/main" id="{F8FC55B0-5DFB-4BE7-A0D2-156CC8E32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CBC3D257-E3D2-47A0-B9EC-C3D232BCF113}"/>
              </a:ext>
            </a:extLst>
          </p:cNvPr>
          <p:cNvGrpSpPr/>
          <p:nvPr/>
        </p:nvGrpSpPr>
        <p:grpSpPr>
          <a:xfrm>
            <a:off x="5025771" y="4560152"/>
            <a:ext cx="1376351" cy="323165"/>
            <a:chOff x="5025771" y="3853554"/>
            <a:chExt cx="1376351" cy="323165"/>
          </a:xfrm>
        </p:grpSpPr>
        <p:sp>
          <p:nvSpPr>
            <p:cNvPr id="87" name="Cilindro 86">
              <a:extLst>
                <a:ext uri="{FF2B5EF4-FFF2-40B4-BE49-F238E27FC236}">
                  <a16:creationId xmlns:a16="http://schemas.microsoft.com/office/drawing/2014/main" id="{6D6669CE-459A-4C35-A6C2-E6D8E39A57C0}"/>
                </a:ext>
              </a:extLst>
            </p:cNvPr>
            <p:cNvSpPr/>
            <p:nvPr/>
          </p:nvSpPr>
          <p:spPr>
            <a:xfrm rot="16200000">
              <a:off x="5580729" y="3326962"/>
              <a:ext cx="266435" cy="1376351"/>
            </a:xfrm>
            <a:prstGeom prst="can">
              <a:avLst/>
            </a:prstGeom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88" name="CaixaDeTexto 87">
              <a:extLst>
                <a:ext uri="{FF2B5EF4-FFF2-40B4-BE49-F238E27FC236}">
                  <a16:creationId xmlns:a16="http://schemas.microsoft.com/office/drawing/2014/main" id="{8474B2F4-C40F-4EA0-9D31-BABF000A07FA}"/>
                </a:ext>
              </a:extLst>
            </p:cNvPr>
            <p:cNvSpPr txBox="1"/>
            <p:nvPr/>
          </p:nvSpPr>
          <p:spPr>
            <a:xfrm>
              <a:off x="5372346" y="3853554"/>
              <a:ext cx="85151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" dirty="0">
                  <a:solidFill>
                    <a:schemeClr val="bg1"/>
                  </a:solidFill>
                </a:rPr>
                <a:t>Tópico A</a:t>
              </a:r>
            </a:p>
          </p:txBody>
        </p:sp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12C7F1E5-ED84-4D74-B740-D2B0DBFE88B2}"/>
              </a:ext>
            </a:extLst>
          </p:cNvPr>
          <p:cNvGrpSpPr/>
          <p:nvPr/>
        </p:nvGrpSpPr>
        <p:grpSpPr>
          <a:xfrm>
            <a:off x="5019934" y="5057089"/>
            <a:ext cx="1376351" cy="323165"/>
            <a:chOff x="5025771" y="3853554"/>
            <a:chExt cx="1376351" cy="323165"/>
          </a:xfrm>
        </p:grpSpPr>
        <p:sp>
          <p:nvSpPr>
            <p:cNvPr id="106" name="Cilindro 105">
              <a:extLst>
                <a:ext uri="{FF2B5EF4-FFF2-40B4-BE49-F238E27FC236}">
                  <a16:creationId xmlns:a16="http://schemas.microsoft.com/office/drawing/2014/main" id="{5F4C0C91-7413-4A8D-986A-D41CD14C32F2}"/>
                </a:ext>
              </a:extLst>
            </p:cNvPr>
            <p:cNvSpPr/>
            <p:nvPr/>
          </p:nvSpPr>
          <p:spPr>
            <a:xfrm rot="16200000">
              <a:off x="5580729" y="3326962"/>
              <a:ext cx="266435" cy="1376351"/>
            </a:xfrm>
            <a:prstGeom prst="can">
              <a:avLst/>
            </a:prstGeom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6F680D02-7AD6-40A2-B2BC-E8B1252369E6}"/>
                </a:ext>
              </a:extLst>
            </p:cNvPr>
            <p:cNvSpPr txBox="1"/>
            <p:nvPr/>
          </p:nvSpPr>
          <p:spPr>
            <a:xfrm>
              <a:off x="5372346" y="3853554"/>
              <a:ext cx="83227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" dirty="0">
                  <a:solidFill>
                    <a:schemeClr val="bg1"/>
                  </a:solidFill>
                </a:rPr>
                <a:t>Tópico B</a:t>
              </a:r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AFFAAA1D-451B-42DB-96E5-405D53673265}"/>
              </a:ext>
            </a:extLst>
          </p:cNvPr>
          <p:cNvGrpSpPr/>
          <p:nvPr/>
        </p:nvGrpSpPr>
        <p:grpSpPr>
          <a:xfrm>
            <a:off x="5021353" y="5825589"/>
            <a:ext cx="1545762" cy="498755"/>
            <a:chOff x="5465522" y="5281912"/>
            <a:chExt cx="1545762" cy="498755"/>
          </a:xfrm>
        </p:grpSpPr>
        <p:grpSp>
          <p:nvGrpSpPr>
            <p:cNvPr id="117" name="Agrupar 116">
              <a:extLst>
                <a:ext uri="{FF2B5EF4-FFF2-40B4-BE49-F238E27FC236}">
                  <a16:creationId xmlns:a16="http://schemas.microsoft.com/office/drawing/2014/main" id="{0B553E60-2D10-4EB6-9F2B-043D725BBD06}"/>
                </a:ext>
              </a:extLst>
            </p:cNvPr>
            <p:cNvGrpSpPr/>
            <p:nvPr/>
          </p:nvGrpSpPr>
          <p:grpSpPr>
            <a:xfrm>
              <a:off x="5465522" y="5283730"/>
              <a:ext cx="496937" cy="496937"/>
              <a:chOff x="4879527" y="1524001"/>
              <a:chExt cx="615595" cy="615595"/>
            </a:xfrm>
          </p:grpSpPr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id="{2929D351-ABE3-40E0-9460-2CA995AB40D5}"/>
                  </a:ext>
                </a:extLst>
              </p:cNvPr>
              <p:cNvSpPr/>
              <p:nvPr/>
            </p:nvSpPr>
            <p:spPr>
              <a:xfrm>
                <a:off x="5115268" y="1530954"/>
                <a:ext cx="371099" cy="477704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sp>
            <p:nvSpPr>
              <p:cNvPr id="115" name="Retângulo 114">
                <a:extLst>
                  <a:ext uri="{FF2B5EF4-FFF2-40B4-BE49-F238E27FC236}">
                    <a16:creationId xmlns:a16="http://schemas.microsoft.com/office/drawing/2014/main" id="{2772434D-BDF0-4884-9B13-DFBCA4F4ECDE}"/>
                  </a:ext>
                </a:extLst>
              </p:cNvPr>
              <p:cNvSpPr/>
              <p:nvPr/>
            </p:nvSpPr>
            <p:spPr>
              <a:xfrm>
                <a:off x="4995409" y="1589677"/>
                <a:ext cx="371099" cy="47770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pic>
            <p:nvPicPr>
              <p:cNvPr id="114" name="Gráfico 113" descr="Documento">
                <a:extLst>
                  <a:ext uri="{FF2B5EF4-FFF2-40B4-BE49-F238E27FC236}">
                    <a16:creationId xmlns:a16="http://schemas.microsoft.com/office/drawing/2014/main" id="{1246F510-99B4-4E69-8A53-2308B257D2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879527" y="1524001"/>
                <a:ext cx="615595" cy="615595"/>
              </a:xfrm>
              <a:prstGeom prst="rect">
                <a:avLst/>
              </a:prstGeom>
            </p:spPr>
          </p:pic>
        </p:grpSp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id="{EAA80503-360F-4BB5-B45F-9A66079BB24C}"/>
                </a:ext>
              </a:extLst>
            </p:cNvPr>
            <p:cNvSpPr txBox="1"/>
            <p:nvPr/>
          </p:nvSpPr>
          <p:spPr>
            <a:xfrm>
              <a:off x="5933792" y="5281912"/>
              <a:ext cx="107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chemeClr val="accent2">
                      <a:lumMod val="75000"/>
                    </a:schemeClr>
                  </a:solidFill>
                  <a:latin typeface="Arial Black" panose="020B0A04020102020204" pitchFamily="34" charset="0"/>
                </a:rPr>
                <a:t>Kafka File System</a:t>
              </a:r>
            </a:p>
          </p:txBody>
        </p:sp>
      </p:grpSp>
      <p:sp>
        <p:nvSpPr>
          <p:cNvPr id="120" name="Seta: para Baixo 119">
            <a:extLst>
              <a:ext uri="{FF2B5EF4-FFF2-40B4-BE49-F238E27FC236}">
                <a16:creationId xmlns:a16="http://schemas.microsoft.com/office/drawing/2014/main" id="{F4863E6F-7EB0-4694-A6ED-981F6A32DD90}"/>
              </a:ext>
            </a:extLst>
          </p:cNvPr>
          <p:cNvSpPr/>
          <p:nvPr/>
        </p:nvSpPr>
        <p:spPr>
          <a:xfrm>
            <a:off x="5489623" y="5575713"/>
            <a:ext cx="560086" cy="247867"/>
          </a:xfrm>
          <a:prstGeom prst="downArrow">
            <a:avLst/>
          </a:prstGeom>
          <a:gradFill flip="none" rotWithShape="1">
            <a:gsLst>
              <a:gs pos="100000">
                <a:schemeClr val="accent2">
                  <a:lumMod val="40000"/>
                  <a:lumOff val="60000"/>
                </a:schemeClr>
              </a:gs>
              <a:gs pos="0">
                <a:schemeClr val="accent2">
                  <a:lumMod val="5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A2543738-E6E9-4E12-B3E4-3D415C6B6F95}"/>
              </a:ext>
            </a:extLst>
          </p:cNvPr>
          <p:cNvSpPr txBox="1"/>
          <p:nvPr/>
        </p:nvSpPr>
        <p:spPr>
          <a:xfrm>
            <a:off x="2706303" y="3082092"/>
            <a:ext cx="138531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300" b="1" dirty="0" err="1"/>
              <a:t>Producers</a:t>
            </a:r>
            <a:endParaRPr lang="pt-BR" sz="2300" b="1" dirty="0"/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41F7938C-AD94-4854-8CFA-B5C77AAD5770}"/>
              </a:ext>
            </a:extLst>
          </p:cNvPr>
          <p:cNvSpPr txBox="1"/>
          <p:nvPr/>
        </p:nvSpPr>
        <p:spPr>
          <a:xfrm>
            <a:off x="7263878" y="3082092"/>
            <a:ext cx="154882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300" b="1" dirty="0" err="1"/>
              <a:t>Consumers</a:t>
            </a:r>
            <a:endParaRPr lang="pt-BR" sz="2300" b="1" dirty="0"/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5390270E-1FE1-47C3-B058-38A3C2514FEE}"/>
              </a:ext>
            </a:extLst>
          </p:cNvPr>
          <p:cNvSpPr txBox="1"/>
          <p:nvPr/>
        </p:nvSpPr>
        <p:spPr>
          <a:xfrm>
            <a:off x="1141413" y="1911600"/>
            <a:ext cx="10963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Ao adicionar um cluster Kafka entre as aplicações geradoras de mensagens (</a:t>
            </a:r>
            <a:r>
              <a:rPr lang="pt-BR" dirty="0" err="1"/>
              <a:t>producers</a:t>
            </a:r>
            <a:r>
              <a:rPr lang="pt-BR" dirty="0"/>
              <a:t>) e os sistemas responsáveis pela ingestão desses dados (</a:t>
            </a:r>
            <a:r>
              <a:rPr lang="pt-BR" dirty="0" err="1"/>
              <a:t>consumers</a:t>
            </a:r>
            <a:r>
              <a:rPr lang="pt-BR" dirty="0"/>
              <a:t>), além de evitar uma possível perda de dados em caso de falha em um dos </a:t>
            </a:r>
            <a:r>
              <a:rPr lang="pt-BR" dirty="0" err="1"/>
              <a:t>consumers</a:t>
            </a:r>
            <a:r>
              <a:rPr lang="pt-BR" dirty="0"/>
              <a:t>, garantimos que os </a:t>
            </a:r>
            <a:r>
              <a:rPr lang="pt-BR" dirty="0" err="1"/>
              <a:t>consumers</a:t>
            </a:r>
            <a:r>
              <a:rPr lang="pt-BR" dirty="0"/>
              <a:t> não sejam sobrecarregados em eventuais aumentos súbitos de carga</a:t>
            </a:r>
          </a:p>
        </p:txBody>
      </p:sp>
    </p:spTree>
    <p:extLst>
      <p:ext uri="{BB962C8B-B14F-4D97-AF65-F5344CB8AC3E}">
        <p14:creationId xmlns:p14="http://schemas.microsoft.com/office/powerpoint/2010/main" val="232239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CD53548C-851C-4404-8296-A38B42992000}"/>
              </a:ext>
            </a:extLst>
          </p:cNvPr>
          <p:cNvSpPr/>
          <p:nvPr/>
        </p:nvSpPr>
        <p:spPr>
          <a:xfrm>
            <a:off x="6144630" y="8252120"/>
            <a:ext cx="1253019" cy="257325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endParaRPr lang="pt-BR" sz="15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Spark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Componente para processamento dos dados. Os itens principais são:</a:t>
            </a:r>
          </a:p>
          <a:p>
            <a:endParaRPr lang="en-US" b="1" dirty="0">
              <a:solidFill>
                <a:srgbClr val="FFC000"/>
              </a:solidFill>
            </a:endParaRPr>
          </a:p>
          <a:p>
            <a:r>
              <a:rPr lang="en-US" b="1" dirty="0">
                <a:solidFill>
                  <a:srgbClr val="FFC000"/>
                </a:solidFill>
              </a:rPr>
              <a:t>RDD: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(</a:t>
            </a:r>
            <a:r>
              <a:rPr lang="pt-BR" dirty="0" err="1"/>
              <a:t>Resilient</a:t>
            </a:r>
            <a:r>
              <a:rPr lang="pt-BR" dirty="0"/>
              <a:t> </a:t>
            </a:r>
            <a:r>
              <a:rPr lang="pt-BR" dirty="0" err="1"/>
              <a:t>Distributed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) é a coleção de dados imutável e distribuída. O </a:t>
            </a:r>
            <a:r>
              <a:rPr lang="pt-BR" dirty="0" err="1"/>
              <a:t>Spark</a:t>
            </a:r>
            <a:r>
              <a:rPr lang="pt-BR" dirty="0"/>
              <a:t> quebra os dados do RDD em pequenas partições e distribui para diferentes nós no cluster para obter a paralelização.</a:t>
            </a:r>
          </a:p>
          <a:p>
            <a:endParaRPr lang="pt-BR" dirty="0"/>
          </a:p>
          <a:p>
            <a:r>
              <a:rPr lang="en-US" b="1" dirty="0">
                <a:solidFill>
                  <a:srgbClr val="FFC000"/>
                </a:solidFill>
              </a:rPr>
              <a:t>Driver program</a:t>
            </a:r>
            <a:r>
              <a:rPr lang="en-US" dirty="0">
                <a:solidFill>
                  <a:srgbClr val="FFC000"/>
                </a:solidFill>
              </a:rPr>
              <a:t>:</a:t>
            </a:r>
            <a:r>
              <a:rPr lang="en-US" dirty="0"/>
              <a:t> 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do Spark, que </a:t>
            </a:r>
            <a:r>
              <a:rPr lang="en-US" dirty="0" err="1"/>
              <a:t>recebe</a:t>
            </a:r>
            <a:r>
              <a:rPr lang="en-US" dirty="0"/>
              <a:t> o script </a:t>
            </a:r>
            <a:r>
              <a:rPr lang="en-US" dirty="0" err="1"/>
              <a:t>enviado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usuário</a:t>
            </a:r>
            <a:r>
              <a:rPr lang="en-US" dirty="0"/>
              <a:t> (Java, Scala </a:t>
            </a:r>
            <a:r>
              <a:rPr lang="en-US" dirty="0" err="1"/>
              <a:t>ou</a:t>
            </a:r>
            <a:r>
              <a:rPr lang="en-US" dirty="0"/>
              <a:t> Python) e </a:t>
            </a:r>
            <a:r>
              <a:rPr lang="en-US" dirty="0" err="1"/>
              <a:t>cria</a:t>
            </a:r>
            <a:r>
              <a:rPr lang="en-US" dirty="0"/>
              <a:t> um  </a:t>
            </a:r>
            <a:r>
              <a:rPr lang="en-US" dirty="0" err="1"/>
              <a:t>SparkContext</a:t>
            </a:r>
            <a:endParaRPr lang="en-US" dirty="0"/>
          </a:p>
          <a:p>
            <a:endParaRPr lang="en-US" dirty="0"/>
          </a:p>
          <a:p>
            <a:r>
              <a:rPr lang="en-US" b="1" dirty="0" err="1">
                <a:solidFill>
                  <a:srgbClr val="FFC000"/>
                </a:solidFill>
              </a:rPr>
              <a:t>SparkContext</a:t>
            </a:r>
            <a:r>
              <a:rPr lang="en-US" dirty="0">
                <a:solidFill>
                  <a:srgbClr val="FFC000"/>
                </a:solidFill>
              </a:rPr>
              <a:t>: </a:t>
            </a:r>
            <a:r>
              <a:rPr lang="en-US" dirty="0"/>
              <a:t>é a </a:t>
            </a:r>
            <a:r>
              <a:rPr lang="en-US" dirty="0" err="1"/>
              <a:t>espinha</a:t>
            </a:r>
            <a:r>
              <a:rPr lang="en-US" dirty="0"/>
              <a:t> </a:t>
            </a:r>
            <a:r>
              <a:rPr lang="en-US" dirty="0" err="1"/>
              <a:t>dorçal</a:t>
            </a:r>
            <a:r>
              <a:rPr lang="en-US" dirty="0"/>
              <a:t> do Spark, é </a:t>
            </a:r>
            <a:r>
              <a:rPr lang="en-US" dirty="0" err="1"/>
              <a:t>através</a:t>
            </a:r>
            <a:r>
              <a:rPr lang="en-US" dirty="0"/>
              <a:t> dele que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feitas</a:t>
            </a:r>
            <a:r>
              <a:rPr lang="en-US" dirty="0"/>
              <a:t> as </a:t>
            </a:r>
            <a:r>
              <a:rPr lang="en-US" dirty="0" err="1"/>
              <a:t>conexões</a:t>
            </a:r>
            <a:r>
              <a:rPr lang="en-US" dirty="0"/>
              <a:t> entre o cluster manager, worker nodes, o </a:t>
            </a: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RDDs e o status da </a:t>
            </a:r>
            <a:r>
              <a:rPr lang="en-US" dirty="0" err="1"/>
              <a:t>aplicação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C000"/>
                </a:solidFill>
              </a:rPr>
              <a:t>Cluster manager:</a:t>
            </a:r>
            <a:r>
              <a:rPr lang="en-US" dirty="0"/>
              <a:t> </a:t>
            </a:r>
            <a:r>
              <a:rPr lang="en-US" dirty="0" err="1"/>
              <a:t>serviço</a:t>
            </a:r>
            <a:r>
              <a:rPr lang="en-US" dirty="0"/>
              <a:t> </a:t>
            </a:r>
            <a:r>
              <a:rPr lang="en-US" dirty="0" err="1"/>
              <a:t>externo</a:t>
            </a:r>
            <a:r>
              <a:rPr lang="en-US" dirty="0"/>
              <a:t> </a:t>
            </a:r>
            <a:r>
              <a:rPr lang="en-US" dirty="0" err="1"/>
              <a:t>responsável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gerenciamento</a:t>
            </a:r>
            <a:r>
              <a:rPr lang="en-US" dirty="0"/>
              <a:t> de </a:t>
            </a:r>
            <a:r>
              <a:rPr lang="en-US" dirty="0" err="1"/>
              <a:t>recursos</a:t>
            </a:r>
            <a:r>
              <a:rPr lang="en-US" dirty="0"/>
              <a:t> no cluster (ex: standalone manager, Mesos, YARN)</a:t>
            </a:r>
          </a:p>
          <a:p>
            <a:endParaRPr lang="en-US" dirty="0"/>
          </a:p>
          <a:p>
            <a:r>
              <a:rPr lang="en-US" b="1" dirty="0">
                <a:solidFill>
                  <a:srgbClr val="FFC000"/>
                </a:solidFill>
              </a:rPr>
              <a:t>Worker node: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as </a:t>
            </a:r>
            <a:r>
              <a:rPr lang="en-US" dirty="0" err="1"/>
              <a:t>máquinas</a:t>
            </a:r>
            <a:r>
              <a:rPr lang="en-US" dirty="0"/>
              <a:t> do cluster, </a:t>
            </a:r>
            <a:r>
              <a:rPr lang="en-US" dirty="0" err="1"/>
              <a:t>responsáveis</a:t>
            </a:r>
            <a:r>
              <a:rPr lang="en-US" dirty="0"/>
              <a:t> pela </a:t>
            </a:r>
            <a:r>
              <a:rPr lang="en-US" dirty="0" err="1"/>
              <a:t>execução</a:t>
            </a:r>
            <a:r>
              <a:rPr lang="en-US" dirty="0"/>
              <a:t> das tasks da </a:t>
            </a:r>
            <a:r>
              <a:rPr lang="en-US" dirty="0" err="1"/>
              <a:t>aplicação</a:t>
            </a:r>
            <a:endParaRPr lang="pt-BR" dirty="0"/>
          </a:p>
        </p:txBody>
      </p:sp>
      <p:pic>
        <p:nvPicPr>
          <p:cNvPr id="11" name="Gráfico 10" descr="Computador">
            <a:extLst>
              <a:ext uri="{FF2B5EF4-FFF2-40B4-BE49-F238E27FC236}">
                <a16:creationId xmlns:a16="http://schemas.microsoft.com/office/drawing/2014/main" id="{D1CF769D-B479-4FB5-8355-FC2AB0C53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035" y="9102970"/>
            <a:ext cx="860490" cy="860490"/>
          </a:xfrm>
          <a:prstGeom prst="rect">
            <a:avLst/>
          </a:prstGeom>
        </p:spPr>
      </p:pic>
      <p:pic>
        <p:nvPicPr>
          <p:cNvPr id="17" name="Gráfico 16" descr="Computador">
            <a:extLst>
              <a:ext uri="{FF2B5EF4-FFF2-40B4-BE49-F238E27FC236}">
                <a16:creationId xmlns:a16="http://schemas.microsoft.com/office/drawing/2014/main" id="{72D9AB82-BCA7-4C45-8888-C0182F162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035" y="9852692"/>
            <a:ext cx="860490" cy="860490"/>
          </a:xfrm>
          <a:prstGeom prst="rect">
            <a:avLst/>
          </a:prstGeom>
        </p:spPr>
      </p:pic>
      <p:pic>
        <p:nvPicPr>
          <p:cNvPr id="18" name="Gráfico 17" descr="Computador">
            <a:extLst>
              <a:ext uri="{FF2B5EF4-FFF2-40B4-BE49-F238E27FC236}">
                <a16:creationId xmlns:a16="http://schemas.microsoft.com/office/drawing/2014/main" id="{2999B767-AAAA-457A-859E-7A814C3D3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035" y="8353247"/>
            <a:ext cx="860490" cy="860490"/>
          </a:xfrm>
          <a:prstGeom prst="rect">
            <a:avLst/>
          </a:prstGeom>
        </p:spPr>
      </p:pic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2570C20-22DA-4070-9910-69AB53F7D877}"/>
              </a:ext>
            </a:extLst>
          </p:cNvPr>
          <p:cNvGrpSpPr/>
          <p:nvPr/>
        </p:nvGrpSpPr>
        <p:grpSpPr>
          <a:xfrm>
            <a:off x="2136114" y="8455803"/>
            <a:ext cx="1388853" cy="1636941"/>
            <a:chOff x="2527539" y="3992238"/>
            <a:chExt cx="1388853" cy="1636941"/>
          </a:xfrm>
        </p:grpSpPr>
        <p:sp>
          <p:nvSpPr>
            <p:cNvPr id="28" name="Retângulo: Único Canto Recortado 27">
              <a:extLst>
                <a:ext uri="{FF2B5EF4-FFF2-40B4-BE49-F238E27FC236}">
                  <a16:creationId xmlns:a16="http://schemas.microsoft.com/office/drawing/2014/main" id="{14E98B27-1E84-40D2-88E2-C32255447506}"/>
                </a:ext>
              </a:extLst>
            </p:cNvPr>
            <p:cNvSpPr/>
            <p:nvPr/>
          </p:nvSpPr>
          <p:spPr>
            <a:xfrm>
              <a:off x="2793787" y="4352469"/>
              <a:ext cx="863812" cy="1144546"/>
            </a:xfrm>
            <a:prstGeom prst="snip1Rect">
              <a:avLst>
                <a:gd name="adj" fmla="val 37987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bIns="36000" rtlCol="0" anchor="ctr"/>
            <a:lstStyle/>
            <a:p>
              <a:pPr algn="ctr"/>
              <a:endParaRPr lang="pt-BR" sz="1500" dirty="0"/>
            </a:p>
          </p:txBody>
        </p:sp>
        <p:pic>
          <p:nvPicPr>
            <p:cNvPr id="21" name="Gráfico 20" descr="Papel">
              <a:extLst>
                <a:ext uri="{FF2B5EF4-FFF2-40B4-BE49-F238E27FC236}">
                  <a16:creationId xmlns:a16="http://schemas.microsoft.com/office/drawing/2014/main" id="{D775A14C-CA92-4AEF-A55F-E8C435F39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27539" y="4240326"/>
              <a:ext cx="1388853" cy="1388853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62398359-C64D-46BE-BB58-C08D04FE11C1}"/>
                </a:ext>
              </a:extLst>
            </p:cNvPr>
            <p:cNvSpPr txBox="1"/>
            <p:nvPr/>
          </p:nvSpPr>
          <p:spPr>
            <a:xfrm>
              <a:off x="2867710" y="4502652"/>
              <a:ext cx="66418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60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DCA4A549-32B6-4A43-9095-42AA27221206}"/>
                </a:ext>
              </a:extLst>
            </p:cNvPr>
            <p:cNvSpPr txBox="1"/>
            <p:nvPr/>
          </p:nvSpPr>
          <p:spPr>
            <a:xfrm>
              <a:off x="2891586" y="3992238"/>
              <a:ext cx="6607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>
                  <a:solidFill>
                    <a:schemeClr val="bg1"/>
                  </a:solidFill>
                </a:rPr>
                <a:t>RDD</a:t>
              </a:r>
            </a:p>
          </p:txBody>
        </p:sp>
      </p:grp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64405B7F-04E6-46E3-A20F-C68B556FF170}"/>
              </a:ext>
            </a:extLst>
          </p:cNvPr>
          <p:cNvCxnSpPr>
            <a:cxnSpLocks/>
            <a:stCxn id="21" idx="3"/>
            <a:endCxn id="18" idx="1"/>
          </p:cNvCxnSpPr>
          <p:nvPr/>
        </p:nvCxnSpPr>
        <p:spPr>
          <a:xfrm flipV="1">
            <a:off x="3524967" y="8783492"/>
            <a:ext cx="2817068" cy="614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EB63FB86-04EA-49F8-85E6-1C4E9B5207FE}"/>
              </a:ext>
            </a:extLst>
          </p:cNvPr>
          <p:cNvCxnSpPr>
            <a:cxnSpLocks/>
            <a:stCxn id="21" idx="3"/>
            <a:endCxn id="11" idx="1"/>
          </p:cNvCxnSpPr>
          <p:nvPr/>
        </p:nvCxnSpPr>
        <p:spPr>
          <a:xfrm>
            <a:off x="3524967" y="9398318"/>
            <a:ext cx="2817068" cy="134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2642CFE9-F496-474D-9CBF-FEE8D5760D78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>
            <a:off x="3524967" y="9398318"/>
            <a:ext cx="2817068" cy="884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AF4F7C0E-2C17-4CC6-8225-C46498E65747}"/>
              </a:ext>
            </a:extLst>
          </p:cNvPr>
          <p:cNvSpPr txBox="1"/>
          <p:nvPr/>
        </p:nvSpPr>
        <p:spPr>
          <a:xfrm rot="20773794">
            <a:off x="4571955" y="8694329"/>
            <a:ext cx="14237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b="1" dirty="0">
                <a:solidFill>
                  <a:schemeClr val="bg1"/>
                </a:solidFill>
              </a:rPr>
              <a:t>RDD </a:t>
            </a:r>
            <a:r>
              <a:rPr lang="pt-BR" sz="1500" b="1" dirty="0" err="1">
                <a:solidFill>
                  <a:schemeClr val="bg1"/>
                </a:solidFill>
              </a:rPr>
              <a:t>partition</a:t>
            </a:r>
            <a:r>
              <a:rPr lang="pt-BR" sz="1500" b="1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4861F9D9-982A-4090-ABBD-30B238009CB7}"/>
              </a:ext>
            </a:extLst>
          </p:cNvPr>
          <p:cNvSpPr txBox="1"/>
          <p:nvPr/>
        </p:nvSpPr>
        <p:spPr>
          <a:xfrm>
            <a:off x="4615085" y="9188155"/>
            <a:ext cx="14237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b="1" dirty="0">
                <a:solidFill>
                  <a:schemeClr val="bg1"/>
                </a:solidFill>
              </a:rPr>
              <a:t>RDD </a:t>
            </a:r>
            <a:r>
              <a:rPr lang="pt-BR" sz="1500" b="1" dirty="0" err="1">
                <a:solidFill>
                  <a:schemeClr val="bg1"/>
                </a:solidFill>
              </a:rPr>
              <a:t>partition</a:t>
            </a:r>
            <a:r>
              <a:rPr lang="pt-BR" sz="1500" b="1" dirty="0">
                <a:solidFill>
                  <a:schemeClr val="bg1"/>
                </a:solidFill>
              </a:rPr>
              <a:t> 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393AE83-067F-4959-89C5-F0D60F011C4A}"/>
              </a:ext>
            </a:extLst>
          </p:cNvPr>
          <p:cNvSpPr txBox="1"/>
          <p:nvPr/>
        </p:nvSpPr>
        <p:spPr>
          <a:xfrm rot="1103331">
            <a:off x="4571955" y="9670792"/>
            <a:ext cx="14237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b="1" dirty="0">
                <a:solidFill>
                  <a:schemeClr val="bg1"/>
                </a:solidFill>
              </a:rPr>
              <a:t>RDD </a:t>
            </a:r>
            <a:r>
              <a:rPr lang="pt-BR" sz="1500" b="1" dirty="0" err="1">
                <a:solidFill>
                  <a:schemeClr val="bg1"/>
                </a:solidFill>
              </a:rPr>
              <a:t>partition</a:t>
            </a:r>
            <a:r>
              <a:rPr lang="pt-BR" sz="1500" b="1" dirty="0">
                <a:solidFill>
                  <a:schemeClr val="bg1"/>
                </a:solidFill>
              </a:rPr>
              <a:t> 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57C3FE38-81F7-499E-9DFA-0E5CDCD2BBD0}"/>
              </a:ext>
            </a:extLst>
          </p:cNvPr>
          <p:cNvSpPr txBox="1"/>
          <p:nvPr/>
        </p:nvSpPr>
        <p:spPr>
          <a:xfrm>
            <a:off x="6096000" y="7875914"/>
            <a:ext cx="1674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err="1">
                <a:solidFill>
                  <a:schemeClr val="bg1"/>
                </a:solidFill>
              </a:rPr>
              <a:t>Worker</a:t>
            </a:r>
            <a:r>
              <a:rPr lang="pt-BR" sz="2000" b="1" dirty="0">
                <a:solidFill>
                  <a:schemeClr val="bg1"/>
                </a:solidFill>
              </a:rPr>
              <a:t> Nodes</a:t>
            </a:r>
          </a:p>
        </p:txBody>
      </p:sp>
    </p:spTree>
    <p:extLst>
      <p:ext uri="{BB962C8B-B14F-4D97-AF65-F5344CB8AC3E}">
        <p14:creationId xmlns:p14="http://schemas.microsoft.com/office/powerpoint/2010/main" val="171638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2ED49ADC-922A-43C2-825D-D491DD2169E0}"/>
              </a:ext>
            </a:extLst>
          </p:cNvPr>
          <p:cNvSpPr/>
          <p:nvPr/>
        </p:nvSpPr>
        <p:spPr>
          <a:xfrm>
            <a:off x="1814146" y="4879731"/>
            <a:ext cx="8563708" cy="103087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0" rIns="360000" bIns="36000" rtlCol="0" anchor="ctr"/>
          <a:lstStyle/>
          <a:p>
            <a:r>
              <a:rPr lang="pt-BR" sz="1600" dirty="0"/>
              <a:t>O Driver </a:t>
            </a:r>
            <a:r>
              <a:rPr lang="pt-BR" sz="1600" dirty="0" err="1"/>
              <a:t>Program</a:t>
            </a:r>
            <a:r>
              <a:rPr lang="pt-BR" sz="1600" dirty="0"/>
              <a:t> recebe o arquivo JAR (script </a:t>
            </a:r>
            <a:r>
              <a:rPr lang="pt-BR" sz="1600" dirty="0" err="1"/>
              <a:t>java</a:t>
            </a:r>
            <a:r>
              <a:rPr lang="pt-BR" sz="1600" dirty="0"/>
              <a:t>/</a:t>
            </a:r>
            <a:r>
              <a:rPr lang="pt-BR" sz="1600" dirty="0" err="1"/>
              <a:t>scala</a:t>
            </a:r>
            <a:r>
              <a:rPr lang="pt-BR" sz="1600" dirty="0"/>
              <a:t>/</a:t>
            </a:r>
            <a:r>
              <a:rPr lang="pt-BR" sz="1600" dirty="0" err="1"/>
              <a:t>python</a:t>
            </a:r>
            <a:r>
              <a:rPr lang="pt-BR" sz="1600" dirty="0"/>
              <a:t>) enviado pelo usuário, monta um plano de execução e o quebra em pequenas </a:t>
            </a:r>
            <a:r>
              <a:rPr lang="pt-BR" sz="1600" dirty="0" err="1"/>
              <a:t>tasks</a:t>
            </a:r>
            <a:r>
              <a:rPr lang="pt-BR" sz="1600" dirty="0"/>
              <a:t>. Abre-se uma conexão com o Cluster Manager para negociar os recursos para a execução de suas </a:t>
            </a:r>
            <a:r>
              <a:rPr lang="pt-BR" sz="1600" dirty="0" err="1"/>
              <a:t>tasks</a:t>
            </a:r>
            <a:endParaRPr lang="pt-BR" sz="1600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EFDDD4E-9660-44C7-91AB-926FBB92A62D}"/>
              </a:ext>
            </a:extLst>
          </p:cNvPr>
          <p:cNvSpPr/>
          <p:nvPr/>
        </p:nvSpPr>
        <p:spPr>
          <a:xfrm>
            <a:off x="1806289" y="4881299"/>
            <a:ext cx="8563708" cy="103087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0" rIns="360000" bIns="36000" rtlCol="0" anchor="ctr"/>
          <a:lstStyle/>
          <a:p>
            <a:r>
              <a:rPr lang="pt-BR" sz="1600" dirty="0"/>
              <a:t>O Cluster Manager verifica os </a:t>
            </a:r>
            <a:r>
              <a:rPr lang="pt-BR" sz="1600" dirty="0" err="1"/>
              <a:t>Worker</a:t>
            </a:r>
            <a:r>
              <a:rPr lang="pt-BR" sz="1600" dirty="0"/>
              <a:t> Nodes, aloca os recursos necessários e retorna a lista de recursos para o Driver </a:t>
            </a:r>
            <a:r>
              <a:rPr lang="pt-BR" sz="1600" dirty="0" err="1"/>
              <a:t>Program</a:t>
            </a:r>
            <a:endParaRPr lang="pt-BR" sz="1600" dirty="0"/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6D53598D-B49E-4087-AECC-43A8E267EC21}"/>
              </a:ext>
            </a:extLst>
          </p:cNvPr>
          <p:cNvSpPr/>
          <p:nvPr/>
        </p:nvSpPr>
        <p:spPr>
          <a:xfrm>
            <a:off x="1822003" y="4879731"/>
            <a:ext cx="8563708" cy="103087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0" rIns="360000" bIns="36000" rtlCol="0" anchor="ctr"/>
          <a:lstStyle/>
          <a:p>
            <a:r>
              <a:rPr lang="pt-BR" sz="1600" dirty="0"/>
              <a:t>O Driver </a:t>
            </a:r>
            <a:r>
              <a:rPr lang="pt-BR" sz="1600" dirty="0" err="1"/>
              <a:t>Program</a:t>
            </a:r>
            <a:r>
              <a:rPr lang="pt-BR" sz="1600" dirty="0"/>
              <a:t> envia as </a:t>
            </a:r>
            <a:r>
              <a:rPr lang="pt-BR" sz="1600" dirty="0" err="1"/>
              <a:t>tasks</a:t>
            </a:r>
            <a:r>
              <a:rPr lang="pt-BR" sz="1600" dirty="0"/>
              <a:t> para os </a:t>
            </a:r>
            <a:r>
              <a:rPr lang="pt-BR" sz="1600" dirty="0" err="1"/>
              <a:t>Worker</a:t>
            </a:r>
            <a:r>
              <a:rPr lang="pt-BR" sz="1600" dirty="0"/>
              <a:t> Nodes, inicia e acompanha sua execução. Após a conclusão das </a:t>
            </a:r>
            <a:r>
              <a:rPr lang="pt-BR" sz="1600" dirty="0" err="1"/>
              <a:t>tasks</a:t>
            </a:r>
            <a:r>
              <a:rPr lang="pt-BR" sz="1600" dirty="0"/>
              <a:t>, os recursos são liberados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Spark</a:t>
            </a:r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8D5F0FF-5EFC-472F-858F-FED2F11AFD79}"/>
              </a:ext>
            </a:extLst>
          </p:cNvPr>
          <p:cNvSpPr/>
          <p:nvPr/>
        </p:nvSpPr>
        <p:spPr>
          <a:xfrm>
            <a:off x="4709266" y="3160503"/>
            <a:ext cx="1367537" cy="536994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pt-BR" sz="1500" dirty="0"/>
              <a:t>Cluster Manager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0D579AB-C576-4DE0-85BE-B191E2EF55B6}"/>
              </a:ext>
            </a:extLst>
          </p:cNvPr>
          <p:cNvGrpSpPr/>
          <p:nvPr/>
        </p:nvGrpSpPr>
        <p:grpSpPr>
          <a:xfrm>
            <a:off x="7282232" y="2224725"/>
            <a:ext cx="1508288" cy="2408550"/>
            <a:chOff x="6975089" y="3916392"/>
            <a:chExt cx="1508288" cy="2408550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465492A-9B61-4F0C-B892-FD5E2599590F}"/>
                </a:ext>
              </a:extLst>
            </p:cNvPr>
            <p:cNvSpPr/>
            <p:nvPr/>
          </p:nvSpPr>
          <p:spPr>
            <a:xfrm>
              <a:off x="6975089" y="3916392"/>
              <a:ext cx="1508288" cy="76726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bIns="36000" rtlCol="0" anchor="t"/>
            <a:lstStyle/>
            <a:p>
              <a:pPr algn="ctr"/>
              <a:r>
                <a:rPr lang="pt-BR" sz="1500" dirty="0" err="1"/>
                <a:t>Worker</a:t>
              </a:r>
              <a:r>
                <a:rPr lang="pt-BR" sz="1500" dirty="0"/>
                <a:t> Node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91C8A391-C2CE-4389-A075-734145DE873A}"/>
                </a:ext>
              </a:extLst>
            </p:cNvPr>
            <p:cNvSpPr/>
            <p:nvPr/>
          </p:nvSpPr>
          <p:spPr>
            <a:xfrm>
              <a:off x="6975089" y="4737036"/>
              <a:ext cx="1508288" cy="76726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bIns="36000" rtlCol="0" anchor="t"/>
            <a:lstStyle/>
            <a:p>
              <a:pPr algn="ctr"/>
              <a:r>
                <a:rPr lang="pt-BR" sz="1500" dirty="0" err="1"/>
                <a:t>Worker</a:t>
              </a:r>
              <a:r>
                <a:rPr lang="pt-BR" sz="1500" dirty="0"/>
                <a:t> Node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3881A538-7BEB-4181-BB61-94CB765A32E7}"/>
                </a:ext>
              </a:extLst>
            </p:cNvPr>
            <p:cNvSpPr/>
            <p:nvPr/>
          </p:nvSpPr>
          <p:spPr>
            <a:xfrm>
              <a:off x="6975089" y="5557680"/>
              <a:ext cx="1508288" cy="76726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bIns="36000" rtlCol="0" anchor="t"/>
            <a:lstStyle/>
            <a:p>
              <a:pPr algn="ctr"/>
              <a:r>
                <a:rPr lang="pt-BR" sz="1500" dirty="0" err="1"/>
                <a:t>Worker</a:t>
              </a:r>
              <a:r>
                <a:rPr lang="pt-BR" sz="1500" dirty="0"/>
                <a:t> Node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C839AF5-D746-4225-A194-E18C52B9D5A7}"/>
              </a:ext>
            </a:extLst>
          </p:cNvPr>
          <p:cNvGrpSpPr/>
          <p:nvPr/>
        </p:nvGrpSpPr>
        <p:grpSpPr>
          <a:xfrm>
            <a:off x="2205282" y="3045369"/>
            <a:ext cx="1298556" cy="767263"/>
            <a:chOff x="3108660" y="4673835"/>
            <a:chExt cx="1298556" cy="767263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610C219E-4D81-4D74-92FA-ECD66D3AD7AD}"/>
                </a:ext>
              </a:extLst>
            </p:cNvPr>
            <p:cNvSpPr/>
            <p:nvPr/>
          </p:nvSpPr>
          <p:spPr>
            <a:xfrm>
              <a:off x="3108660" y="4673835"/>
              <a:ext cx="1298556" cy="767263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bIns="36000" rtlCol="0" anchor="t"/>
            <a:lstStyle/>
            <a:p>
              <a:pPr algn="ctr"/>
              <a:r>
                <a:rPr lang="pt-BR" sz="1500" dirty="0"/>
                <a:t>Driver </a:t>
              </a:r>
              <a:r>
                <a:rPr lang="pt-BR" sz="1500" dirty="0" err="1"/>
                <a:t>Program</a:t>
              </a:r>
              <a:endParaRPr lang="pt-BR" sz="1500" dirty="0"/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482C2FA8-5DE6-4B8F-9C53-9618CB7247FF}"/>
                </a:ext>
              </a:extLst>
            </p:cNvPr>
            <p:cNvSpPr/>
            <p:nvPr/>
          </p:nvSpPr>
          <p:spPr>
            <a:xfrm>
              <a:off x="3158370" y="5025288"/>
              <a:ext cx="1171209" cy="27604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bIns="36000" rtlCol="0" anchor="ctr"/>
            <a:lstStyle/>
            <a:p>
              <a:pPr algn="ctr"/>
              <a:r>
                <a:rPr lang="pt-BR" sz="1500" dirty="0" err="1"/>
                <a:t>SparkContext</a:t>
              </a:r>
              <a:endParaRPr lang="pt-BR" sz="1500" dirty="0"/>
            </a:p>
          </p:txBody>
        </p:sp>
      </p:grp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755E64FD-3C8E-4517-8B93-512D5EDCC2DA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3503838" y="3429000"/>
            <a:ext cx="1205428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849B72D8-A3C1-4C4A-84BA-12689C2A54B6}"/>
              </a:ext>
            </a:extLst>
          </p:cNvPr>
          <p:cNvCxnSpPr>
            <a:stCxn id="9" idx="3"/>
            <a:endCxn id="8" idx="1"/>
          </p:cNvCxnSpPr>
          <p:nvPr/>
        </p:nvCxnSpPr>
        <p:spPr>
          <a:xfrm flipV="1">
            <a:off x="6076803" y="2608356"/>
            <a:ext cx="1205429" cy="820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FB6836B1-DEEB-4E02-A267-FB359D8CA9DA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6076803" y="3429000"/>
            <a:ext cx="12054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64271E3E-C9DD-4AED-BA75-7B09ECA4E7C3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>
            <a:off x="6076803" y="3429000"/>
            <a:ext cx="1205429" cy="820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C5D3B5E0-5BF6-44DB-9388-D2EF1B8CDAA4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>
            <a:off x="3503838" y="3429000"/>
            <a:ext cx="120542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: Curvo 53">
            <a:extLst>
              <a:ext uri="{FF2B5EF4-FFF2-40B4-BE49-F238E27FC236}">
                <a16:creationId xmlns:a16="http://schemas.microsoft.com/office/drawing/2014/main" id="{0FAE5B39-A1EE-4AF9-A038-E09843E4DFBA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4749935" y="513072"/>
            <a:ext cx="636923" cy="4427673"/>
          </a:xfrm>
          <a:prstGeom prst="curved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: Curvo 62">
            <a:extLst>
              <a:ext uri="{FF2B5EF4-FFF2-40B4-BE49-F238E27FC236}">
                <a16:creationId xmlns:a16="http://schemas.microsoft.com/office/drawing/2014/main" id="{E32BB31A-0FF2-454D-84AA-A3A789B11938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4766935" y="1900256"/>
            <a:ext cx="602922" cy="4427673"/>
          </a:xfrm>
          <a:prstGeom prst="curved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tângulo 71">
            <a:extLst>
              <a:ext uri="{FF2B5EF4-FFF2-40B4-BE49-F238E27FC236}">
                <a16:creationId xmlns:a16="http://schemas.microsoft.com/office/drawing/2014/main" id="{2DF5E20E-29EE-43B4-BB20-62C947522059}"/>
              </a:ext>
            </a:extLst>
          </p:cNvPr>
          <p:cNvSpPr/>
          <p:nvPr/>
        </p:nvSpPr>
        <p:spPr>
          <a:xfrm>
            <a:off x="7371232" y="2589600"/>
            <a:ext cx="635477" cy="2760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pt-BR" sz="1500" dirty="0" err="1"/>
              <a:t>Task</a:t>
            </a:r>
            <a:endParaRPr lang="pt-BR" sz="1500" dirty="0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18024BEA-D388-4402-8DFF-471115346C13}"/>
              </a:ext>
            </a:extLst>
          </p:cNvPr>
          <p:cNvSpPr/>
          <p:nvPr/>
        </p:nvSpPr>
        <p:spPr>
          <a:xfrm>
            <a:off x="7371232" y="3410244"/>
            <a:ext cx="635477" cy="2760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pt-BR" sz="1500" dirty="0" err="1"/>
              <a:t>Task</a:t>
            </a:r>
            <a:endParaRPr lang="pt-BR" sz="1500" dirty="0"/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EE502930-0597-4B9F-B243-044EFED883A8}"/>
              </a:ext>
            </a:extLst>
          </p:cNvPr>
          <p:cNvSpPr/>
          <p:nvPr/>
        </p:nvSpPr>
        <p:spPr>
          <a:xfrm>
            <a:off x="7371232" y="4230888"/>
            <a:ext cx="635477" cy="2760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pt-BR" sz="1500" dirty="0" err="1"/>
              <a:t>Task</a:t>
            </a:r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14162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75" grpId="0" animBg="1"/>
      <p:bldP spid="72" grpId="0" animBg="1"/>
      <p:bldP spid="73" grpId="0" animBg="1"/>
      <p:bldP spid="7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impala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SQL </a:t>
            </a:r>
            <a:r>
              <a:rPr lang="pt-BR" sz="2000" dirty="0" err="1"/>
              <a:t>engine</a:t>
            </a:r>
            <a:r>
              <a:rPr lang="pt-BR" sz="2000" dirty="0"/>
              <a:t> para processamento massivo e distribuído de queries analíticas, cujos dados são armazenados em arquivos, aproveitando a arquitetura do </a:t>
            </a:r>
            <a:r>
              <a:rPr lang="pt-BR" sz="2000" dirty="0" err="1"/>
              <a:t>Hadoop</a:t>
            </a:r>
            <a:r>
              <a:rPr lang="pt-BR" sz="200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Não permite DML de alteração de dados (aceita apenas </a:t>
            </a:r>
            <a:r>
              <a:rPr lang="pt-BR" sz="2000" dirty="0" err="1"/>
              <a:t>insert</a:t>
            </a:r>
            <a:r>
              <a:rPr lang="pt-BR" sz="2000" dirty="0"/>
              <a:t> e </a:t>
            </a:r>
            <a:r>
              <a:rPr lang="pt-BR" sz="2000" dirty="0" err="1"/>
              <a:t>load</a:t>
            </a:r>
            <a:r>
              <a:rPr lang="pt-BR" sz="2000" dirty="0"/>
              <a:t>), e sua estrutura é otimizada para consultar blocos de 256MB (evite </a:t>
            </a:r>
            <a:r>
              <a:rPr lang="pt-BR" sz="2000" dirty="0" err="1"/>
              <a:t>inserts</a:t>
            </a:r>
            <a:r>
              <a:rPr lang="pt-BR" sz="2000" dirty="0"/>
              <a:t> isolados de poucos registros, prefira </a:t>
            </a:r>
            <a:r>
              <a:rPr lang="pt-BR" sz="2000" dirty="0" err="1"/>
              <a:t>insert</a:t>
            </a:r>
            <a:r>
              <a:rPr lang="pt-BR" sz="2000" dirty="0"/>
              <a:t> com </a:t>
            </a:r>
            <a:r>
              <a:rPr lang="pt-BR" sz="2000" dirty="0" err="1"/>
              <a:t>select</a:t>
            </a:r>
            <a:r>
              <a:rPr lang="pt-BR" sz="2000" dirty="0"/>
              <a:t> que possam preencher o máximo do bloco);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Aceita vários formatos de armazenamento, sendo parquet (colunar) o mais relevante. Este formato utiliza por padrão uma compactação leve chamada </a:t>
            </a:r>
            <a:r>
              <a:rPr lang="pt-BR" sz="2000" dirty="0" err="1"/>
              <a:t>snappy</a:t>
            </a:r>
            <a:r>
              <a:rPr lang="pt-BR" sz="2000" dirty="0"/>
              <a:t>, mas pode ser alterada no momento da carga do dado para </a:t>
            </a:r>
            <a:r>
              <a:rPr lang="pt-BR" sz="2000" dirty="0" err="1"/>
              <a:t>gzip</a:t>
            </a:r>
            <a:r>
              <a:rPr lang="pt-BR" sz="2000" dirty="0"/>
              <a:t>  que é um pouco mais agressiva;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Permite armazenar os arquivos de dados em servidores remoto, que nesta POC foi utilizado para armazenar os dados de autenticação e autorização que foram processados há mais de 3 meses, em um </a:t>
            </a:r>
            <a:r>
              <a:rPr lang="pt-BR" sz="2000" dirty="0" err="1"/>
              <a:t>storage</a:t>
            </a:r>
            <a:r>
              <a:rPr lang="pt-BR" sz="2000" dirty="0"/>
              <a:t> com custo mais acessível (Data Lake </a:t>
            </a:r>
            <a:r>
              <a:rPr lang="pt-BR" sz="2000" dirty="0" err="1"/>
              <a:t>Store</a:t>
            </a:r>
            <a:r>
              <a:rPr lang="pt-BR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2406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Impala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CREATE EXTERNAL TABLE AUTENTICACAO_AUTORIZACAO_FINAL_ARCHIVE (</a:t>
            </a:r>
          </a:p>
          <a:p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       STRING,     `dia`                      STRING,</a:t>
            </a:r>
          </a:p>
          <a:p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data_autenticacao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TIMESTAMP,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data_autorizacao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TIMESTAMP,</a:t>
            </a:r>
          </a:p>
          <a:p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      BIGINT,  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              STRING,</a:t>
            </a:r>
          </a:p>
          <a:p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status_autenticacao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INT ,    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status_descricao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STRING,</a:t>
            </a:r>
          </a:p>
          <a:p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servico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     INT ,       `produto`                  INT,</a:t>
            </a:r>
          </a:p>
          <a:p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flg_autorizado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INT ,    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servicos_autorizados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STRING,</a:t>
            </a:r>
          </a:p>
          <a:p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produtos_autorizados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STRING,     `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servicos_nao_autorizados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STRING</a:t>
            </a:r>
          </a:p>
          <a:p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STORED AS PARQUET </a:t>
            </a:r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–-definindo o formato da tabela como parquet</a:t>
            </a:r>
          </a:p>
          <a:p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LOCATION '</a:t>
            </a:r>
            <a:r>
              <a:rPr lang="pt-BR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adl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://xxx.azuredatalakestore.net/</a:t>
            </a:r>
            <a:r>
              <a:rPr lang="pt-BR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nome_diretorio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’; </a:t>
            </a:r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pt-BR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 data </a:t>
            </a:r>
            <a:r>
              <a:rPr lang="pt-BR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lake</a:t>
            </a:r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endParaRPr lang="pt-BR" sz="15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--arquivando dados de </a:t>
            </a:r>
            <a:r>
              <a:rPr lang="pt-BR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tres</a:t>
            </a:r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meses</a:t>
            </a:r>
          </a:p>
          <a:p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--necessário </a:t>
            </a:r>
            <a:r>
              <a:rPr lang="pt-BR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setar</a:t>
            </a:r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 tipo de compressão antes de fazer o </a:t>
            </a:r>
            <a:r>
              <a:rPr lang="pt-BR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endParaRPr lang="pt-BR" sz="15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COMPRESSION_CODEC=</a:t>
            </a:r>
            <a:r>
              <a:rPr lang="pt-BR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gzip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AUTENTICACAO_AUTORIZACAO_FINAL_ARCHIVE </a:t>
            </a:r>
          </a:p>
          <a:p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autenticacao_autorizacao_final</a:t>
            </a:r>
            <a:endParaRPr lang="pt-B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` 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data_autenticacao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`&lt;=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add_months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</a:t>
            </a: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(), -3);</a:t>
            </a:r>
          </a:p>
          <a:p>
            <a:endParaRPr lang="pt-B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09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Impala</a:t>
            </a: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84E2EBA-3863-4385-9968-09794BFD0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946421"/>
              </p:ext>
            </p:extLst>
          </p:nvPr>
        </p:nvGraphicFramePr>
        <p:xfrm>
          <a:off x="1066800" y="1795177"/>
          <a:ext cx="10420350" cy="43557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10742">
                  <a:extLst>
                    <a:ext uri="{9D8B030D-6E8A-4147-A177-3AD203B41FA5}">
                      <a16:colId xmlns:a16="http://schemas.microsoft.com/office/drawing/2014/main" val="2930582858"/>
                    </a:ext>
                  </a:extLst>
                </a:gridCol>
                <a:gridCol w="1071834">
                  <a:extLst>
                    <a:ext uri="{9D8B030D-6E8A-4147-A177-3AD203B41FA5}">
                      <a16:colId xmlns:a16="http://schemas.microsoft.com/office/drawing/2014/main" val="2992937274"/>
                    </a:ext>
                  </a:extLst>
                </a:gridCol>
                <a:gridCol w="1318887">
                  <a:extLst>
                    <a:ext uri="{9D8B030D-6E8A-4147-A177-3AD203B41FA5}">
                      <a16:colId xmlns:a16="http://schemas.microsoft.com/office/drawing/2014/main" val="1879743950"/>
                    </a:ext>
                  </a:extLst>
                </a:gridCol>
                <a:gridCol w="1318887">
                  <a:extLst>
                    <a:ext uri="{9D8B030D-6E8A-4147-A177-3AD203B41FA5}">
                      <a16:colId xmlns:a16="http://schemas.microsoft.com/office/drawing/2014/main" val="854585028"/>
                    </a:ext>
                  </a:extLst>
                </a:gridCol>
              </a:tblGrid>
              <a:tr h="5384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Descrição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Snappy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Gzip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Diferença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09226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Tamanho total dos arquivos no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datalake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222,1 MB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</a:rPr>
                        <a:t>147,9 MB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-33%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707518"/>
                  </a:ext>
                </a:extLst>
              </a:tr>
              <a:tr h="553859">
                <a:tc grid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Comparando o tempo médio de execução de SQL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916851"/>
                  </a:ext>
                </a:extLst>
              </a:tr>
              <a:tr h="7605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insert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into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autenticacao_autorizacao_final_archive</a:t>
                      </a:r>
                      <a:b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select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 *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from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autenticacao_autorizacao_final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13,97 s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</a:rPr>
                        <a:t>20,80 s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</a:rPr>
                        <a:t>+48%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053820"/>
                  </a:ext>
                </a:extLst>
              </a:tr>
              <a:tr h="11497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select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servico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flg_autorizado,dia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count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(1)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from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autenticacao_autorizacao_final_archive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group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by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servico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</a:rPr>
                        <a:t>flg_autorizado,dia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4,1 s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</a:rPr>
                        <a:t>5,2 s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+26%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314556"/>
                  </a:ext>
                </a:extLst>
              </a:tr>
              <a:tr h="760591">
                <a:tc grid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</a:rPr>
                        <a:t>O tempo médio do SELECT acima nos dados quentes foi de 2,1 s, ou seja, as consultas realizadas com dados frios, tiveram um acréscimo de pelo menos 95%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603394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DC85211F-F03E-40C9-A3E7-5F3F112739CA}"/>
              </a:ext>
            </a:extLst>
          </p:cNvPr>
          <p:cNvSpPr txBox="1"/>
          <p:nvPr/>
        </p:nvSpPr>
        <p:spPr>
          <a:xfrm>
            <a:off x="4523229" y="6166330"/>
            <a:ext cx="6973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Números obtidos utilizando uma massa de dados de 11.820.835 registros</a:t>
            </a:r>
          </a:p>
        </p:txBody>
      </p:sp>
    </p:spTree>
    <p:extLst>
      <p:ext uri="{BB962C8B-B14F-4D97-AF65-F5344CB8AC3E}">
        <p14:creationId xmlns:p14="http://schemas.microsoft.com/office/powerpoint/2010/main" val="2198400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kudu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EA366C-A2F5-484B-AC46-1700C9E8D298}"/>
              </a:ext>
            </a:extLst>
          </p:cNvPr>
          <p:cNvSpPr txBox="1"/>
          <p:nvPr/>
        </p:nvSpPr>
        <p:spPr>
          <a:xfrm>
            <a:off x="1141414" y="1912422"/>
            <a:ext cx="51736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Componente</a:t>
            </a:r>
            <a:r>
              <a:rPr lang="en-US" dirty="0"/>
              <a:t> de </a:t>
            </a:r>
            <a:r>
              <a:rPr lang="en-US" dirty="0" err="1"/>
              <a:t>persistência</a:t>
            </a:r>
            <a:r>
              <a:rPr lang="en-US" dirty="0"/>
              <a:t> </a:t>
            </a:r>
            <a:r>
              <a:rPr lang="en-US" dirty="0" err="1"/>
              <a:t>colunar</a:t>
            </a:r>
            <a:r>
              <a:rPr lang="en-US" dirty="0"/>
              <a:t> para </a:t>
            </a:r>
            <a:r>
              <a:rPr lang="en-US" dirty="0" err="1"/>
              <a:t>processamento</a:t>
            </a:r>
            <a:r>
              <a:rPr lang="en-US" dirty="0"/>
              <a:t> </a:t>
            </a:r>
            <a:r>
              <a:rPr lang="en-US" dirty="0" err="1"/>
              <a:t>analítico</a:t>
            </a:r>
            <a:r>
              <a:rPr lang="en-US" dirty="0"/>
              <a:t>, com </a:t>
            </a:r>
            <a:r>
              <a:rPr lang="en-US" dirty="0" err="1"/>
              <a:t>arquitetura</a:t>
            </a:r>
            <a:r>
              <a:rPr lang="en-US" dirty="0"/>
              <a:t> </a:t>
            </a:r>
            <a:r>
              <a:rPr lang="en-US" dirty="0" err="1"/>
              <a:t>distribuida</a:t>
            </a:r>
            <a:r>
              <a:rPr lang="en-US" dirty="0"/>
              <a:t> </a:t>
            </a:r>
            <a:r>
              <a:rPr lang="en-US" dirty="0" err="1"/>
              <a:t>composta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máquinas</a:t>
            </a:r>
            <a:r>
              <a:rPr lang="en-US" dirty="0"/>
              <a:t> que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exercer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papéis</a:t>
            </a:r>
            <a:r>
              <a:rPr lang="en-US" dirty="0"/>
              <a:t> de master </a:t>
            </a:r>
            <a:r>
              <a:rPr lang="en-US" dirty="0" err="1"/>
              <a:t>ou</a:t>
            </a:r>
            <a:r>
              <a:rPr lang="en-US" dirty="0"/>
              <a:t> tablet server.</a:t>
            </a:r>
          </a:p>
          <a:p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dados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dividitos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“tablets” que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distribuidos</a:t>
            </a:r>
            <a:r>
              <a:rPr lang="en-US" dirty="0"/>
              <a:t> </a:t>
            </a:r>
            <a:r>
              <a:rPr lang="en-US" dirty="0" err="1"/>
              <a:t>pelos</a:t>
            </a:r>
            <a:r>
              <a:rPr lang="en-US" dirty="0"/>
              <a:t> tablet servers do cluster.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arquitetura</a:t>
            </a:r>
            <a:r>
              <a:rPr lang="en-US" dirty="0"/>
              <a:t> </a:t>
            </a:r>
            <a:r>
              <a:rPr lang="en-US" dirty="0" err="1"/>
              <a:t>possibilita</a:t>
            </a:r>
            <a:r>
              <a:rPr lang="en-US" dirty="0"/>
              <a:t> a </a:t>
            </a:r>
            <a:r>
              <a:rPr lang="en-US" dirty="0" err="1"/>
              <a:t>execução</a:t>
            </a:r>
            <a:r>
              <a:rPr lang="en-US" dirty="0"/>
              <a:t> de queries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bilhões</a:t>
            </a:r>
            <a:r>
              <a:rPr lang="en-US" dirty="0"/>
              <a:t> de </a:t>
            </a:r>
            <a:r>
              <a:rPr lang="en-US" dirty="0" err="1"/>
              <a:t>registros</a:t>
            </a:r>
            <a:r>
              <a:rPr lang="en-US" dirty="0"/>
              <a:t> com terabytes de dados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segundos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 Kudu </a:t>
            </a:r>
            <a:r>
              <a:rPr lang="en-US" dirty="0" err="1"/>
              <a:t>possui</a:t>
            </a:r>
            <a:r>
              <a:rPr lang="en-US" dirty="0"/>
              <a:t> </a:t>
            </a:r>
            <a:r>
              <a:rPr lang="en-US" dirty="0" err="1"/>
              <a:t>integração</a:t>
            </a:r>
            <a:r>
              <a:rPr lang="en-US" dirty="0"/>
              <a:t> com o Impala, que </a:t>
            </a:r>
            <a:r>
              <a:rPr lang="en-US" dirty="0" err="1"/>
              <a:t>permite</a:t>
            </a:r>
            <a:r>
              <a:rPr lang="en-US" dirty="0"/>
              <a:t> o </a:t>
            </a:r>
            <a:r>
              <a:rPr lang="en-US" dirty="0" err="1"/>
              <a:t>uso</a:t>
            </a:r>
            <a:r>
              <a:rPr lang="en-US" dirty="0"/>
              <a:t> de commandos SQL (insert/update/delete/</a:t>
            </a:r>
            <a:r>
              <a:rPr lang="en-US" dirty="0" err="1"/>
              <a:t>upsert</a:t>
            </a:r>
            <a:r>
              <a:rPr lang="en-US" dirty="0"/>
              <a:t>) para a </a:t>
            </a:r>
            <a:r>
              <a:rPr lang="en-US" dirty="0" err="1"/>
              <a:t>manipulação</a:t>
            </a:r>
            <a:r>
              <a:rPr lang="en-US" dirty="0"/>
              <a:t> dos dados </a:t>
            </a:r>
            <a:r>
              <a:rPr lang="en-US" dirty="0" err="1"/>
              <a:t>armazenados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tablets</a:t>
            </a:r>
          </a:p>
        </p:txBody>
      </p:sp>
      <p:pic>
        <p:nvPicPr>
          <p:cNvPr id="4" name="Imagem 3" descr="Uma imagem contendo captura de tela&#10;&#10;Descrição gerada com muito alta confiança">
            <a:extLst>
              <a:ext uri="{FF2B5EF4-FFF2-40B4-BE49-F238E27FC236}">
                <a16:creationId xmlns:a16="http://schemas.microsoft.com/office/drawing/2014/main" id="{F360C46D-8FF5-4EBA-8632-9400F0BB1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148" y="1988621"/>
            <a:ext cx="5734552" cy="394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912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kudu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370883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default.autenticacao_autorizacao_final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-- As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colunas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 PK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devem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sempre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primeiras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tabela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`email`                STRING    NOT NULL,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             STRING NOT NULL,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data_autenticacao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TIMESTAMP NOT NULL,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data_autorizacao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TIMESTAMP,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`person`               BIGINT    NOT NULL,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              STRING,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status_autenticacao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INT,               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status_descricao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STRING,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servico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     INT,               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produto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           INT,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flg_autorizado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  INT,               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servicos_autorizados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    STRING,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produtos_autorizados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STRING,            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servicos_nao_autorizados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 STRING,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PRIMARY KEY (`email`,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`,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data_autenticacao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`)</a:t>
            </a:r>
            <a:endParaRPr lang="en-US" sz="15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PARTITION BY HASH (`email`, `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`) 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PARTITIONS 16 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–-o num. de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partições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está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ligado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ao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total de tablets da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tabela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  --e o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maximo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paralelismo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uma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consulta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pode</a:t>
            </a:r>
            <a:r>
              <a:rPr lang="en-US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alcançar</a:t>
            </a:r>
            <a:endParaRPr lang="en-US" sz="15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STORED AS KUDU TBLPROPERTIES </a:t>
            </a:r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–-definindo o formato da tabela como </a:t>
            </a:r>
            <a:r>
              <a:rPr lang="pt-BR" sz="15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kudu</a:t>
            </a:r>
            <a:endParaRPr lang="pt-BR" sz="15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'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kudu.num_tablet_replicas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'='3’ </a:t>
            </a:r>
            <a:r>
              <a:rPr lang="pt-BR" sz="15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–-numero de replicações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263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6557E-EF47-4298-876C-CC76BA56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Power bi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CCA809A-9D77-45A2-A104-9987C86F12C9}"/>
              </a:ext>
            </a:extLst>
          </p:cNvPr>
          <p:cNvGrpSpPr/>
          <p:nvPr/>
        </p:nvGrpSpPr>
        <p:grpSpPr>
          <a:xfrm>
            <a:off x="1213392" y="1638487"/>
            <a:ext cx="9765216" cy="5219513"/>
            <a:chOff x="1213392" y="1638487"/>
            <a:chExt cx="9765216" cy="5219513"/>
          </a:xfrm>
        </p:grpSpPr>
        <p:pic>
          <p:nvPicPr>
            <p:cNvPr id="5" name="Imagem 4" descr="Uma imagem contendo captura de tela&#10;&#10;Descrição gerada com muito alta confiança">
              <a:extLst>
                <a:ext uri="{FF2B5EF4-FFF2-40B4-BE49-F238E27FC236}">
                  <a16:creationId xmlns:a16="http://schemas.microsoft.com/office/drawing/2014/main" id="{95429C55-7521-4F7A-8F4E-F620609D2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3392" y="1638487"/>
              <a:ext cx="9765216" cy="5219513"/>
            </a:xfrm>
            <a:prstGeom prst="rect">
              <a:avLst/>
            </a:prstGeom>
          </p:spPr>
        </p:pic>
        <p:sp>
          <p:nvSpPr>
            <p:cNvPr id="13" name="Texto Explicativo: Seta para Cima 12">
              <a:extLst>
                <a:ext uri="{FF2B5EF4-FFF2-40B4-BE49-F238E27FC236}">
                  <a16:creationId xmlns:a16="http://schemas.microsoft.com/office/drawing/2014/main" id="{606B8DDD-8F2B-4EF9-AA63-3C0C9D87DA2F}"/>
                </a:ext>
              </a:extLst>
            </p:cNvPr>
            <p:cNvSpPr/>
            <p:nvPr/>
          </p:nvSpPr>
          <p:spPr>
            <a:xfrm>
              <a:off x="4648385" y="2872596"/>
              <a:ext cx="2380891" cy="1112808"/>
            </a:xfrm>
            <a:prstGeom prst="upArrowCallout">
              <a:avLst>
                <a:gd name="adj1" fmla="val 28161"/>
                <a:gd name="adj2" fmla="val 27599"/>
                <a:gd name="adj3" fmla="val 14543"/>
                <a:gd name="adj4" fmla="val 76909"/>
              </a:avLst>
            </a:prstGeom>
            <a:solidFill>
              <a:srgbClr val="F1C911"/>
            </a:solidFill>
            <a:ln>
              <a:solidFill>
                <a:srgbClr val="F1C9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/>
                  </a:solidFill>
                </a:rPr>
                <a:t>Esta fonte de dados não aceita </a:t>
              </a:r>
              <a:r>
                <a:rPr lang="pt-BR" dirty="0" err="1">
                  <a:solidFill>
                    <a:schemeClr val="bg1"/>
                  </a:solidFill>
                </a:rPr>
                <a:t>DirectQuery</a:t>
              </a:r>
              <a:endParaRPr lang="pt-BR" dirty="0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2A48FCD-6D70-45EA-9593-9AB2DF0D9A96}"/>
              </a:ext>
            </a:extLst>
          </p:cNvPr>
          <p:cNvGrpSpPr/>
          <p:nvPr/>
        </p:nvGrpSpPr>
        <p:grpSpPr>
          <a:xfrm>
            <a:off x="1237838" y="1638487"/>
            <a:ext cx="9716324" cy="5219513"/>
            <a:chOff x="1237838" y="1638487"/>
            <a:chExt cx="9716324" cy="5219513"/>
          </a:xfrm>
        </p:grpSpPr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FC79F547-F247-4917-B4A1-206E1841B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7838" y="1638487"/>
              <a:ext cx="9716324" cy="5219513"/>
            </a:xfrm>
            <a:prstGeom prst="rect">
              <a:avLst/>
            </a:prstGeom>
          </p:spPr>
        </p:pic>
        <p:sp>
          <p:nvSpPr>
            <p:cNvPr id="21" name="Texto Explicativo: Seta para Cima 20">
              <a:extLst>
                <a:ext uri="{FF2B5EF4-FFF2-40B4-BE49-F238E27FC236}">
                  <a16:creationId xmlns:a16="http://schemas.microsoft.com/office/drawing/2014/main" id="{95896940-B120-4A2E-82BE-45D2FAFD88B3}"/>
                </a:ext>
              </a:extLst>
            </p:cNvPr>
            <p:cNvSpPr/>
            <p:nvPr/>
          </p:nvSpPr>
          <p:spPr>
            <a:xfrm>
              <a:off x="4648385" y="3147805"/>
              <a:ext cx="2380891" cy="1112808"/>
            </a:xfrm>
            <a:prstGeom prst="upArrowCallout">
              <a:avLst>
                <a:gd name="adj1" fmla="val 28161"/>
                <a:gd name="adj2" fmla="val 27599"/>
                <a:gd name="adj3" fmla="val 14543"/>
                <a:gd name="adj4" fmla="val 76909"/>
              </a:avLst>
            </a:prstGeom>
            <a:solidFill>
              <a:srgbClr val="F1C911"/>
            </a:solidFill>
            <a:ln>
              <a:solidFill>
                <a:srgbClr val="F1C9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/>
                  </a:solidFill>
                </a:rPr>
                <a:t>Esta aceita </a:t>
              </a:r>
              <a:r>
                <a:rPr lang="pt-BR" dirty="0" err="1">
                  <a:solidFill>
                    <a:schemeClr val="bg1"/>
                  </a:solidFill>
                </a:rPr>
                <a:t>DirectQuery</a:t>
              </a:r>
              <a:endParaRPr lang="pt-BR" dirty="0">
                <a:solidFill>
                  <a:schemeClr val="bg1"/>
                </a:solidFill>
              </a:endParaRPr>
            </a:p>
            <a:p>
              <a:pPr algn="ctr"/>
              <a:endParaRPr lang="pt-BR" dirty="0"/>
            </a:p>
          </p:txBody>
        </p:sp>
        <p:pic>
          <p:nvPicPr>
            <p:cNvPr id="17" name="Gráfico 16" descr="Sinal de Polegar para Cima">
              <a:extLst>
                <a:ext uri="{FF2B5EF4-FFF2-40B4-BE49-F238E27FC236}">
                  <a16:creationId xmlns:a16="http://schemas.microsoft.com/office/drawing/2014/main" id="{7603166C-2547-41AE-8F23-0BC4D996E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0438" y="3866225"/>
              <a:ext cx="256783" cy="256783"/>
            </a:xfrm>
            <a:prstGeom prst="rect">
              <a:avLst/>
            </a:prstGeom>
          </p:spPr>
        </p:pic>
      </p:grpSp>
      <p:pic>
        <p:nvPicPr>
          <p:cNvPr id="24" name="Imagem 23" descr="Uma imagem contendo captura de tela&#10;&#10;Descrição gerada com muito alta confiança">
            <a:extLst>
              <a:ext uri="{FF2B5EF4-FFF2-40B4-BE49-F238E27FC236}">
                <a16:creationId xmlns:a16="http://schemas.microsoft.com/office/drawing/2014/main" id="{2E3D89CF-B4EF-4ECE-94EA-7C6667762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0082" y="1647154"/>
            <a:ext cx="9804220" cy="521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Cloudera manager</a:t>
            </a:r>
          </a:p>
        </p:txBody>
      </p:sp>
      <p:pic>
        <p:nvPicPr>
          <p:cNvPr id="10" name="Imagem 9" descr="Uma imagem contendo captura de tela&#10;&#10;Descrição gerada com muito alta confiança">
            <a:extLst>
              <a:ext uri="{FF2B5EF4-FFF2-40B4-BE49-F238E27FC236}">
                <a16:creationId xmlns:a16="http://schemas.microsoft.com/office/drawing/2014/main" id="{E6EEC8E9-B17E-4FB2-8E49-597BD6A54D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13" b="7972"/>
          <a:stretch/>
        </p:blipFill>
        <p:spPr>
          <a:xfrm>
            <a:off x="1475384" y="1896487"/>
            <a:ext cx="8531440" cy="53560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Imagem 13" descr="Uma imagem contendo captura de tela&#10;&#10;Descrição gerada com muito alta confiança">
            <a:extLst>
              <a:ext uri="{FF2B5EF4-FFF2-40B4-BE49-F238E27FC236}">
                <a16:creationId xmlns:a16="http://schemas.microsoft.com/office/drawing/2014/main" id="{AC469A3E-A4C4-4DBF-A7BF-1933182AA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358" y="1881611"/>
            <a:ext cx="6122355" cy="5094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Imagem 15" descr="Uma imagem contendo captura de tela, interior&#10;&#10;Descrição gerada com muito alta confiança">
            <a:extLst>
              <a:ext uri="{FF2B5EF4-FFF2-40B4-BE49-F238E27FC236}">
                <a16:creationId xmlns:a16="http://schemas.microsoft.com/office/drawing/2014/main" id="{A7D6807C-AB4B-4FF8-BF0D-97A22A410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76" y="1899367"/>
            <a:ext cx="10419734" cy="45634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984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F20E5-5917-491C-8E02-CF23ED56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Cloudera </a:t>
            </a:r>
            <a:r>
              <a:rPr lang="pt-BR" dirty="0" err="1"/>
              <a:t>navigator</a:t>
            </a:r>
            <a:endParaRPr lang="pt-BR" dirty="0"/>
          </a:p>
        </p:txBody>
      </p:sp>
      <p:pic>
        <p:nvPicPr>
          <p:cNvPr id="6" name="Imagem 5" descr="Uma imagem contendo captura de tela&#10;&#10;Descrição gerada com muito alta confiança">
            <a:extLst>
              <a:ext uri="{FF2B5EF4-FFF2-40B4-BE49-F238E27FC236}">
                <a16:creationId xmlns:a16="http://schemas.microsoft.com/office/drawing/2014/main" id="{F3D30323-4991-4B2F-A27C-B8F07A842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77" r="1598" b="12104"/>
          <a:stretch/>
        </p:blipFill>
        <p:spPr>
          <a:xfrm>
            <a:off x="1489546" y="1809914"/>
            <a:ext cx="9209732" cy="5190132"/>
          </a:xfrm>
          <a:prstGeom prst="rect">
            <a:avLst/>
          </a:prstGeom>
        </p:spPr>
      </p:pic>
      <p:pic>
        <p:nvPicPr>
          <p:cNvPr id="8" name="Imagem 7" descr="Uma imagem contendo captura de tela&#10;&#10;Descrição gerada com muito alta confiança">
            <a:extLst>
              <a:ext uri="{FF2B5EF4-FFF2-40B4-BE49-F238E27FC236}">
                <a16:creationId xmlns:a16="http://schemas.microsoft.com/office/drawing/2014/main" id="{92D58DC9-C875-41B8-85A2-DCFDE206BB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231"/>
          <a:stretch/>
        </p:blipFill>
        <p:spPr>
          <a:xfrm>
            <a:off x="1489545" y="1738890"/>
            <a:ext cx="9209731" cy="519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6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Agrupar 31">
            <a:extLst>
              <a:ext uri="{FF2B5EF4-FFF2-40B4-BE49-F238E27FC236}">
                <a16:creationId xmlns:a16="http://schemas.microsoft.com/office/drawing/2014/main" id="{43DF2ED1-38F8-4A87-BF3C-789FDF7DA020}"/>
              </a:ext>
            </a:extLst>
          </p:cNvPr>
          <p:cNvGrpSpPr/>
          <p:nvPr/>
        </p:nvGrpSpPr>
        <p:grpSpPr>
          <a:xfrm>
            <a:off x="7258291" y="3406524"/>
            <a:ext cx="2742959" cy="2607730"/>
            <a:chOff x="7620241" y="3035049"/>
            <a:chExt cx="2985712" cy="2563632"/>
          </a:xfrm>
          <a:solidFill>
            <a:schemeClr val="tx1">
              <a:lumMod val="75000"/>
            </a:schemeClr>
          </a:solidFill>
        </p:grpSpPr>
        <p:sp>
          <p:nvSpPr>
            <p:cNvPr id="239" name="Retângulo 238">
              <a:extLst>
                <a:ext uri="{FF2B5EF4-FFF2-40B4-BE49-F238E27FC236}">
                  <a16:creationId xmlns:a16="http://schemas.microsoft.com/office/drawing/2014/main" id="{16A15BAA-2608-4F58-A169-4CCFBFB76776}"/>
                </a:ext>
              </a:extLst>
            </p:cNvPr>
            <p:cNvSpPr/>
            <p:nvPr/>
          </p:nvSpPr>
          <p:spPr>
            <a:xfrm>
              <a:off x="7620241" y="3035049"/>
              <a:ext cx="2985712" cy="2563632"/>
            </a:xfrm>
            <a:prstGeom prst="rect">
              <a:avLst/>
            </a:prstGeom>
            <a:grpFill/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bIns="36000" rtlCol="0" anchor="ctr"/>
            <a:lstStyle/>
            <a:p>
              <a:pPr algn="ctr"/>
              <a:endParaRPr lang="pt-BR" sz="1500" dirty="0"/>
            </a:p>
          </p:txBody>
        </p:sp>
        <p:sp>
          <p:nvSpPr>
            <p:cNvPr id="240" name="CaixaDeTexto 239">
              <a:extLst>
                <a:ext uri="{FF2B5EF4-FFF2-40B4-BE49-F238E27FC236}">
                  <a16:creationId xmlns:a16="http://schemas.microsoft.com/office/drawing/2014/main" id="{A2384E35-C89A-4631-94CF-5B33EBBCE24E}"/>
                </a:ext>
              </a:extLst>
            </p:cNvPr>
            <p:cNvSpPr txBox="1"/>
            <p:nvPr/>
          </p:nvSpPr>
          <p:spPr>
            <a:xfrm>
              <a:off x="8639092" y="3079332"/>
              <a:ext cx="948010" cy="3231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</a:rPr>
                <a:t>IMPALA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1F664-3E4D-4498-B992-5F9EBC41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resumindo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EA87493-81CF-421E-81F1-7BA585CF0A43}"/>
              </a:ext>
            </a:extLst>
          </p:cNvPr>
          <p:cNvGrpSpPr/>
          <p:nvPr/>
        </p:nvGrpSpPr>
        <p:grpSpPr>
          <a:xfrm>
            <a:off x="588524" y="2539163"/>
            <a:ext cx="6369950" cy="3337672"/>
            <a:chOff x="950474" y="2167688"/>
            <a:chExt cx="6369950" cy="3337672"/>
          </a:xfrm>
        </p:grpSpPr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id="{3EA46AB4-7046-4D59-876D-ED27A16CB375}"/>
                </a:ext>
              </a:extLst>
            </p:cNvPr>
            <p:cNvSpPr/>
            <p:nvPr/>
          </p:nvSpPr>
          <p:spPr>
            <a:xfrm>
              <a:off x="5589803" y="2190746"/>
              <a:ext cx="1730621" cy="331461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8EC313F6-8874-4B41-9DDF-920111BD6358}"/>
                </a:ext>
              </a:extLst>
            </p:cNvPr>
            <p:cNvSpPr/>
            <p:nvPr/>
          </p:nvSpPr>
          <p:spPr>
            <a:xfrm>
              <a:off x="950474" y="2190746"/>
              <a:ext cx="1730621" cy="331461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6369CF5C-4DC5-470C-A122-6300CA41BD36}"/>
                </a:ext>
              </a:extLst>
            </p:cNvPr>
            <p:cNvSpPr/>
            <p:nvPr/>
          </p:nvSpPr>
          <p:spPr>
            <a:xfrm>
              <a:off x="3104216" y="2190746"/>
              <a:ext cx="2013357" cy="331461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pic>
          <p:nvPicPr>
            <p:cNvPr id="9" name="Gráfico 8" descr="Hierarquia">
              <a:extLst>
                <a:ext uri="{FF2B5EF4-FFF2-40B4-BE49-F238E27FC236}">
                  <a16:creationId xmlns:a16="http://schemas.microsoft.com/office/drawing/2014/main" id="{0F5C8AEF-624C-48F0-9BAD-F45C70B30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53694" y="2547981"/>
              <a:ext cx="914400" cy="914400"/>
            </a:xfrm>
            <a:prstGeom prst="rect">
              <a:avLst/>
            </a:prstGeom>
          </p:spPr>
        </p:pic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C6C2F305-1D1C-4075-839D-C15B2BAD3D6C}"/>
                </a:ext>
              </a:extLst>
            </p:cNvPr>
            <p:cNvSpPr txBox="1"/>
            <p:nvPr/>
          </p:nvSpPr>
          <p:spPr>
            <a:xfrm>
              <a:off x="3195804" y="2167688"/>
              <a:ext cx="1830181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300" b="1" dirty="0">
                  <a:solidFill>
                    <a:schemeClr val="accent2">
                      <a:lumMod val="75000"/>
                    </a:schemeClr>
                  </a:solidFill>
                </a:rPr>
                <a:t>Cluster Kafka</a:t>
              </a:r>
            </a:p>
          </p:txBody>
        </p: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4D8CA3C4-EA7D-4145-A4D1-8E802E2B22A4}"/>
                </a:ext>
              </a:extLst>
            </p:cNvPr>
            <p:cNvGrpSpPr/>
            <p:nvPr/>
          </p:nvGrpSpPr>
          <p:grpSpPr>
            <a:xfrm>
              <a:off x="4788025" y="3628622"/>
              <a:ext cx="1079410" cy="914400"/>
              <a:chOff x="3450809" y="3766824"/>
              <a:chExt cx="1079410" cy="914400"/>
            </a:xfrm>
          </p:grpSpPr>
          <p:pic>
            <p:nvPicPr>
              <p:cNvPr id="41" name="Gráfico 40" descr="Seta: curva ligeira">
                <a:extLst>
                  <a:ext uri="{FF2B5EF4-FFF2-40B4-BE49-F238E27FC236}">
                    <a16:creationId xmlns:a16="http://schemas.microsoft.com/office/drawing/2014/main" id="{5080CD9A-2BBC-4B15-848D-EC7D46E407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42" name="Agrupar 41">
                <a:extLst>
                  <a:ext uri="{FF2B5EF4-FFF2-40B4-BE49-F238E27FC236}">
                    <a16:creationId xmlns:a16="http://schemas.microsoft.com/office/drawing/2014/main" id="{ECBFE7C3-DC08-4FFE-B038-E1AA113E99C6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43" name="Retângulo 42">
                  <a:extLst>
                    <a:ext uri="{FF2B5EF4-FFF2-40B4-BE49-F238E27FC236}">
                      <a16:creationId xmlns:a16="http://schemas.microsoft.com/office/drawing/2014/main" id="{5A79A7B0-9FC3-46D1-897E-0CFDBA949C79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44" name="Gráfico 43" descr="Envelope">
                  <a:extLst>
                    <a:ext uri="{FF2B5EF4-FFF2-40B4-BE49-F238E27FC236}">
                      <a16:creationId xmlns:a16="http://schemas.microsoft.com/office/drawing/2014/main" id="{5009417D-A028-42F9-A4A1-611C36FA3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0C8A0461-E6AA-4285-94BE-F0AD034D723D}"/>
                </a:ext>
              </a:extLst>
            </p:cNvPr>
            <p:cNvGrpSpPr/>
            <p:nvPr/>
          </p:nvGrpSpPr>
          <p:grpSpPr>
            <a:xfrm>
              <a:off x="1125889" y="2733671"/>
              <a:ext cx="1379790" cy="2771688"/>
              <a:chOff x="2673060" y="2831671"/>
              <a:chExt cx="1466235" cy="2945336"/>
            </a:xfrm>
          </p:grpSpPr>
          <p:grpSp>
            <p:nvGrpSpPr>
              <p:cNvPr id="14" name="Agrupar 13">
                <a:extLst>
                  <a:ext uri="{FF2B5EF4-FFF2-40B4-BE49-F238E27FC236}">
                    <a16:creationId xmlns:a16="http://schemas.microsoft.com/office/drawing/2014/main" id="{10142769-8BD1-4521-B746-B6D02BF415C6}"/>
                  </a:ext>
                </a:extLst>
              </p:cNvPr>
              <p:cNvGrpSpPr/>
              <p:nvPr/>
            </p:nvGrpSpPr>
            <p:grpSpPr>
              <a:xfrm>
                <a:off x="2673060" y="3768741"/>
                <a:ext cx="1466235" cy="1071195"/>
                <a:chOff x="389095" y="3059668"/>
                <a:chExt cx="1466235" cy="1071195"/>
              </a:xfrm>
            </p:grpSpPr>
            <p:pic>
              <p:nvPicPr>
                <p:cNvPr id="5" name="Gráfico 4" descr="Computador">
                  <a:extLst>
                    <a:ext uri="{FF2B5EF4-FFF2-40B4-BE49-F238E27FC236}">
                      <a16:creationId xmlns:a16="http://schemas.microsoft.com/office/drawing/2014/main" id="{ACDEFD00-E210-4F32-9AD7-BAABAEE626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C9C701AD-6967-4201-878A-EB262D72C3E1}"/>
                    </a:ext>
                  </a:extLst>
                </p:cNvPr>
                <p:cNvSpPr txBox="1"/>
                <p:nvPr/>
              </p:nvSpPr>
              <p:spPr>
                <a:xfrm>
                  <a:off x="389095" y="3059668"/>
                  <a:ext cx="14662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/>
                    <a:t>App Parceiros</a:t>
                  </a:r>
                </a:p>
              </p:txBody>
            </p:sp>
          </p:grpSp>
          <p:grpSp>
            <p:nvGrpSpPr>
              <p:cNvPr id="45" name="Agrupar 44">
                <a:extLst>
                  <a:ext uri="{FF2B5EF4-FFF2-40B4-BE49-F238E27FC236}">
                    <a16:creationId xmlns:a16="http://schemas.microsoft.com/office/drawing/2014/main" id="{6CA3BE6E-B82B-4662-936B-654EC8327E73}"/>
                  </a:ext>
                </a:extLst>
              </p:cNvPr>
              <p:cNvGrpSpPr/>
              <p:nvPr/>
            </p:nvGrpSpPr>
            <p:grpSpPr>
              <a:xfrm>
                <a:off x="2732848" y="4705812"/>
                <a:ext cx="1346651" cy="1071195"/>
                <a:chOff x="448883" y="3059668"/>
                <a:chExt cx="1346651" cy="1071195"/>
              </a:xfrm>
            </p:grpSpPr>
            <p:pic>
              <p:nvPicPr>
                <p:cNvPr id="46" name="Gráfico 45" descr="Computador">
                  <a:extLst>
                    <a:ext uri="{FF2B5EF4-FFF2-40B4-BE49-F238E27FC236}">
                      <a16:creationId xmlns:a16="http://schemas.microsoft.com/office/drawing/2014/main" id="{0DC9B8EB-94AA-4E17-A70C-C90065CD08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7E17FB88-AF8B-4DBC-A934-1CC365E506C6}"/>
                    </a:ext>
                  </a:extLst>
                </p:cNvPr>
                <p:cNvSpPr txBox="1"/>
                <p:nvPr/>
              </p:nvSpPr>
              <p:spPr>
                <a:xfrm>
                  <a:off x="448883" y="3059668"/>
                  <a:ext cx="13466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/>
                    <a:t>App Internas</a:t>
                  </a:r>
                </a:p>
              </p:txBody>
            </p:sp>
          </p:grpSp>
          <p:grpSp>
            <p:nvGrpSpPr>
              <p:cNvPr id="48" name="Agrupar 47">
                <a:extLst>
                  <a:ext uri="{FF2B5EF4-FFF2-40B4-BE49-F238E27FC236}">
                    <a16:creationId xmlns:a16="http://schemas.microsoft.com/office/drawing/2014/main" id="{25486D6A-6ABC-4B4C-8188-BF953F3A36DA}"/>
                  </a:ext>
                </a:extLst>
              </p:cNvPr>
              <p:cNvGrpSpPr/>
              <p:nvPr/>
            </p:nvGrpSpPr>
            <p:grpSpPr>
              <a:xfrm>
                <a:off x="2779368" y="2831671"/>
                <a:ext cx="1253613" cy="1071195"/>
                <a:chOff x="495403" y="3059668"/>
                <a:chExt cx="1253613" cy="1071195"/>
              </a:xfrm>
            </p:grpSpPr>
            <p:pic>
              <p:nvPicPr>
                <p:cNvPr id="49" name="Gráfico 48" descr="Computador">
                  <a:extLst>
                    <a:ext uri="{FF2B5EF4-FFF2-40B4-BE49-F238E27FC236}">
                      <a16:creationId xmlns:a16="http://schemas.microsoft.com/office/drawing/2014/main" id="{FE2DA0C2-1162-477D-868C-1C0D1624F5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79958B25-FDF9-43FD-8809-5E92F3A69B61}"/>
                    </a:ext>
                  </a:extLst>
                </p:cNvPr>
                <p:cNvSpPr txBox="1"/>
                <p:nvPr/>
              </p:nvSpPr>
              <p:spPr>
                <a:xfrm>
                  <a:off x="495403" y="3059668"/>
                  <a:ext cx="12536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/>
                    <a:t>App Twitter</a:t>
                  </a:r>
                </a:p>
              </p:txBody>
            </p:sp>
          </p:grpSp>
        </p:grpSp>
        <p:grpSp>
          <p:nvGrpSpPr>
            <p:cNvPr id="86" name="Agrupar 85">
              <a:extLst>
                <a:ext uri="{FF2B5EF4-FFF2-40B4-BE49-F238E27FC236}">
                  <a16:creationId xmlns:a16="http://schemas.microsoft.com/office/drawing/2014/main" id="{DEBDCDDE-CA7C-4291-B543-43E028D9BE74}"/>
                </a:ext>
              </a:extLst>
            </p:cNvPr>
            <p:cNvGrpSpPr/>
            <p:nvPr/>
          </p:nvGrpSpPr>
          <p:grpSpPr>
            <a:xfrm>
              <a:off x="5888522" y="2733671"/>
              <a:ext cx="1133182" cy="2771688"/>
              <a:chOff x="7414251" y="2829754"/>
              <a:chExt cx="1204177" cy="2945336"/>
            </a:xfrm>
          </p:grpSpPr>
          <p:grpSp>
            <p:nvGrpSpPr>
              <p:cNvPr id="51" name="Agrupar 50">
                <a:extLst>
                  <a:ext uri="{FF2B5EF4-FFF2-40B4-BE49-F238E27FC236}">
                    <a16:creationId xmlns:a16="http://schemas.microsoft.com/office/drawing/2014/main" id="{FE4BC7FE-FC0E-47C3-A745-90A6068066E6}"/>
                  </a:ext>
                </a:extLst>
              </p:cNvPr>
              <p:cNvGrpSpPr/>
              <p:nvPr/>
            </p:nvGrpSpPr>
            <p:grpSpPr>
              <a:xfrm>
                <a:off x="7426273" y="3766824"/>
                <a:ext cx="1180131" cy="1071195"/>
                <a:chOff x="532141" y="3059668"/>
                <a:chExt cx="1180131" cy="1071195"/>
              </a:xfrm>
            </p:grpSpPr>
            <p:pic>
              <p:nvPicPr>
                <p:cNvPr id="52" name="Gráfico 51" descr="Computador">
                  <a:extLst>
                    <a:ext uri="{FF2B5EF4-FFF2-40B4-BE49-F238E27FC236}">
                      <a16:creationId xmlns:a16="http://schemas.microsoft.com/office/drawing/2014/main" id="{E95645C1-040D-4D72-B26C-EFA4A8719F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3" name="CaixaDeTexto 52">
                  <a:extLst>
                    <a:ext uri="{FF2B5EF4-FFF2-40B4-BE49-F238E27FC236}">
                      <a16:creationId xmlns:a16="http://schemas.microsoft.com/office/drawing/2014/main" id="{A0689A77-A56D-4650-AF00-C3F22CB44A92}"/>
                    </a:ext>
                  </a:extLst>
                </p:cNvPr>
                <p:cNvSpPr txBox="1"/>
                <p:nvPr/>
              </p:nvSpPr>
              <p:spPr>
                <a:xfrm>
                  <a:off x="532141" y="3059668"/>
                  <a:ext cx="1180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 err="1"/>
                    <a:t>ConsumerB</a:t>
                  </a:r>
                  <a:endParaRPr lang="pt-BR" dirty="0"/>
                </a:p>
              </p:txBody>
            </p:sp>
          </p:grpSp>
          <p:grpSp>
            <p:nvGrpSpPr>
              <p:cNvPr id="54" name="Agrupar 53">
                <a:extLst>
                  <a:ext uri="{FF2B5EF4-FFF2-40B4-BE49-F238E27FC236}">
                    <a16:creationId xmlns:a16="http://schemas.microsoft.com/office/drawing/2014/main" id="{BA3A23B3-AF24-4843-BDA0-E0A795F7C1C7}"/>
                  </a:ext>
                </a:extLst>
              </p:cNvPr>
              <p:cNvGrpSpPr/>
              <p:nvPr/>
            </p:nvGrpSpPr>
            <p:grpSpPr>
              <a:xfrm>
                <a:off x="7414251" y="4703895"/>
                <a:ext cx="1204176" cy="1071195"/>
                <a:chOff x="520119" y="3059668"/>
                <a:chExt cx="1204176" cy="1071195"/>
              </a:xfrm>
            </p:grpSpPr>
            <p:pic>
              <p:nvPicPr>
                <p:cNvPr id="55" name="Gráfico 54" descr="Computador">
                  <a:extLst>
                    <a:ext uri="{FF2B5EF4-FFF2-40B4-BE49-F238E27FC236}">
                      <a16:creationId xmlns:a16="http://schemas.microsoft.com/office/drawing/2014/main" id="{791256E2-BDB4-4E13-B954-614F9BFF30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6" name="CaixaDeTexto 55">
                  <a:extLst>
                    <a:ext uri="{FF2B5EF4-FFF2-40B4-BE49-F238E27FC236}">
                      <a16:creationId xmlns:a16="http://schemas.microsoft.com/office/drawing/2014/main" id="{47E46551-9F4F-4825-A1DC-6EEE3F748635}"/>
                    </a:ext>
                  </a:extLst>
                </p:cNvPr>
                <p:cNvSpPr txBox="1"/>
                <p:nvPr/>
              </p:nvSpPr>
              <p:spPr>
                <a:xfrm>
                  <a:off x="520119" y="3059668"/>
                  <a:ext cx="120417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 err="1"/>
                    <a:t>ConsumerC</a:t>
                  </a:r>
                  <a:endParaRPr lang="pt-BR" dirty="0"/>
                </a:p>
                <a:p>
                  <a:pPr algn="ctr"/>
                  <a:endParaRPr lang="pt-BR" dirty="0"/>
                </a:p>
              </p:txBody>
            </p:sp>
          </p:grpSp>
          <p:grpSp>
            <p:nvGrpSpPr>
              <p:cNvPr id="57" name="Agrupar 56">
                <a:extLst>
                  <a:ext uri="{FF2B5EF4-FFF2-40B4-BE49-F238E27FC236}">
                    <a16:creationId xmlns:a16="http://schemas.microsoft.com/office/drawing/2014/main" id="{499F7FB9-E102-48C7-B80F-C0BCE115EEB5}"/>
                  </a:ext>
                </a:extLst>
              </p:cNvPr>
              <p:cNvGrpSpPr/>
              <p:nvPr/>
            </p:nvGrpSpPr>
            <p:grpSpPr>
              <a:xfrm>
                <a:off x="7414252" y="2829754"/>
                <a:ext cx="1204176" cy="1071195"/>
                <a:chOff x="520120" y="3059668"/>
                <a:chExt cx="1204176" cy="1071195"/>
              </a:xfrm>
            </p:grpSpPr>
            <p:pic>
              <p:nvPicPr>
                <p:cNvPr id="58" name="Gráfico 57" descr="Computador">
                  <a:extLst>
                    <a:ext uri="{FF2B5EF4-FFF2-40B4-BE49-F238E27FC236}">
                      <a16:creationId xmlns:a16="http://schemas.microsoft.com/office/drawing/2014/main" id="{58ADF007-42A6-4921-832E-34F3DE100E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9" name="CaixaDeTexto 58">
                  <a:extLst>
                    <a:ext uri="{FF2B5EF4-FFF2-40B4-BE49-F238E27FC236}">
                      <a16:creationId xmlns:a16="http://schemas.microsoft.com/office/drawing/2014/main" id="{D28CA5B6-3A1C-4B26-BF77-90AB0814201D}"/>
                    </a:ext>
                  </a:extLst>
                </p:cNvPr>
                <p:cNvSpPr txBox="1"/>
                <p:nvPr/>
              </p:nvSpPr>
              <p:spPr>
                <a:xfrm>
                  <a:off x="520120" y="3059668"/>
                  <a:ext cx="12041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 err="1"/>
                    <a:t>ConsumerA</a:t>
                  </a:r>
                  <a:endParaRPr lang="pt-BR" dirty="0"/>
                </a:p>
              </p:txBody>
            </p:sp>
          </p:grpSp>
        </p:grpSp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id="{234CEC0C-4F53-4F24-9E91-D876F79C1061}"/>
                </a:ext>
              </a:extLst>
            </p:cNvPr>
            <p:cNvGrpSpPr/>
            <p:nvPr/>
          </p:nvGrpSpPr>
          <p:grpSpPr>
            <a:xfrm rot="1181874">
              <a:off x="4788025" y="4139140"/>
              <a:ext cx="1079410" cy="914400"/>
              <a:chOff x="3450809" y="3766824"/>
              <a:chExt cx="1079410" cy="914400"/>
            </a:xfrm>
          </p:grpSpPr>
          <p:pic>
            <p:nvPicPr>
              <p:cNvPr id="61" name="Gráfico 60" descr="Seta: curva ligeira">
                <a:extLst>
                  <a:ext uri="{FF2B5EF4-FFF2-40B4-BE49-F238E27FC236}">
                    <a16:creationId xmlns:a16="http://schemas.microsoft.com/office/drawing/2014/main" id="{C9A0437A-0D18-40AC-ADB9-28C23A3F9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62" name="Agrupar 61">
                <a:extLst>
                  <a:ext uri="{FF2B5EF4-FFF2-40B4-BE49-F238E27FC236}">
                    <a16:creationId xmlns:a16="http://schemas.microsoft.com/office/drawing/2014/main" id="{1D911C17-A5DE-4834-9972-F6147B852A88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63" name="Retângulo 62">
                  <a:extLst>
                    <a:ext uri="{FF2B5EF4-FFF2-40B4-BE49-F238E27FC236}">
                      <a16:creationId xmlns:a16="http://schemas.microsoft.com/office/drawing/2014/main" id="{378A650D-BD95-40B2-BD2C-899049D7BB69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64" name="Gráfico 63" descr="Envelope">
                  <a:extLst>
                    <a:ext uri="{FF2B5EF4-FFF2-40B4-BE49-F238E27FC236}">
                      <a16:creationId xmlns:a16="http://schemas.microsoft.com/office/drawing/2014/main" id="{9E891E41-0DF1-4924-B1A5-A24C70B99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5" name="Agrupar 64">
              <a:extLst>
                <a:ext uri="{FF2B5EF4-FFF2-40B4-BE49-F238E27FC236}">
                  <a16:creationId xmlns:a16="http://schemas.microsoft.com/office/drawing/2014/main" id="{9A70D72F-6758-4EE1-8E41-D7BE9CFE85EB}"/>
                </a:ext>
              </a:extLst>
            </p:cNvPr>
            <p:cNvGrpSpPr/>
            <p:nvPr/>
          </p:nvGrpSpPr>
          <p:grpSpPr>
            <a:xfrm rot="20261418">
              <a:off x="4788025" y="3076588"/>
              <a:ext cx="1079410" cy="914400"/>
              <a:chOff x="3450809" y="3766824"/>
              <a:chExt cx="1079410" cy="914400"/>
            </a:xfrm>
          </p:grpSpPr>
          <p:pic>
            <p:nvPicPr>
              <p:cNvPr id="66" name="Gráfico 65" descr="Seta: curva ligeira">
                <a:extLst>
                  <a:ext uri="{FF2B5EF4-FFF2-40B4-BE49-F238E27FC236}">
                    <a16:creationId xmlns:a16="http://schemas.microsoft.com/office/drawing/2014/main" id="{CAA601AD-CA8C-4AE1-9216-599E615D5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67" name="Agrupar 66">
                <a:extLst>
                  <a:ext uri="{FF2B5EF4-FFF2-40B4-BE49-F238E27FC236}">
                    <a16:creationId xmlns:a16="http://schemas.microsoft.com/office/drawing/2014/main" id="{B1905097-8638-47B0-B5F3-8EB2B6C64E8C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68" name="Retângulo 67">
                  <a:extLst>
                    <a:ext uri="{FF2B5EF4-FFF2-40B4-BE49-F238E27FC236}">
                      <a16:creationId xmlns:a16="http://schemas.microsoft.com/office/drawing/2014/main" id="{11E7F63F-5765-4B7D-B0B4-A8D764BEDD2B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69" name="Gráfico 68" descr="Envelope">
                  <a:extLst>
                    <a:ext uri="{FF2B5EF4-FFF2-40B4-BE49-F238E27FC236}">
                      <a16:creationId xmlns:a16="http://schemas.microsoft.com/office/drawing/2014/main" id="{C008883A-F9A0-45D3-8CBA-E524A78B22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0" name="Agrupar 69">
              <a:extLst>
                <a:ext uri="{FF2B5EF4-FFF2-40B4-BE49-F238E27FC236}">
                  <a16:creationId xmlns:a16="http://schemas.microsoft.com/office/drawing/2014/main" id="{573583CC-8D87-484D-889A-4589DEE2268B}"/>
                </a:ext>
              </a:extLst>
            </p:cNvPr>
            <p:cNvGrpSpPr/>
            <p:nvPr/>
          </p:nvGrpSpPr>
          <p:grpSpPr>
            <a:xfrm rot="21358998">
              <a:off x="2306279" y="3781022"/>
              <a:ext cx="1079410" cy="914400"/>
              <a:chOff x="3450809" y="3766824"/>
              <a:chExt cx="1079410" cy="914400"/>
            </a:xfrm>
          </p:grpSpPr>
          <p:pic>
            <p:nvPicPr>
              <p:cNvPr id="71" name="Gráfico 70" descr="Seta: curva ligeira">
                <a:extLst>
                  <a:ext uri="{FF2B5EF4-FFF2-40B4-BE49-F238E27FC236}">
                    <a16:creationId xmlns:a16="http://schemas.microsoft.com/office/drawing/2014/main" id="{871B05E1-1447-4BD8-9D5D-D118E6AC89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72" name="Agrupar 71">
                <a:extLst>
                  <a:ext uri="{FF2B5EF4-FFF2-40B4-BE49-F238E27FC236}">
                    <a16:creationId xmlns:a16="http://schemas.microsoft.com/office/drawing/2014/main" id="{D21A0642-A87A-44E3-BA05-A79FF2A1B438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73" name="Retângulo 72">
                  <a:extLst>
                    <a:ext uri="{FF2B5EF4-FFF2-40B4-BE49-F238E27FC236}">
                      <a16:creationId xmlns:a16="http://schemas.microsoft.com/office/drawing/2014/main" id="{B4FD1B64-7707-4166-81E9-4AAE30E01F58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74" name="Gráfico 73" descr="Envelope">
                  <a:extLst>
                    <a:ext uri="{FF2B5EF4-FFF2-40B4-BE49-F238E27FC236}">
                      <a16:creationId xmlns:a16="http://schemas.microsoft.com/office/drawing/2014/main" id="{480F54F7-2DEE-4D5F-ACB8-8B309132F7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id="{5EFAB0D8-2029-42E4-B56C-27B948674BD7}"/>
                </a:ext>
              </a:extLst>
            </p:cNvPr>
            <p:cNvGrpSpPr/>
            <p:nvPr/>
          </p:nvGrpSpPr>
          <p:grpSpPr>
            <a:xfrm rot="20352240">
              <a:off x="2306279" y="4291540"/>
              <a:ext cx="1079410" cy="914400"/>
              <a:chOff x="3450809" y="3766824"/>
              <a:chExt cx="1079410" cy="914400"/>
            </a:xfrm>
          </p:grpSpPr>
          <p:pic>
            <p:nvPicPr>
              <p:cNvPr id="76" name="Gráfico 75" descr="Seta: curva ligeira">
                <a:extLst>
                  <a:ext uri="{FF2B5EF4-FFF2-40B4-BE49-F238E27FC236}">
                    <a16:creationId xmlns:a16="http://schemas.microsoft.com/office/drawing/2014/main" id="{1D4115D1-20EC-421F-B594-D6C1C1E82B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77" name="Agrupar 76">
                <a:extLst>
                  <a:ext uri="{FF2B5EF4-FFF2-40B4-BE49-F238E27FC236}">
                    <a16:creationId xmlns:a16="http://schemas.microsoft.com/office/drawing/2014/main" id="{F255C01A-3CB7-45FC-A84E-00E207AA0702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78" name="Retângulo 77">
                  <a:extLst>
                    <a:ext uri="{FF2B5EF4-FFF2-40B4-BE49-F238E27FC236}">
                      <a16:creationId xmlns:a16="http://schemas.microsoft.com/office/drawing/2014/main" id="{822FC7A0-F620-490E-867D-070135CDCC4B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79" name="Gráfico 78" descr="Envelope">
                  <a:extLst>
                    <a:ext uri="{FF2B5EF4-FFF2-40B4-BE49-F238E27FC236}">
                      <a16:creationId xmlns:a16="http://schemas.microsoft.com/office/drawing/2014/main" id="{4892B6E0-2B2E-4F23-81D5-D2C244366F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0" name="Agrupar 79">
              <a:extLst>
                <a:ext uri="{FF2B5EF4-FFF2-40B4-BE49-F238E27FC236}">
                  <a16:creationId xmlns:a16="http://schemas.microsoft.com/office/drawing/2014/main" id="{27B33190-DF4F-4AAF-B56A-DB07D39EE5E6}"/>
                </a:ext>
              </a:extLst>
            </p:cNvPr>
            <p:cNvGrpSpPr/>
            <p:nvPr/>
          </p:nvGrpSpPr>
          <p:grpSpPr>
            <a:xfrm rot="851090">
              <a:off x="2306279" y="3228988"/>
              <a:ext cx="1079410" cy="914400"/>
              <a:chOff x="3450809" y="3766824"/>
              <a:chExt cx="1079410" cy="914400"/>
            </a:xfrm>
          </p:grpSpPr>
          <p:pic>
            <p:nvPicPr>
              <p:cNvPr id="81" name="Gráfico 80" descr="Seta: curva ligeira">
                <a:extLst>
                  <a:ext uri="{FF2B5EF4-FFF2-40B4-BE49-F238E27FC236}">
                    <a16:creationId xmlns:a16="http://schemas.microsoft.com/office/drawing/2014/main" id="{E4978199-7DC8-4777-9413-7396EFC4A1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82" name="Agrupar 81">
                <a:extLst>
                  <a:ext uri="{FF2B5EF4-FFF2-40B4-BE49-F238E27FC236}">
                    <a16:creationId xmlns:a16="http://schemas.microsoft.com/office/drawing/2014/main" id="{C6453562-A631-4DCD-B983-16E1D447326D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83" name="Retângulo 82">
                  <a:extLst>
                    <a:ext uri="{FF2B5EF4-FFF2-40B4-BE49-F238E27FC236}">
                      <a16:creationId xmlns:a16="http://schemas.microsoft.com/office/drawing/2014/main" id="{E7C3C5A3-DA00-478B-99C3-AEC7A1ABF0BB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84" name="Gráfico 83" descr="Envelope">
                  <a:extLst>
                    <a:ext uri="{FF2B5EF4-FFF2-40B4-BE49-F238E27FC236}">
                      <a16:creationId xmlns:a16="http://schemas.microsoft.com/office/drawing/2014/main" id="{F8FC55B0-5DFB-4BE7-A0D2-156CC8E32C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CBC3D257-E3D2-47A0-B9EC-C3D232BCF113}"/>
                </a:ext>
              </a:extLst>
            </p:cNvPr>
            <p:cNvGrpSpPr/>
            <p:nvPr/>
          </p:nvGrpSpPr>
          <p:grpSpPr>
            <a:xfrm>
              <a:off x="3442595" y="3645748"/>
              <a:ext cx="1376351" cy="323165"/>
              <a:chOff x="5025771" y="3853554"/>
              <a:chExt cx="1376351" cy="323165"/>
            </a:xfrm>
          </p:grpSpPr>
          <p:sp>
            <p:nvSpPr>
              <p:cNvPr id="87" name="Cilindro 86">
                <a:extLst>
                  <a:ext uri="{FF2B5EF4-FFF2-40B4-BE49-F238E27FC236}">
                    <a16:creationId xmlns:a16="http://schemas.microsoft.com/office/drawing/2014/main" id="{6D6669CE-459A-4C35-A6C2-E6D8E39A57C0}"/>
                  </a:ext>
                </a:extLst>
              </p:cNvPr>
              <p:cNvSpPr/>
              <p:nvPr/>
            </p:nvSpPr>
            <p:spPr>
              <a:xfrm rot="16200000">
                <a:off x="5580729" y="3326962"/>
                <a:ext cx="266435" cy="1376351"/>
              </a:xfrm>
              <a:prstGeom prst="can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8474B2F4-C40F-4EA0-9D31-BABF000A07FA}"/>
                  </a:ext>
                </a:extLst>
              </p:cNvPr>
              <p:cNvSpPr txBox="1"/>
              <p:nvPr/>
            </p:nvSpPr>
            <p:spPr>
              <a:xfrm>
                <a:off x="5372346" y="3853554"/>
                <a:ext cx="851515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500" dirty="0">
                    <a:solidFill>
                      <a:schemeClr val="bg1"/>
                    </a:solidFill>
                  </a:rPr>
                  <a:t>Tópico A</a:t>
                </a:r>
              </a:p>
            </p:txBody>
          </p:sp>
        </p:grpSp>
        <p:grpSp>
          <p:nvGrpSpPr>
            <p:cNvPr id="105" name="Agrupar 104">
              <a:extLst>
                <a:ext uri="{FF2B5EF4-FFF2-40B4-BE49-F238E27FC236}">
                  <a16:creationId xmlns:a16="http://schemas.microsoft.com/office/drawing/2014/main" id="{12C7F1E5-ED84-4D74-B740-D2B0DBFE88B2}"/>
                </a:ext>
              </a:extLst>
            </p:cNvPr>
            <p:cNvGrpSpPr/>
            <p:nvPr/>
          </p:nvGrpSpPr>
          <p:grpSpPr>
            <a:xfrm>
              <a:off x="3436758" y="4142685"/>
              <a:ext cx="1376351" cy="323165"/>
              <a:chOff x="5025771" y="3853554"/>
              <a:chExt cx="1376351" cy="323165"/>
            </a:xfrm>
          </p:grpSpPr>
          <p:sp>
            <p:nvSpPr>
              <p:cNvPr id="106" name="Cilindro 105">
                <a:extLst>
                  <a:ext uri="{FF2B5EF4-FFF2-40B4-BE49-F238E27FC236}">
                    <a16:creationId xmlns:a16="http://schemas.microsoft.com/office/drawing/2014/main" id="{5F4C0C91-7413-4A8D-986A-D41CD14C32F2}"/>
                  </a:ext>
                </a:extLst>
              </p:cNvPr>
              <p:cNvSpPr/>
              <p:nvPr/>
            </p:nvSpPr>
            <p:spPr>
              <a:xfrm rot="16200000">
                <a:off x="5580729" y="3326962"/>
                <a:ext cx="266435" cy="1376351"/>
              </a:xfrm>
              <a:prstGeom prst="can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sp>
            <p:nvSpPr>
              <p:cNvPr id="107" name="CaixaDeTexto 106">
                <a:extLst>
                  <a:ext uri="{FF2B5EF4-FFF2-40B4-BE49-F238E27FC236}">
                    <a16:creationId xmlns:a16="http://schemas.microsoft.com/office/drawing/2014/main" id="{6F680D02-7AD6-40A2-B2BC-E8B1252369E6}"/>
                  </a:ext>
                </a:extLst>
              </p:cNvPr>
              <p:cNvSpPr txBox="1"/>
              <p:nvPr/>
            </p:nvSpPr>
            <p:spPr>
              <a:xfrm>
                <a:off x="5372346" y="3853554"/>
                <a:ext cx="83227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500" dirty="0">
                    <a:solidFill>
                      <a:schemeClr val="bg1"/>
                    </a:solidFill>
                  </a:rPr>
                  <a:t>Tópico B</a:t>
                </a:r>
              </a:p>
            </p:txBody>
          </p:sp>
        </p:grpSp>
        <p:sp>
          <p:nvSpPr>
            <p:cNvPr id="120" name="Seta: para Baixo 119">
              <a:extLst>
                <a:ext uri="{FF2B5EF4-FFF2-40B4-BE49-F238E27FC236}">
                  <a16:creationId xmlns:a16="http://schemas.microsoft.com/office/drawing/2014/main" id="{F4863E6F-7EB0-4694-A6ED-981F6A32DD90}"/>
                </a:ext>
              </a:extLst>
            </p:cNvPr>
            <p:cNvSpPr/>
            <p:nvPr/>
          </p:nvSpPr>
          <p:spPr>
            <a:xfrm>
              <a:off x="3906447" y="4661309"/>
              <a:ext cx="560086" cy="247867"/>
            </a:xfrm>
            <a:prstGeom prst="downArrow">
              <a:avLst/>
            </a:prstGeom>
            <a:gradFill flip="none" rotWithShape="1">
              <a:gsLst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>
                    <a:lumMod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solidFill>
                <a:schemeClr val="accent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A2543738-E6E9-4E12-B3E4-3D415C6B6F95}"/>
                </a:ext>
              </a:extLst>
            </p:cNvPr>
            <p:cNvSpPr txBox="1"/>
            <p:nvPr/>
          </p:nvSpPr>
          <p:spPr>
            <a:xfrm>
              <a:off x="1123127" y="2167688"/>
              <a:ext cx="1385316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300" b="1" dirty="0" err="1"/>
                <a:t>Producers</a:t>
              </a:r>
              <a:endParaRPr lang="pt-BR" sz="2300" b="1" dirty="0"/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41F7938C-AD94-4854-8CFA-B5C77AAD5770}"/>
                </a:ext>
              </a:extLst>
            </p:cNvPr>
            <p:cNvSpPr txBox="1"/>
            <p:nvPr/>
          </p:nvSpPr>
          <p:spPr>
            <a:xfrm>
              <a:off x="5680702" y="2167688"/>
              <a:ext cx="1548822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300" b="1" dirty="0" err="1"/>
                <a:t>Consumers</a:t>
              </a:r>
              <a:endParaRPr lang="pt-BR" sz="2300" b="1" dirty="0"/>
            </a:p>
          </p:txBody>
        </p:sp>
      </p:grpSp>
      <p:sp>
        <p:nvSpPr>
          <p:cNvPr id="195" name="Retângulo 194">
            <a:extLst>
              <a:ext uri="{FF2B5EF4-FFF2-40B4-BE49-F238E27FC236}">
                <a16:creationId xmlns:a16="http://schemas.microsoft.com/office/drawing/2014/main" id="{BC254474-42CB-44BB-AC64-A86DBE29E398}"/>
              </a:ext>
            </a:extLst>
          </p:cNvPr>
          <p:cNvSpPr/>
          <p:nvPr/>
        </p:nvSpPr>
        <p:spPr>
          <a:xfrm>
            <a:off x="7414313" y="4000096"/>
            <a:ext cx="985057" cy="1882559"/>
          </a:xfrm>
          <a:prstGeom prst="rect">
            <a:avLst/>
          </a:prstGeom>
          <a:solidFill>
            <a:schemeClr val="bg2">
              <a:lumMod val="50000"/>
            </a:schemeClr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260B7C88-7055-4729-B965-731288D88AB8}"/>
              </a:ext>
            </a:extLst>
          </p:cNvPr>
          <p:cNvSpPr txBox="1"/>
          <p:nvPr/>
        </p:nvSpPr>
        <p:spPr>
          <a:xfrm>
            <a:off x="7555497" y="4151475"/>
            <a:ext cx="7717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 err="1"/>
              <a:t>Kudu</a:t>
            </a:r>
            <a:endParaRPr lang="pt-BR" sz="1500" b="1" dirty="0"/>
          </a:p>
        </p:txBody>
      </p:sp>
      <p:pic>
        <p:nvPicPr>
          <p:cNvPr id="197" name="Gráfico 196" descr="Banco de dados">
            <a:extLst>
              <a:ext uri="{FF2B5EF4-FFF2-40B4-BE49-F238E27FC236}">
                <a16:creationId xmlns:a16="http://schemas.microsoft.com/office/drawing/2014/main" id="{D8F9C783-BA1D-498B-A9F6-FE882289D3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15638" y="4642555"/>
            <a:ext cx="764056" cy="764056"/>
          </a:xfrm>
          <a:prstGeom prst="rect">
            <a:avLst/>
          </a:prstGeom>
        </p:spPr>
      </p:pic>
      <p:grpSp>
        <p:nvGrpSpPr>
          <p:cNvPr id="31" name="Agrupar 30">
            <a:extLst>
              <a:ext uri="{FF2B5EF4-FFF2-40B4-BE49-F238E27FC236}">
                <a16:creationId xmlns:a16="http://schemas.microsoft.com/office/drawing/2014/main" id="{1D477338-31A1-470B-B390-D90EBF8E3BC6}"/>
              </a:ext>
            </a:extLst>
          </p:cNvPr>
          <p:cNvGrpSpPr/>
          <p:nvPr/>
        </p:nvGrpSpPr>
        <p:grpSpPr>
          <a:xfrm>
            <a:off x="588519" y="2199855"/>
            <a:ext cx="6369950" cy="3676975"/>
            <a:chOff x="950469" y="1828380"/>
            <a:chExt cx="6369950" cy="3676975"/>
          </a:xfrm>
        </p:grpSpPr>
        <p:grpSp>
          <p:nvGrpSpPr>
            <p:cNvPr id="95" name="Agrupar 94">
              <a:extLst>
                <a:ext uri="{FF2B5EF4-FFF2-40B4-BE49-F238E27FC236}">
                  <a16:creationId xmlns:a16="http://schemas.microsoft.com/office/drawing/2014/main" id="{89420585-8EB4-4502-8CC2-460381DA5684}"/>
                </a:ext>
              </a:extLst>
            </p:cNvPr>
            <p:cNvGrpSpPr/>
            <p:nvPr/>
          </p:nvGrpSpPr>
          <p:grpSpPr>
            <a:xfrm>
              <a:off x="950469" y="2167683"/>
              <a:ext cx="6369950" cy="3337672"/>
              <a:chOff x="950474" y="2167688"/>
              <a:chExt cx="6369950" cy="3337672"/>
            </a:xfrm>
          </p:grpSpPr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id="{35975002-7D76-4955-8159-0E6F1058FF1A}"/>
                  </a:ext>
                </a:extLst>
              </p:cNvPr>
              <p:cNvSpPr/>
              <p:nvPr/>
            </p:nvSpPr>
            <p:spPr>
              <a:xfrm>
                <a:off x="5589803" y="2190746"/>
                <a:ext cx="1730621" cy="33146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sp>
            <p:nvSpPr>
              <p:cNvPr id="99" name="Retângulo 98">
                <a:extLst>
                  <a:ext uri="{FF2B5EF4-FFF2-40B4-BE49-F238E27FC236}">
                    <a16:creationId xmlns:a16="http://schemas.microsoft.com/office/drawing/2014/main" id="{9BE0ADA4-0C33-4A4B-A895-90C9213FB5B2}"/>
                  </a:ext>
                </a:extLst>
              </p:cNvPr>
              <p:cNvSpPr/>
              <p:nvPr/>
            </p:nvSpPr>
            <p:spPr>
              <a:xfrm>
                <a:off x="950474" y="2190746"/>
                <a:ext cx="1730621" cy="3314614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571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101" name="Gráfico 100" descr="Hierarquia">
                <a:extLst>
                  <a:ext uri="{FF2B5EF4-FFF2-40B4-BE49-F238E27FC236}">
                    <a16:creationId xmlns:a16="http://schemas.microsoft.com/office/drawing/2014/main" id="{52672552-3B31-4D77-9DDD-B807C796B8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653694" y="254798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151393D0-0009-4636-9093-CA877782CF0C}"/>
                  </a:ext>
                </a:extLst>
              </p:cNvPr>
              <p:cNvSpPr txBox="1"/>
              <p:nvPr/>
            </p:nvSpPr>
            <p:spPr>
              <a:xfrm>
                <a:off x="3195804" y="2167688"/>
                <a:ext cx="1830181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BR" sz="2300" b="1" dirty="0">
                    <a:solidFill>
                      <a:schemeClr val="accent2">
                        <a:lumMod val="75000"/>
                      </a:schemeClr>
                    </a:solidFill>
                  </a:rPr>
                  <a:t>Cluster Kafka</a:t>
                </a:r>
              </a:p>
            </p:txBody>
          </p:sp>
          <p:grpSp>
            <p:nvGrpSpPr>
              <p:cNvPr id="103" name="Agrupar 102">
                <a:extLst>
                  <a:ext uri="{FF2B5EF4-FFF2-40B4-BE49-F238E27FC236}">
                    <a16:creationId xmlns:a16="http://schemas.microsoft.com/office/drawing/2014/main" id="{01BC6553-A9E2-4ED2-81CD-2D4D3BE08B3B}"/>
                  </a:ext>
                </a:extLst>
              </p:cNvPr>
              <p:cNvGrpSpPr/>
              <p:nvPr/>
            </p:nvGrpSpPr>
            <p:grpSpPr>
              <a:xfrm>
                <a:off x="4788025" y="3628622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87" name="Gráfico 186" descr="Seta: curva ligeira">
                  <a:extLst>
                    <a:ext uri="{FF2B5EF4-FFF2-40B4-BE49-F238E27FC236}">
                      <a16:creationId xmlns:a16="http://schemas.microsoft.com/office/drawing/2014/main" id="{7312C0A5-440C-407E-A6D9-BF5FCFD5AD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88" name="Agrupar 187">
                  <a:extLst>
                    <a:ext uri="{FF2B5EF4-FFF2-40B4-BE49-F238E27FC236}">
                      <a16:creationId xmlns:a16="http://schemas.microsoft.com/office/drawing/2014/main" id="{8818FB24-19DF-444F-A638-EF9346AB2882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89" name="Retângulo 188">
                    <a:extLst>
                      <a:ext uri="{FF2B5EF4-FFF2-40B4-BE49-F238E27FC236}">
                        <a16:creationId xmlns:a16="http://schemas.microsoft.com/office/drawing/2014/main" id="{A9633A48-EB1D-4B2F-9054-08A3B9CB107D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90" name="Gráfico 189" descr="Envelope">
                    <a:extLst>
                      <a:ext uri="{FF2B5EF4-FFF2-40B4-BE49-F238E27FC236}">
                        <a16:creationId xmlns:a16="http://schemas.microsoft.com/office/drawing/2014/main" id="{13B6F270-2FDC-4D02-9794-0A1D98CDBC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" name="Agrupar 107">
                <a:extLst>
                  <a:ext uri="{FF2B5EF4-FFF2-40B4-BE49-F238E27FC236}">
                    <a16:creationId xmlns:a16="http://schemas.microsoft.com/office/drawing/2014/main" id="{FBBAD35C-F660-4B0F-A435-50F7EFFE9417}"/>
                  </a:ext>
                </a:extLst>
              </p:cNvPr>
              <p:cNvGrpSpPr/>
              <p:nvPr/>
            </p:nvGrpSpPr>
            <p:grpSpPr>
              <a:xfrm>
                <a:off x="1222512" y="2733671"/>
                <a:ext cx="1186544" cy="2771688"/>
                <a:chOff x="2775735" y="2831671"/>
                <a:chExt cx="1260882" cy="2945336"/>
              </a:xfrm>
            </p:grpSpPr>
            <p:grpSp>
              <p:nvGrpSpPr>
                <p:cNvPr id="178" name="Agrupar 177">
                  <a:extLst>
                    <a:ext uri="{FF2B5EF4-FFF2-40B4-BE49-F238E27FC236}">
                      <a16:creationId xmlns:a16="http://schemas.microsoft.com/office/drawing/2014/main" id="{120D9E39-D672-4678-B324-504EFEFBD73F}"/>
                    </a:ext>
                  </a:extLst>
                </p:cNvPr>
                <p:cNvGrpSpPr/>
                <p:nvPr/>
              </p:nvGrpSpPr>
              <p:grpSpPr>
                <a:xfrm>
                  <a:off x="2775736" y="3768741"/>
                  <a:ext cx="1260881" cy="1071195"/>
                  <a:chOff x="491771" y="3059668"/>
                  <a:chExt cx="1260881" cy="1071195"/>
                </a:xfrm>
              </p:grpSpPr>
              <p:pic>
                <p:nvPicPr>
                  <p:cNvPr id="185" name="Gráfico 184" descr="Computador">
                    <a:extLst>
                      <a:ext uri="{FF2B5EF4-FFF2-40B4-BE49-F238E27FC236}">
                        <a16:creationId xmlns:a16="http://schemas.microsoft.com/office/drawing/2014/main" id="{0D336667-4E88-4A64-AFC0-12EFDDB1B8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86" name="CaixaDeTexto 185">
                    <a:extLst>
                      <a:ext uri="{FF2B5EF4-FFF2-40B4-BE49-F238E27FC236}">
                        <a16:creationId xmlns:a16="http://schemas.microsoft.com/office/drawing/2014/main" id="{94F1B60E-4679-42DD-BB15-70E99EF1B9D5}"/>
                      </a:ext>
                    </a:extLst>
                  </p:cNvPr>
                  <p:cNvSpPr txBox="1"/>
                  <p:nvPr/>
                </p:nvSpPr>
                <p:spPr>
                  <a:xfrm>
                    <a:off x="491771" y="3059668"/>
                    <a:ext cx="1260881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/>
                      <a:t>Máquina 2</a:t>
                    </a:r>
                  </a:p>
                </p:txBody>
              </p:sp>
            </p:grpSp>
            <p:grpSp>
              <p:nvGrpSpPr>
                <p:cNvPr id="179" name="Agrupar 178">
                  <a:extLst>
                    <a:ext uri="{FF2B5EF4-FFF2-40B4-BE49-F238E27FC236}">
                      <a16:creationId xmlns:a16="http://schemas.microsoft.com/office/drawing/2014/main" id="{E95E408A-7A3B-4D8B-B4C3-CE6CBCF24C88}"/>
                    </a:ext>
                  </a:extLst>
                </p:cNvPr>
                <p:cNvGrpSpPr/>
                <p:nvPr/>
              </p:nvGrpSpPr>
              <p:grpSpPr>
                <a:xfrm>
                  <a:off x="2789361" y="4705812"/>
                  <a:ext cx="1233626" cy="1071195"/>
                  <a:chOff x="505396" y="3059668"/>
                  <a:chExt cx="1233626" cy="1071195"/>
                </a:xfrm>
              </p:grpSpPr>
              <p:pic>
                <p:nvPicPr>
                  <p:cNvPr id="183" name="Gráfico 182" descr="Computador">
                    <a:extLst>
                      <a:ext uri="{FF2B5EF4-FFF2-40B4-BE49-F238E27FC236}">
                        <a16:creationId xmlns:a16="http://schemas.microsoft.com/office/drawing/2014/main" id="{CE7C7694-38DB-46D0-909D-22DE57747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84" name="CaixaDeTexto 183">
                    <a:extLst>
                      <a:ext uri="{FF2B5EF4-FFF2-40B4-BE49-F238E27FC236}">
                        <a16:creationId xmlns:a16="http://schemas.microsoft.com/office/drawing/2014/main" id="{C4CD0998-17F4-49BB-BDC0-740DAF500BCA}"/>
                      </a:ext>
                    </a:extLst>
                  </p:cNvPr>
                  <p:cNvSpPr txBox="1"/>
                  <p:nvPr/>
                </p:nvSpPr>
                <p:spPr>
                  <a:xfrm>
                    <a:off x="505396" y="3059668"/>
                    <a:ext cx="1233626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/>
                      <a:t>Máquina n</a:t>
                    </a:r>
                  </a:p>
                </p:txBody>
              </p:sp>
            </p:grpSp>
            <p:grpSp>
              <p:nvGrpSpPr>
                <p:cNvPr id="180" name="Agrupar 179">
                  <a:extLst>
                    <a:ext uri="{FF2B5EF4-FFF2-40B4-BE49-F238E27FC236}">
                      <a16:creationId xmlns:a16="http://schemas.microsoft.com/office/drawing/2014/main" id="{CE6D1039-1D41-4704-9F94-DA1981904435}"/>
                    </a:ext>
                  </a:extLst>
                </p:cNvPr>
                <p:cNvGrpSpPr/>
                <p:nvPr/>
              </p:nvGrpSpPr>
              <p:grpSpPr>
                <a:xfrm>
                  <a:off x="2775735" y="2831671"/>
                  <a:ext cx="1260881" cy="1071195"/>
                  <a:chOff x="491770" y="3059668"/>
                  <a:chExt cx="1260881" cy="1071195"/>
                </a:xfrm>
              </p:grpSpPr>
              <p:pic>
                <p:nvPicPr>
                  <p:cNvPr id="181" name="Gráfico 180" descr="Computador">
                    <a:extLst>
                      <a:ext uri="{FF2B5EF4-FFF2-40B4-BE49-F238E27FC236}">
                        <a16:creationId xmlns:a16="http://schemas.microsoft.com/office/drawing/2014/main" id="{8067A9AF-0F06-45EC-B7BC-33EB309FB4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82" name="CaixaDeTexto 181">
                    <a:extLst>
                      <a:ext uri="{FF2B5EF4-FFF2-40B4-BE49-F238E27FC236}">
                        <a16:creationId xmlns:a16="http://schemas.microsoft.com/office/drawing/2014/main" id="{5C77B010-870F-4714-AAB7-B93994224B55}"/>
                      </a:ext>
                    </a:extLst>
                  </p:cNvPr>
                  <p:cNvSpPr txBox="1"/>
                  <p:nvPr/>
                </p:nvSpPr>
                <p:spPr>
                  <a:xfrm>
                    <a:off x="491770" y="3059668"/>
                    <a:ext cx="1260881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/>
                      <a:t>Máquina 1</a:t>
                    </a:r>
                  </a:p>
                </p:txBody>
              </p:sp>
            </p:grpSp>
          </p:grpSp>
          <p:grpSp>
            <p:nvGrpSpPr>
              <p:cNvPr id="125" name="Agrupar 124">
                <a:extLst>
                  <a:ext uri="{FF2B5EF4-FFF2-40B4-BE49-F238E27FC236}">
                    <a16:creationId xmlns:a16="http://schemas.microsoft.com/office/drawing/2014/main" id="{A6C2EA62-193D-4810-83DE-C7F9B69E58AE}"/>
                  </a:ext>
                </a:extLst>
              </p:cNvPr>
              <p:cNvGrpSpPr/>
              <p:nvPr/>
            </p:nvGrpSpPr>
            <p:grpSpPr>
              <a:xfrm>
                <a:off x="6024863" y="2733671"/>
                <a:ext cx="860489" cy="2771688"/>
                <a:chOff x="7559138" y="2829754"/>
                <a:chExt cx="914400" cy="2945336"/>
              </a:xfrm>
            </p:grpSpPr>
            <p:grpSp>
              <p:nvGrpSpPr>
                <p:cNvPr id="169" name="Agrupar 168">
                  <a:extLst>
                    <a:ext uri="{FF2B5EF4-FFF2-40B4-BE49-F238E27FC236}">
                      <a16:creationId xmlns:a16="http://schemas.microsoft.com/office/drawing/2014/main" id="{11E6BD0C-8C85-4BE9-ADD7-3E8ADD1CBDD3}"/>
                    </a:ext>
                  </a:extLst>
                </p:cNvPr>
                <p:cNvGrpSpPr/>
                <p:nvPr/>
              </p:nvGrpSpPr>
              <p:grpSpPr>
                <a:xfrm>
                  <a:off x="7559138" y="3766824"/>
                  <a:ext cx="914400" cy="1071195"/>
                  <a:chOff x="665006" y="3059668"/>
                  <a:chExt cx="914400" cy="1071195"/>
                </a:xfrm>
              </p:grpSpPr>
              <p:pic>
                <p:nvPicPr>
                  <p:cNvPr id="176" name="Gráfico 175" descr="Computador">
                    <a:extLst>
                      <a:ext uri="{FF2B5EF4-FFF2-40B4-BE49-F238E27FC236}">
                        <a16:creationId xmlns:a16="http://schemas.microsoft.com/office/drawing/2014/main" id="{F66B8F6E-BBD5-402C-AF60-55040F5747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77" name="CaixaDeTexto 176">
                    <a:extLst>
                      <a:ext uri="{FF2B5EF4-FFF2-40B4-BE49-F238E27FC236}">
                        <a16:creationId xmlns:a16="http://schemas.microsoft.com/office/drawing/2014/main" id="{B3DC0DC5-244B-43C4-B3FF-14241C445CAE}"/>
                      </a:ext>
                    </a:extLst>
                  </p:cNvPr>
                  <p:cNvSpPr txBox="1"/>
                  <p:nvPr/>
                </p:nvSpPr>
                <p:spPr>
                  <a:xfrm>
                    <a:off x="788504" y="3059668"/>
                    <a:ext cx="667406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 err="1"/>
                      <a:t>JobB</a:t>
                    </a:r>
                    <a:endParaRPr lang="pt-BR" dirty="0"/>
                  </a:p>
                </p:txBody>
              </p:sp>
            </p:grpSp>
            <p:grpSp>
              <p:nvGrpSpPr>
                <p:cNvPr id="170" name="Agrupar 169">
                  <a:extLst>
                    <a:ext uri="{FF2B5EF4-FFF2-40B4-BE49-F238E27FC236}">
                      <a16:creationId xmlns:a16="http://schemas.microsoft.com/office/drawing/2014/main" id="{C49B1FF5-D58F-4601-B89D-F2127831D917}"/>
                    </a:ext>
                  </a:extLst>
                </p:cNvPr>
                <p:cNvGrpSpPr/>
                <p:nvPr/>
              </p:nvGrpSpPr>
              <p:grpSpPr>
                <a:xfrm>
                  <a:off x="7559138" y="4703895"/>
                  <a:ext cx="914400" cy="1071195"/>
                  <a:chOff x="665006" y="3059668"/>
                  <a:chExt cx="914400" cy="1071195"/>
                </a:xfrm>
              </p:grpSpPr>
              <p:pic>
                <p:nvPicPr>
                  <p:cNvPr id="174" name="Gráfico 173" descr="Computador">
                    <a:extLst>
                      <a:ext uri="{FF2B5EF4-FFF2-40B4-BE49-F238E27FC236}">
                        <a16:creationId xmlns:a16="http://schemas.microsoft.com/office/drawing/2014/main" id="{823C89B6-0753-44FC-8EC5-E3ABB7ADDE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75" name="CaixaDeTexto 174">
                    <a:extLst>
                      <a:ext uri="{FF2B5EF4-FFF2-40B4-BE49-F238E27FC236}">
                        <a16:creationId xmlns:a16="http://schemas.microsoft.com/office/drawing/2014/main" id="{BEA63CDA-0F88-42B9-80E4-9B0B108190BD}"/>
                      </a:ext>
                    </a:extLst>
                  </p:cNvPr>
                  <p:cNvSpPr txBox="1"/>
                  <p:nvPr/>
                </p:nvSpPr>
                <p:spPr>
                  <a:xfrm>
                    <a:off x="775728" y="3059668"/>
                    <a:ext cx="692958" cy="6868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 err="1"/>
                      <a:t>JobC</a:t>
                    </a:r>
                    <a:endParaRPr lang="pt-BR" dirty="0"/>
                  </a:p>
                  <a:p>
                    <a:pPr algn="r"/>
                    <a:endParaRPr lang="pt-BR" dirty="0"/>
                  </a:p>
                </p:txBody>
              </p:sp>
            </p:grpSp>
            <p:grpSp>
              <p:nvGrpSpPr>
                <p:cNvPr id="171" name="Agrupar 170">
                  <a:extLst>
                    <a:ext uri="{FF2B5EF4-FFF2-40B4-BE49-F238E27FC236}">
                      <a16:creationId xmlns:a16="http://schemas.microsoft.com/office/drawing/2014/main" id="{B369066C-4A75-4DAD-BFCA-80388FD84CB6}"/>
                    </a:ext>
                  </a:extLst>
                </p:cNvPr>
                <p:cNvGrpSpPr/>
                <p:nvPr/>
              </p:nvGrpSpPr>
              <p:grpSpPr>
                <a:xfrm>
                  <a:off x="7559138" y="2829754"/>
                  <a:ext cx="914400" cy="1071195"/>
                  <a:chOff x="665006" y="3059668"/>
                  <a:chExt cx="914400" cy="1071195"/>
                </a:xfrm>
              </p:grpSpPr>
              <p:pic>
                <p:nvPicPr>
                  <p:cNvPr id="172" name="Gráfico 171" descr="Computador">
                    <a:extLst>
                      <a:ext uri="{FF2B5EF4-FFF2-40B4-BE49-F238E27FC236}">
                        <a16:creationId xmlns:a16="http://schemas.microsoft.com/office/drawing/2014/main" id="{8F249FD0-73B6-4E79-8668-1CF5FCD348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73" name="CaixaDeTexto 172">
                    <a:extLst>
                      <a:ext uri="{FF2B5EF4-FFF2-40B4-BE49-F238E27FC236}">
                        <a16:creationId xmlns:a16="http://schemas.microsoft.com/office/drawing/2014/main" id="{75B44051-F75D-455A-BCC6-242E89C0D610}"/>
                      </a:ext>
                    </a:extLst>
                  </p:cNvPr>
                  <p:cNvSpPr txBox="1"/>
                  <p:nvPr/>
                </p:nvSpPr>
                <p:spPr>
                  <a:xfrm>
                    <a:off x="775729" y="3059668"/>
                    <a:ext cx="692958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 err="1"/>
                      <a:t>JobA</a:t>
                    </a:r>
                    <a:endParaRPr lang="pt-BR" dirty="0"/>
                  </a:p>
                </p:txBody>
              </p:sp>
            </p:grpSp>
          </p:grpSp>
          <p:grpSp>
            <p:nvGrpSpPr>
              <p:cNvPr id="129" name="Agrupar 128">
                <a:extLst>
                  <a:ext uri="{FF2B5EF4-FFF2-40B4-BE49-F238E27FC236}">
                    <a16:creationId xmlns:a16="http://schemas.microsoft.com/office/drawing/2014/main" id="{8B8970FE-8CD0-4B7D-957B-A935675F46E2}"/>
                  </a:ext>
                </a:extLst>
              </p:cNvPr>
              <p:cNvGrpSpPr/>
              <p:nvPr/>
            </p:nvGrpSpPr>
            <p:grpSpPr>
              <a:xfrm rot="1181874">
                <a:off x="4788025" y="4139140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65" name="Gráfico 164" descr="Seta: curva ligeira">
                  <a:extLst>
                    <a:ext uri="{FF2B5EF4-FFF2-40B4-BE49-F238E27FC236}">
                      <a16:creationId xmlns:a16="http://schemas.microsoft.com/office/drawing/2014/main" id="{13B1E7B7-1077-49FC-88B0-DD572FECBF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66" name="Agrupar 165">
                  <a:extLst>
                    <a:ext uri="{FF2B5EF4-FFF2-40B4-BE49-F238E27FC236}">
                      <a16:creationId xmlns:a16="http://schemas.microsoft.com/office/drawing/2014/main" id="{B7B68AB4-1B20-4B04-B9AC-1CA9A102BFA0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67" name="Retângulo 166">
                    <a:extLst>
                      <a:ext uri="{FF2B5EF4-FFF2-40B4-BE49-F238E27FC236}">
                        <a16:creationId xmlns:a16="http://schemas.microsoft.com/office/drawing/2014/main" id="{5B769556-DD04-4F9D-B40F-841B84CA7EFB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68" name="Gráfico 167" descr="Envelope">
                    <a:extLst>
                      <a:ext uri="{FF2B5EF4-FFF2-40B4-BE49-F238E27FC236}">
                        <a16:creationId xmlns:a16="http://schemas.microsoft.com/office/drawing/2014/main" id="{3047A41C-9702-4177-90D0-A011D6D040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0" name="Agrupar 129">
                <a:extLst>
                  <a:ext uri="{FF2B5EF4-FFF2-40B4-BE49-F238E27FC236}">
                    <a16:creationId xmlns:a16="http://schemas.microsoft.com/office/drawing/2014/main" id="{80A3589D-3B6F-4E47-8F63-3653FAD463B1}"/>
                  </a:ext>
                </a:extLst>
              </p:cNvPr>
              <p:cNvGrpSpPr/>
              <p:nvPr/>
            </p:nvGrpSpPr>
            <p:grpSpPr>
              <a:xfrm rot="20261418">
                <a:off x="4788025" y="3076588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61" name="Gráfico 160" descr="Seta: curva ligeira">
                  <a:extLst>
                    <a:ext uri="{FF2B5EF4-FFF2-40B4-BE49-F238E27FC236}">
                      <a16:creationId xmlns:a16="http://schemas.microsoft.com/office/drawing/2014/main" id="{C090743B-3DA3-4EAD-88F5-5E73AA3D35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62" name="Agrupar 161">
                  <a:extLst>
                    <a:ext uri="{FF2B5EF4-FFF2-40B4-BE49-F238E27FC236}">
                      <a16:creationId xmlns:a16="http://schemas.microsoft.com/office/drawing/2014/main" id="{C15137BD-2C89-470C-847F-FA5247377B98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63" name="Retângulo 162">
                    <a:extLst>
                      <a:ext uri="{FF2B5EF4-FFF2-40B4-BE49-F238E27FC236}">
                        <a16:creationId xmlns:a16="http://schemas.microsoft.com/office/drawing/2014/main" id="{F2FAEE15-36A8-4388-B5E8-7CE80D35CBF0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64" name="Gráfico 163" descr="Envelope">
                    <a:extLst>
                      <a:ext uri="{FF2B5EF4-FFF2-40B4-BE49-F238E27FC236}">
                        <a16:creationId xmlns:a16="http://schemas.microsoft.com/office/drawing/2014/main" id="{EAC71716-93AD-476A-85E7-3A90A8573A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1" name="Agrupar 130">
                <a:extLst>
                  <a:ext uri="{FF2B5EF4-FFF2-40B4-BE49-F238E27FC236}">
                    <a16:creationId xmlns:a16="http://schemas.microsoft.com/office/drawing/2014/main" id="{676382EC-B8EC-4613-9668-F8750E77C3C1}"/>
                  </a:ext>
                </a:extLst>
              </p:cNvPr>
              <p:cNvGrpSpPr/>
              <p:nvPr/>
            </p:nvGrpSpPr>
            <p:grpSpPr>
              <a:xfrm rot="21358998">
                <a:off x="2306279" y="3781022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57" name="Gráfico 156" descr="Seta: curva ligeira">
                  <a:extLst>
                    <a:ext uri="{FF2B5EF4-FFF2-40B4-BE49-F238E27FC236}">
                      <a16:creationId xmlns:a16="http://schemas.microsoft.com/office/drawing/2014/main" id="{1786B11D-559E-44F2-853D-74FEA11F5A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58" name="Agrupar 157">
                  <a:extLst>
                    <a:ext uri="{FF2B5EF4-FFF2-40B4-BE49-F238E27FC236}">
                      <a16:creationId xmlns:a16="http://schemas.microsoft.com/office/drawing/2014/main" id="{F0D7DA7F-A4CD-439F-945B-5212B595E91E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59" name="Retângulo 158">
                    <a:extLst>
                      <a:ext uri="{FF2B5EF4-FFF2-40B4-BE49-F238E27FC236}">
                        <a16:creationId xmlns:a16="http://schemas.microsoft.com/office/drawing/2014/main" id="{B35ECEF5-B644-4079-9CD5-0EC481F714D8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60" name="Gráfico 159" descr="Envelope">
                    <a:extLst>
                      <a:ext uri="{FF2B5EF4-FFF2-40B4-BE49-F238E27FC236}">
                        <a16:creationId xmlns:a16="http://schemas.microsoft.com/office/drawing/2014/main" id="{7759CD6B-2BC8-4351-9CA5-B0BEEA89DE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2" name="Agrupar 131">
                <a:extLst>
                  <a:ext uri="{FF2B5EF4-FFF2-40B4-BE49-F238E27FC236}">
                    <a16:creationId xmlns:a16="http://schemas.microsoft.com/office/drawing/2014/main" id="{1810DE44-D4BE-4CB2-AF08-765282D40D85}"/>
                  </a:ext>
                </a:extLst>
              </p:cNvPr>
              <p:cNvGrpSpPr/>
              <p:nvPr/>
            </p:nvGrpSpPr>
            <p:grpSpPr>
              <a:xfrm rot="20352240">
                <a:off x="2306279" y="4291540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53" name="Gráfico 152" descr="Seta: curva ligeira">
                  <a:extLst>
                    <a:ext uri="{FF2B5EF4-FFF2-40B4-BE49-F238E27FC236}">
                      <a16:creationId xmlns:a16="http://schemas.microsoft.com/office/drawing/2014/main" id="{DE751F51-382C-43D4-93F1-94687504ED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54" name="Agrupar 153">
                  <a:extLst>
                    <a:ext uri="{FF2B5EF4-FFF2-40B4-BE49-F238E27FC236}">
                      <a16:creationId xmlns:a16="http://schemas.microsoft.com/office/drawing/2014/main" id="{E5314107-AA98-4FA9-99B3-374CB49DF54B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55" name="Retângulo 154">
                    <a:extLst>
                      <a:ext uri="{FF2B5EF4-FFF2-40B4-BE49-F238E27FC236}">
                        <a16:creationId xmlns:a16="http://schemas.microsoft.com/office/drawing/2014/main" id="{995594C1-16A1-4638-B2CC-B206D96F4ABD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56" name="Gráfico 155" descr="Envelope">
                    <a:extLst>
                      <a:ext uri="{FF2B5EF4-FFF2-40B4-BE49-F238E27FC236}">
                        <a16:creationId xmlns:a16="http://schemas.microsoft.com/office/drawing/2014/main" id="{38B2F611-605D-4D8F-9D37-9FA2809634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3" name="Agrupar 132">
                <a:extLst>
                  <a:ext uri="{FF2B5EF4-FFF2-40B4-BE49-F238E27FC236}">
                    <a16:creationId xmlns:a16="http://schemas.microsoft.com/office/drawing/2014/main" id="{3774E9C3-D367-490A-9C08-B2AF193B4F87}"/>
                  </a:ext>
                </a:extLst>
              </p:cNvPr>
              <p:cNvGrpSpPr/>
              <p:nvPr/>
            </p:nvGrpSpPr>
            <p:grpSpPr>
              <a:xfrm rot="851090">
                <a:off x="2306279" y="3228988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49" name="Gráfico 148" descr="Seta: curva ligeira">
                  <a:extLst>
                    <a:ext uri="{FF2B5EF4-FFF2-40B4-BE49-F238E27FC236}">
                      <a16:creationId xmlns:a16="http://schemas.microsoft.com/office/drawing/2014/main" id="{F582A76D-B879-4168-B8D1-E0A7EBF064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50" name="Agrupar 149">
                  <a:extLst>
                    <a:ext uri="{FF2B5EF4-FFF2-40B4-BE49-F238E27FC236}">
                      <a16:creationId xmlns:a16="http://schemas.microsoft.com/office/drawing/2014/main" id="{A38FEF14-216A-4761-81EE-31AEDB9FC483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51" name="Retângulo 150">
                    <a:extLst>
                      <a:ext uri="{FF2B5EF4-FFF2-40B4-BE49-F238E27FC236}">
                        <a16:creationId xmlns:a16="http://schemas.microsoft.com/office/drawing/2014/main" id="{AB697174-9986-4239-BDAE-78187FB1E913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52" name="Gráfico 151" descr="Envelope">
                    <a:extLst>
                      <a:ext uri="{FF2B5EF4-FFF2-40B4-BE49-F238E27FC236}">
                        <a16:creationId xmlns:a16="http://schemas.microsoft.com/office/drawing/2014/main" id="{569ED163-838F-487D-A0A6-90BD6AD0F0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4" name="Agrupar 133">
                <a:extLst>
                  <a:ext uri="{FF2B5EF4-FFF2-40B4-BE49-F238E27FC236}">
                    <a16:creationId xmlns:a16="http://schemas.microsoft.com/office/drawing/2014/main" id="{86C449FF-7B0B-4FE2-AB7C-2CA94A93D35E}"/>
                  </a:ext>
                </a:extLst>
              </p:cNvPr>
              <p:cNvGrpSpPr/>
              <p:nvPr/>
            </p:nvGrpSpPr>
            <p:grpSpPr>
              <a:xfrm>
                <a:off x="3442595" y="3645748"/>
                <a:ext cx="1376351" cy="323165"/>
                <a:chOff x="5025771" y="3853554"/>
                <a:chExt cx="1376351" cy="323165"/>
              </a:xfrm>
            </p:grpSpPr>
            <p:sp>
              <p:nvSpPr>
                <p:cNvPr id="147" name="Cilindro 146">
                  <a:extLst>
                    <a:ext uri="{FF2B5EF4-FFF2-40B4-BE49-F238E27FC236}">
                      <a16:creationId xmlns:a16="http://schemas.microsoft.com/office/drawing/2014/main" id="{8255F1BA-0D97-46EE-BB94-612E6B0FCC68}"/>
                    </a:ext>
                  </a:extLst>
                </p:cNvPr>
                <p:cNvSpPr/>
                <p:nvPr/>
              </p:nvSpPr>
              <p:spPr>
                <a:xfrm rot="16200000">
                  <a:off x="5580729" y="3326962"/>
                  <a:ext cx="266435" cy="1376351"/>
                </a:xfrm>
                <a:prstGeom prst="can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sp>
              <p:nvSpPr>
                <p:cNvPr id="148" name="CaixaDeTexto 147">
                  <a:extLst>
                    <a:ext uri="{FF2B5EF4-FFF2-40B4-BE49-F238E27FC236}">
                      <a16:creationId xmlns:a16="http://schemas.microsoft.com/office/drawing/2014/main" id="{D8F99888-76B9-4963-B12B-FA075255F384}"/>
                    </a:ext>
                  </a:extLst>
                </p:cNvPr>
                <p:cNvSpPr txBox="1"/>
                <p:nvPr/>
              </p:nvSpPr>
              <p:spPr>
                <a:xfrm>
                  <a:off x="5168825" y="3853554"/>
                  <a:ext cx="1168911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BR" sz="1500" dirty="0" err="1">
                      <a:solidFill>
                        <a:schemeClr val="bg1"/>
                      </a:solidFill>
                    </a:rPr>
                    <a:t>Autenticacao</a:t>
                  </a:r>
                  <a:endParaRPr lang="pt-BR" sz="15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5" name="Agrupar 134">
                <a:extLst>
                  <a:ext uri="{FF2B5EF4-FFF2-40B4-BE49-F238E27FC236}">
                    <a16:creationId xmlns:a16="http://schemas.microsoft.com/office/drawing/2014/main" id="{A079E39B-5AE4-446D-B4A6-80802A598FB8}"/>
                  </a:ext>
                </a:extLst>
              </p:cNvPr>
              <p:cNvGrpSpPr/>
              <p:nvPr/>
            </p:nvGrpSpPr>
            <p:grpSpPr>
              <a:xfrm>
                <a:off x="3436758" y="4142685"/>
                <a:ext cx="1376351" cy="323165"/>
                <a:chOff x="5025771" y="3853554"/>
                <a:chExt cx="1376351" cy="323165"/>
              </a:xfrm>
            </p:grpSpPr>
            <p:sp>
              <p:nvSpPr>
                <p:cNvPr id="145" name="Cilindro 144">
                  <a:extLst>
                    <a:ext uri="{FF2B5EF4-FFF2-40B4-BE49-F238E27FC236}">
                      <a16:creationId xmlns:a16="http://schemas.microsoft.com/office/drawing/2014/main" id="{531D03A5-097D-490E-A61F-D98BA15C71B9}"/>
                    </a:ext>
                  </a:extLst>
                </p:cNvPr>
                <p:cNvSpPr/>
                <p:nvPr/>
              </p:nvSpPr>
              <p:spPr>
                <a:xfrm rot="16200000">
                  <a:off x="5580729" y="3326962"/>
                  <a:ext cx="266435" cy="1376351"/>
                </a:xfrm>
                <a:prstGeom prst="can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sp>
              <p:nvSpPr>
                <p:cNvPr id="146" name="CaixaDeTexto 145">
                  <a:extLst>
                    <a:ext uri="{FF2B5EF4-FFF2-40B4-BE49-F238E27FC236}">
                      <a16:creationId xmlns:a16="http://schemas.microsoft.com/office/drawing/2014/main" id="{A25CA738-AF45-4486-A111-E68B87241CDF}"/>
                    </a:ext>
                  </a:extLst>
                </p:cNvPr>
                <p:cNvSpPr txBox="1"/>
                <p:nvPr/>
              </p:nvSpPr>
              <p:spPr>
                <a:xfrm>
                  <a:off x="5190466" y="3853554"/>
                  <a:ext cx="1106393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BR" sz="1500" dirty="0" err="1">
                      <a:solidFill>
                        <a:schemeClr val="bg1"/>
                      </a:solidFill>
                    </a:rPr>
                    <a:t>Autorizacao</a:t>
                  </a:r>
                  <a:endParaRPr lang="pt-BR" sz="15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96D0890-0812-4E2B-8F6F-577E606B9FFF}"/>
                  </a:ext>
                </a:extLst>
              </p:cNvPr>
              <p:cNvSpPr txBox="1"/>
              <p:nvPr/>
            </p:nvSpPr>
            <p:spPr>
              <a:xfrm>
                <a:off x="1348349" y="2167688"/>
                <a:ext cx="934872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BR" sz="2300" b="1" dirty="0" err="1"/>
                  <a:t>Gaudi</a:t>
                </a:r>
                <a:endParaRPr lang="pt-BR" sz="2300" b="1" dirty="0"/>
              </a:p>
            </p:txBody>
          </p:sp>
          <p:sp>
            <p:nvSpPr>
              <p:cNvPr id="139" name="CaixaDeTexto 138">
                <a:extLst>
                  <a:ext uri="{FF2B5EF4-FFF2-40B4-BE49-F238E27FC236}">
                    <a16:creationId xmlns:a16="http://schemas.microsoft.com/office/drawing/2014/main" id="{7FEB8CC4-5357-4E59-88F5-4010FE08A4D3}"/>
                  </a:ext>
                </a:extLst>
              </p:cNvPr>
              <p:cNvSpPr txBox="1"/>
              <p:nvPr/>
            </p:nvSpPr>
            <p:spPr>
              <a:xfrm>
                <a:off x="6017493" y="2167688"/>
                <a:ext cx="875240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BR" sz="2300" b="1" dirty="0" err="1"/>
                  <a:t>Spark</a:t>
                </a:r>
                <a:endParaRPr lang="pt-BR" sz="2300" b="1" dirty="0"/>
              </a:p>
            </p:txBody>
          </p:sp>
        </p:grpSp>
        <p:sp>
          <p:nvSpPr>
            <p:cNvPr id="237" name="CaixaDeTexto 236">
              <a:extLst>
                <a:ext uri="{FF2B5EF4-FFF2-40B4-BE49-F238E27FC236}">
                  <a16:creationId xmlns:a16="http://schemas.microsoft.com/office/drawing/2014/main" id="{15DD0D5C-4E33-4991-ACA9-6564D533D400}"/>
                </a:ext>
              </a:extLst>
            </p:cNvPr>
            <p:cNvSpPr txBox="1"/>
            <p:nvPr/>
          </p:nvSpPr>
          <p:spPr>
            <a:xfrm>
              <a:off x="2342269" y="1828380"/>
              <a:ext cx="105586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" b="1" dirty="0"/>
                <a:t>LOGSTASH</a:t>
              </a:r>
            </a:p>
          </p:txBody>
        </p:sp>
        <p:cxnSp>
          <p:nvCxnSpPr>
            <p:cNvPr id="238" name="Conector de Seta Reta 237">
              <a:extLst>
                <a:ext uri="{FF2B5EF4-FFF2-40B4-BE49-F238E27FC236}">
                  <a16:creationId xmlns:a16="http://schemas.microsoft.com/office/drawing/2014/main" id="{C990C26A-C2D3-4828-8F5F-385C6D9A49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914" y="2127892"/>
              <a:ext cx="25268" cy="968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6A27B693-B9A1-4EEF-9C6D-1C9D205B5496}"/>
              </a:ext>
            </a:extLst>
          </p:cNvPr>
          <p:cNvSpPr/>
          <p:nvPr/>
        </p:nvSpPr>
        <p:spPr>
          <a:xfrm>
            <a:off x="6719021" y="4765740"/>
            <a:ext cx="790534" cy="523468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INSERT</a:t>
            </a:r>
          </a:p>
        </p:txBody>
      </p:sp>
      <p:grpSp>
        <p:nvGrpSpPr>
          <p:cNvPr id="295" name="Agrupar 294">
            <a:extLst>
              <a:ext uri="{FF2B5EF4-FFF2-40B4-BE49-F238E27FC236}">
                <a16:creationId xmlns:a16="http://schemas.microsoft.com/office/drawing/2014/main" id="{F960A3D6-CE59-426F-9D3F-699DB47DD6CA}"/>
              </a:ext>
            </a:extLst>
          </p:cNvPr>
          <p:cNvGrpSpPr/>
          <p:nvPr/>
        </p:nvGrpSpPr>
        <p:grpSpPr>
          <a:xfrm>
            <a:off x="7257190" y="2569500"/>
            <a:ext cx="2742959" cy="721163"/>
            <a:chOff x="7751044" y="2169450"/>
            <a:chExt cx="3204018" cy="721163"/>
          </a:xfrm>
        </p:grpSpPr>
        <p:sp>
          <p:nvSpPr>
            <p:cNvPr id="296" name="Retângulo 295">
              <a:extLst>
                <a:ext uri="{FF2B5EF4-FFF2-40B4-BE49-F238E27FC236}">
                  <a16:creationId xmlns:a16="http://schemas.microsoft.com/office/drawing/2014/main" id="{59880EED-0480-4F19-BE56-E1608795F354}"/>
                </a:ext>
              </a:extLst>
            </p:cNvPr>
            <p:cNvSpPr/>
            <p:nvPr/>
          </p:nvSpPr>
          <p:spPr>
            <a:xfrm>
              <a:off x="7751044" y="2169450"/>
              <a:ext cx="3204018" cy="721163"/>
            </a:xfrm>
            <a:prstGeom prst="rect">
              <a:avLst/>
            </a:prstGeom>
            <a:solidFill>
              <a:srgbClr val="F1C911"/>
            </a:solidFill>
            <a:ln w="571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pic>
          <p:nvPicPr>
            <p:cNvPr id="297" name="Imagem 296">
              <a:extLst>
                <a:ext uri="{FF2B5EF4-FFF2-40B4-BE49-F238E27FC236}">
                  <a16:creationId xmlns:a16="http://schemas.microsoft.com/office/drawing/2014/main" id="{CF6E9676-8820-4745-BEAE-184A1CAA2E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22195" t="35425" r="23784" b="36942"/>
            <a:stretch/>
          </p:blipFill>
          <p:spPr>
            <a:xfrm>
              <a:off x="8393498" y="2274295"/>
              <a:ext cx="1749989" cy="503732"/>
            </a:xfrm>
            <a:prstGeom prst="rect">
              <a:avLst/>
            </a:prstGeom>
          </p:spPr>
        </p:pic>
      </p:grpSp>
      <p:sp>
        <p:nvSpPr>
          <p:cNvPr id="298" name="Seta: para Cima 297">
            <a:extLst>
              <a:ext uri="{FF2B5EF4-FFF2-40B4-BE49-F238E27FC236}">
                <a16:creationId xmlns:a16="http://schemas.microsoft.com/office/drawing/2014/main" id="{2AD5929B-8BEA-422E-9FD9-D9FD2DBBC8FE}"/>
              </a:ext>
            </a:extLst>
          </p:cNvPr>
          <p:cNvSpPr/>
          <p:nvPr/>
        </p:nvSpPr>
        <p:spPr>
          <a:xfrm>
            <a:off x="7676505" y="3261663"/>
            <a:ext cx="460673" cy="773393"/>
          </a:xfrm>
          <a:prstGeom prst="upArrow">
            <a:avLst/>
          </a:prstGeom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lIns="36000" rIns="36000" bIns="36000" rtlCol="0" anchor="ctr"/>
          <a:lstStyle/>
          <a:p>
            <a:pPr algn="ctr"/>
            <a:r>
              <a:rPr lang="pt-BR" sz="1500" dirty="0"/>
              <a:t>SQL</a:t>
            </a:r>
          </a:p>
        </p:txBody>
      </p:sp>
      <p:grpSp>
        <p:nvGrpSpPr>
          <p:cNvPr id="316" name="Agrupar 315">
            <a:extLst>
              <a:ext uri="{FF2B5EF4-FFF2-40B4-BE49-F238E27FC236}">
                <a16:creationId xmlns:a16="http://schemas.microsoft.com/office/drawing/2014/main" id="{A3FE8735-1C83-41CE-8C7A-E5A7924FC021}"/>
              </a:ext>
            </a:extLst>
          </p:cNvPr>
          <p:cNvGrpSpPr/>
          <p:nvPr/>
        </p:nvGrpSpPr>
        <p:grpSpPr>
          <a:xfrm>
            <a:off x="8187124" y="3261663"/>
            <a:ext cx="3435851" cy="2620992"/>
            <a:chOff x="8291899" y="3004488"/>
            <a:chExt cx="3435851" cy="2620992"/>
          </a:xfrm>
        </p:grpSpPr>
        <p:sp>
          <p:nvSpPr>
            <p:cNvPr id="317" name="Retângulo 316">
              <a:extLst>
                <a:ext uri="{FF2B5EF4-FFF2-40B4-BE49-F238E27FC236}">
                  <a16:creationId xmlns:a16="http://schemas.microsoft.com/office/drawing/2014/main" id="{4DA0620E-660E-4DE9-8867-399949E96685}"/>
                </a:ext>
              </a:extLst>
            </p:cNvPr>
            <p:cNvSpPr/>
            <p:nvPr/>
          </p:nvSpPr>
          <p:spPr>
            <a:xfrm>
              <a:off x="8952978" y="3742921"/>
              <a:ext cx="985057" cy="188255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571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318" name="CaixaDeTexto 317">
              <a:extLst>
                <a:ext uri="{FF2B5EF4-FFF2-40B4-BE49-F238E27FC236}">
                  <a16:creationId xmlns:a16="http://schemas.microsoft.com/office/drawing/2014/main" id="{F27CC103-B9CB-4B44-B19D-07855344A2CD}"/>
                </a:ext>
              </a:extLst>
            </p:cNvPr>
            <p:cNvSpPr txBox="1"/>
            <p:nvPr/>
          </p:nvSpPr>
          <p:spPr>
            <a:xfrm>
              <a:off x="9006296" y="3894300"/>
              <a:ext cx="87842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500" b="1" dirty="0"/>
                <a:t>Parquet</a:t>
              </a:r>
            </a:p>
          </p:txBody>
        </p:sp>
        <p:sp>
          <p:nvSpPr>
            <p:cNvPr id="319" name="Seta: para Cima 318">
              <a:extLst>
                <a:ext uri="{FF2B5EF4-FFF2-40B4-BE49-F238E27FC236}">
                  <a16:creationId xmlns:a16="http://schemas.microsoft.com/office/drawing/2014/main" id="{8FA65B1B-B5F3-4857-9648-00E120057C68}"/>
                </a:ext>
              </a:extLst>
            </p:cNvPr>
            <p:cNvSpPr/>
            <p:nvPr/>
          </p:nvSpPr>
          <p:spPr>
            <a:xfrm>
              <a:off x="9215170" y="3004488"/>
              <a:ext cx="460673" cy="773393"/>
            </a:xfrm>
            <a:prstGeom prst="upArrow">
              <a:avLst/>
            </a:prstGeom>
            <a:ln w="285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vert270" lIns="36000" rIns="36000" bIns="36000" rtlCol="0" anchor="ctr"/>
            <a:lstStyle/>
            <a:p>
              <a:pPr algn="ctr"/>
              <a:r>
                <a:rPr lang="pt-BR" sz="1500" dirty="0"/>
                <a:t>SQL</a:t>
              </a:r>
            </a:p>
          </p:txBody>
        </p:sp>
        <p:grpSp>
          <p:nvGrpSpPr>
            <p:cNvPr id="320" name="Agrupar 319">
              <a:extLst>
                <a:ext uri="{FF2B5EF4-FFF2-40B4-BE49-F238E27FC236}">
                  <a16:creationId xmlns:a16="http://schemas.microsoft.com/office/drawing/2014/main" id="{A6ED5986-B1E4-4C92-8277-92EA57BB6878}"/>
                </a:ext>
              </a:extLst>
            </p:cNvPr>
            <p:cNvGrpSpPr/>
            <p:nvPr/>
          </p:nvGrpSpPr>
          <p:grpSpPr>
            <a:xfrm>
              <a:off x="8291899" y="4815827"/>
              <a:ext cx="865008" cy="678332"/>
              <a:chOff x="9651820" y="5694912"/>
              <a:chExt cx="1005649" cy="788618"/>
            </a:xfrm>
          </p:grpSpPr>
          <p:pic>
            <p:nvPicPr>
              <p:cNvPr id="330" name="Gráfico 329" descr="Cronômetro">
                <a:extLst>
                  <a:ext uri="{FF2B5EF4-FFF2-40B4-BE49-F238E27FC236}">
                    <a16:creationId xmlns:a16="http://schemas.microsoft.com/office/drawing/2014/main" id="{22ACFAA4-E8E3-4DEF-AAB8-727B7A678D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9944008" y="5984195"/>
                <a:ext cx="434086" cy="434086"/>
              </a:xfrm>
              <a:prstGeom prst="rect">
                <a:avLst/>
              </a:prstGeom>
            </p:spPr>
          </p:pic>
          <p:sp>
            <p:nvSpPr>
              <p:cNvPr id="331" name="CaixaDeTexto 330">
                <a:extLst>
                  <a:ext uri="{FF2B5EF4-FFF2-40B4-BE49-F238E27FC236}">
                    <a16:creationId xmlns:a16="http://schemas.microsoft.com/office/drawing/2014/main" id="{B65DEA21-703C-4094-83A7-D260511BAC3B}"/>
                  </a:ext>
                </a:extLst>
              </p:cNvPr>
              <p:cNvSpPr txBox="1"/>
              <p:nvPr/>
            </p:nvSpPr>
            <p:spPr>
              <a:xfrm>
                <a:off x="9651820" y="5694912"/>
                <a:ext cx="993689" cy="375707"/>
              </a:xfrm>
              <a:prstGeom prst="rect">
                <a:avLst/>
              </a:prstGeom>
              <a:solidFill>
                <a:schemeClr val="bg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pt-BR" sz="1500" b="1" dirty="0"/>
                  <a:t>3 MESES</a:t>
                </a:r>
              </a:p>
            </p:txBody>
          </p:sp>
          <p:sp>
            <p:nvSpPr>
              <p:cNvPr id="332" name="Seta: Curva para Cima 331">
                <a:extLst>
                  <a:ext uri="{FF2B5EF4-FFF2-40B4-BE49-F238E27FC236}">
                    <a16:creationId xmlns:a16="http://schemas.microsoft.com/office/drawing/2014/main" id="{EA55FDB2-957A-491A-AF02-266AA214900F}"/>
                  </a:ext>
                </a:extLst>
              </p:cNvPr>
              <p:cNvSpPr/>
              <p:nvPr/>
            </p:nvSpPr>
            <p:spPr>
              <a:xfrm>
                <a:off x="9686114" y="6087873"/>
                <a:ext cx="971355" cy="395657"/>
              </a:xfrm>
              <a:prstGeom prst="curvedUpArrow">
                <a:avLst/>
              </a:prstGeom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36000" rIns="36000" bIns="36000" rtlCol="0" anchor="ctr"/>
              <a:lstStyle/>
              <a:p>
                <a:pPr algn="ctr"/>
                <a:endParaRPr lang="pt-BR" sz="15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321" name="Gráfico 320" descr="Banco de dados">
              <a:extLst>
                <a:ext uri="{FF2B5EF4-FFF2-40B4-BE49-F238E27FC236}">
                  <a16:creationId xmlns:a16="http://schemas.microsoft.com/office/drawing/2014/main" id="{266B8330-096A-4B10-BEE9-049662AB0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63478" y="4385380"/>
              <a:ext cx="764056" cy="764056"/>
            </a:xfrm>
            <a:prstGeom prst="rect">
              <a:avLst/>
            </a:prstGeom>
          </p:spPr>
        </p:pic>
        <p:grpSp>
          <p:nvGrpSpPr>
            <p:cNvPr id="322" name="Agrupar 321">
              <a:extLst>
                <a:ext uri="{FF2B5EF4-FFF2-40B4-BE49-F238E27FC236}">
                  <a16:creationId xmlns:a16="http://schemas.microsoft.com/office/drawing/2014/main" id="{3B81A5C0-AF91-4312-AC21-A259376BB5CB}"/>
                </a:ext>
              </a:extLst>
            </p:cNvPr>
            <p:cNvGrpSpPr/>
            <p:nvPr/>
          </p:nvGrpSpPr>
          <p:grpSpPr>
            <a:xfrm>
              <a:off x="10195531" y="4155195"/>
              <a:ext cx="1532219" cy="1013314"/>
              <a:chOff x="10009133" y="5032033"/>
              <a:chExt cx="1532219" cy="1013314"/>
            </a:xfrm>
          </p:grpSpPr>
          <p:sp>
            <p:nvSpPr>
              <p:cNvPr id="324" name="Nuvem 323">
                <a:extLst>
                  <a:ext uri="{FF2B5EF4-FFF2-40B4-BE49-F238E27FC236}">
                    <a16:creationId xmlns:a16="http://schemas.microsoft.com/office/drawing/2014/main" id="{6C9F93BC-FCF2-4B32-8AEF-3AAB553635E4}"/>
                  </a:ext>
                </a:extLst>
              </p:cNvPr>
              <p:cNvSpPr/>
              <p:nvPr/>
            </p:nvSpPr>
            <p:spPr>
              <a:xfrm>
                <a:off x="10009133" y="5032033"/>
                <a:ext cx="1532219" cy="1013314"/>
              </a:xfrm>
              <a:prstGeom prst="cloud">
                <a:avLst/>
              </a:prstGeom>
              <a:solidFill>
                <a:srgbClr val="0079D6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36000" rIns="36000" bIns="36000" rtlCol="0" anchor="ctr"/>
              <a:lstStyle/>
              <a:p>
                <a:pPr algn="ctr"/>
                <a:endParaRPr lang="pt-BR" sz="1500" dirty="0"/>
              </a:p>
            </p:txBody>
          </p:sp>
          <p:grpSp>
            <p:nvGrpSpPr>
              <p:cNvPr id="325" name="Agrupar 324">
                <a:extLst>
                  <a:ext uri="{FF2B5EF4-FFF2-40B4-BE49-F238E27FC236}">
                    <a16:creationId xmlns:a16="http://schemas.microsoft.com/office/drawing/2014/main" id="{CB6DADCA-7F5C-4E49-86AD-E2633A988906}"/>
                  </a:ext>
                </a:extLst>
              </p:cNvPr>
              <p:cNvGrpSpPr/>
              <p:nvPr/>
            </p:nvGrpSpPr>
            <p:grpSpPr>
              <a:xfrm>
                <a:off x="10596915" y="5491334"/>
                <a:ext cx="360119" cy="374465"/>
                <a:chOff x="3528593" y="6005906"/>
                <a:chExt cx="496937" cy="516094"/>
              </a:xfrm>
            </p:grpSpPr>
            <p:sp>
              <p:nvSpPr>
                <p:cNvPr id="327" name="Retângulo 326">
                  <a:extLst>
                    <a:ext uri="{FF2B5EF4-FFF2-40B4-BE49-F238E27FC236}">
                      <a16:creationId xmlns:a16="http://schemas.microsoft.com/office/drawing/2014/main" id="{8E02E336-5029-422B-931F-5FB642ABCDEC}"/>
                    </a:ext>
                  </a:extLst>
                </p:cNvPr>
                <p:cNvSpPr/>
                <p:nvPr/>
              </p:nvSpPr>
              <p:spPr>
                <a:xfrm>
                  <a:off x="3725962" y="6005906"/>
                  <a:ext cx="299568" cy="385625"/>
                </a:xfrm>
                <a:prstGeom prst="rect">
                  <a:avLst/>
                </a:prstGeom>
                <a:solidFill>
                  <a:schemeClr val="tx1"/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sp>
              <p:nvSpPr>
                <p:cNvPr id="328" name="Retângulo 327">
                  <a:extLst>
                    <a:ext uri="{FF2B5EF4-FFF2-40B4-BE49-F238E27FC236}">
                      <a16:creationId xmlns:a16="http://schemas.microsoft.com/office/drawing/2014/main" id="{25DE8009-FA0C-4AB0-98FE-B3714F778EC0}"/>
                    </a:ext>
                  </a:extLst>
                </p:cNvPr>
                <p:cNvSpPr/>
                <p:nvPr/>
              </p:nvSpPr>
              <p:spPr>
                <a:xfrm>
                  <a:off x="3622565" y="6071140"/>
                  <a:ext cx="299569" cy="38562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329" name="Gráfico 328" descr="Documento">
                  <a:extLst>
                    <a:ext uri="{FF2B5EF4-FFF2-40B4-BE49-F238E27FC236}">
                      <a16:creationId xmlns:a16="http://schemas.microsoft.com/office/drawing/2014/main" id="{0E0B7AF4-F11E-4AE6-AA69-611525F600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28593" y="6025063"/>
                  <a:ext cx="496937" cy="496937"/>
                </a:xfrm>
                <a:prstGeom prst="rect">
                  <a:avLst/>
                </a:prstGeom>
              </p:spPr>
            </p:pic>
          </p:grpSp>
          <p:sp>
            <p:nvSpPr>
              <p:cNvPr id="326" name="CaixaDeTexto 325">
                <a:extLst>
                  <a:ext uri="{FF2B5EF4-FFF2-40B4-BE49-F238E27FC236}">
                    <a16:creationId xmlns:a16="http://schemas.microsoft.com/office/drawing/2014/main" id="{10B13A57-95B8-428B-9D16-CC9793A7053D}"/>
                  </a:ext>
                </a:extLst>
              </p:cNvPr>
              <p:cNvSpPr txBox="1"/>
              <p:nvPr/>
            </p:nvSpPr>
            <p:spPr>
              <a:xfrm>
                <a:off x="10091610" y="5195721"/>
                <a:ext cx="144974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500" b="1" dirty="0"/>
                  <a:t>Data Lake </a:t>
                </a:r>
                <a:r>
                  <a:rPr lang="pt-BR" sz="1500" b="1" dirty="0" err="1"/>
                  <a:t>Store</a:t>
                </a:r>
                <a:endParaRPr lang="pt-BR" sz="1500" b="1" dirty="0"/>
              </a:p>
            </p:txBody>
          </p:sp>
        </p:grpSp>
        <p:sp>
          <p:nvSpPr>
            <p:cNvPr id="323" name="Seta: de Cima para Baixo 322">
              <a:extLst>
                <a:ext uri="{FF2B5EF4-FFF2-40B4-BE49-F238E27FC236}">
                  <a16:creationId xmlns:a16="http://schemas.microsoft.com/office/drawing/2014/main" id="{438C2D79-A2D8-4060-BBB1-B31F2CD940A0}"/>
                </a:ext>
              </a:extLst>
            </p:cNvPr>
            <p:cNvSpPr/>
            <p:nvPr/>
          </p:nvSpPr>
          <p:spPr>
            <a:xfrm rot="16200000">
              <a:off x="9836753" y="4435347"/>
              <a:ext cx="349111" cy="764056"/>
            </a:xfrm>
            <a:prstGeom prst="upDownArrow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vert" lIns="36000" rIns="36000" bIns="36000" rtlCol="0" anchor="ctr"/>
            <a:lstStyle/>
            <a:p>
              <a:pPr algn="ctr"/>
              <a:r>
                <a:rPr lang="pt-BR" sz="1500" dirty="0"/>
                <a:t>SQL</a:t>
              </a:r>
            </a:p>
          </p:txBody>
        </p:sp>
      </p:grpSp>
      <p:grpSp>
        <p:nvGrpSpPr>
          <p:cNvPr id="200" name="Agrupar 199">
            <a:extLst>
              <a:ext uri="{FF2B5EF4-FFF2-40B4-BE49-F238E27FC236}">
                <a16:creationId xmlns:a16="http://schemas.microsoft.com/office/drawing/2014/main" id="{2CC89FE3-990B-42FD-8C40-A048E81B2D36}"/>
              </a:ext>
            </a:extLst>
          </p:cNvPr>
          <p:cNvGrpSpPr/>
          <p:nvPr/>
        </p:nvGrpSpPr>
        <p:grpSpPr>
          <a:xfrm>
            <a:off x="3020124" y="5319518"/>
            <a:ext cx="1545762" cy="498755"/>
            <a:chOff x="5465522" y="5281912"/>
            <a:chExt cx="1545762" cy="498755"/>
          </a:xfrm>
        </p:grpSpPr>
        <p:grpSp>
          <p:nvGrpSpPr>
            <p:cNvPr id="201" name="Agrupar 200">
              <a:extLst>
                <a:ext uri="{FF2B5EF4-FFF2-40B4-BE49-F238E27FC236}">
                  <a16:creationId xmlns:a16="http://schemas.microsoft.com/office/drawing/2014/main" id="{45B2EA87-0FD6-4BC3-B7DF-3D33636656C0}"/>
                </a:ext>
              </a:extLst>
            </p:cNvPr>
            <p:cNvGrpSpPr/>
            <p:nvPr/>
          </p:nvGrpSpPr>
          <p:grpSpPr>
            <a:xfrm>
              <a:off x="5465522" y="5283730"/>
              <a:ext cx="496937" cy="496937"/>
              <a:chOff x="4879527" y="1524001"/>
              <a:chExt cx="615595" cy="615595"/>
            </a:xfrm>
          </p:grpSpPr>
          <p:sp>
            <p:nvSpPr>
              <p:cNvPr id="203" name="Retângulo 202">
                <a:extLst>
                  <a:ext uri="{FF2B5EF4-FFF2-40B4-BE49-F238E27FC236}">
                    <a16:creationId xmlns:a16="http://schemas.microsoft.com/office/drawing/2014/main" id="{9382CE94-8E72-4C10-ADBE-BC7DC860C573}"/>
                  </a:ext>
                </a:extLst>
              </p:cNvPr>
              <p:cNvSpPr/>
              <p:nvPr/>
            </p:nvSpPr>
            <p:spPr>
              <a:xfrm>
                <a:off x="5115268" y="1530954"/>
                <a:ext cx="371099" cy="477704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sp>
            <p:nvSpPr>
              <p:cNvPr id="204" name="Retângulo 203">
                <a:extLst>
                  <a:ext uri="{FF2B5EF4-FFF2-40B4-BE49-F238E27FC236}">
                    <a16:creationId xmlns:a16="http://schemas.microsoft.com/office/drawing/2014/main" id="{1C859491-3C9E-4B95-B4E6-CAC3D837A917}"/>
                  </a:ext>
                </a:extLst>
              </p:cNvPr>
              <p:cNvSpPr/>
              <p:nvPr/>
            </p:nvSpPr>
            <p:spPr>
              <a:xfrm>
                <a:off x="4995409" y="1589677"/>
                <a:ext cx="371099" cy="47770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pic>
            <p:nvPicPr>
              <p:cNvPr id="205" name="Gráfico 204" descr="Documento">
                <a:extLst>
                  <a:ext uri="{FF2B5EF4-FFF2-40B4-BE49-F238E27FC236}">
                    <a16:creationId xmlns:a16="http://schemas.microsoft.com/office/drawing/2014/main" id="{6DF8A91B-6DA6-4ABB-A924-CA56FD8D53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879527" y="1524001"/>
                <a:ext cx="615595" cy="615595"/>
              </a:xfrm>
              <a:prstGeom prst="rect">
                <a:avLst/>
              </a:prstGeom>
            </p:spPr>
          </p:pic>
        </p:grpSp>
        <p:sp>
          <p:nvSpPr>
            <p:cNvPr id="202" name="CaixaDeTexto 201">
              <a:extLst>
                <a:ext uri="{FF2B5EF4-FFF2-40B4-BE49-F238E27FC236}">
                  <a16:creationId xmlns:a16="http://schemas.microsoft.com/office/drawing/2014/main" id="{5120A32D-A5AF-4BDE-880C-51B965F53C9F}"/>
                </a:ext>
              </a:extLst>
            </p:cNvPr>
            <p:cNvSpPr txBox="1"/>
            <p:nvPr/>
          </p:nvSpPr>
          <p:spPr>
            <a:xfrm>
              <a:off x="5933792" y="5281912"/>
              <a:ext cx="107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chemeClr val="accent2">
                      <a:lumMod val="75000"/>
                    </a:schemeClr>
                  </a:solidFill>
                  <a:latin typeface="Arial Black" panose="020B0A04020102020204" pitchFamily="34" charset="0"/>
                </a:rPr>
                <a:t>Kafka File 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539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196" grpId="0"/>
      <p:bldP spid="26" grpId="0" animBg="1"/>
      <p:bldP spid="29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82CBE1A-7DE8-418C-8CBB-71089522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4143233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 primeiro fase da POC, teve como foco simular o processamento em tempo real dos eventos, utilizando o </a:t>
            </a:r>
            <a:r>
              <a:rPr lang="pt-BR" sz="2000" dirty="0" err="1"/>
              <a:t>Spark</a:t>
            </a:r>
            <a:r>
              <a:rPr lang="pt-BR" sz="2000" dirty="0"/>
              <a:t> Streaming. Com esta abordagem foi possível processar pouco mais de 10,1 milhões de eventos em aproximadamente 15 minutos  (674.300/minuto).</a:t>
            </a:r>
          </a:p>
          <a:p>
            <a:r>
              <a:rPr lang="pt-BR" sz="2000" dirty="0"/>
              <a:t>Dado que a média de eventos era de 348 mil por minuto, consideramos este resultado como sendo aceitável.</a:t>
            </a:r>
          </a:p>
          <a:p>
            <a:endParaRPr lang="pt-BR" sz="2000" dirty="0"/>
          </a:p>
          <a:p>
            <a:r>
              <a:rPr lang="pt-BR" sz="2000" dirty="0"/>
              <a:t>Já na segundo fase, o </a:t>
            </a:r>
            <a:r>
              <a:rPr lang="pt-BR" sz="2000" dirty="0" err="1"/>
              <a:t>Spark</a:t>
            </a:r>
            <a:r>
              <a:rPr lang="pt-BR" sz="2000" dirty="0"/>
              <a:t> foi alterado para processar os dados em lote, onde foi possível ler os eventos do Kafka e inserir no </a:t>
            </a:r>
            <a:r>
              <a:rPr lang="pt-BR" sz="2000" dirty="0" err="1"/>
              <a:t>Kudu</a:t>
            </a:r>
            <a:r>
              <a:rPr lang="pt-BR" sz="2000" dirty="0"/>
              <a:t>, de cerca de 105 milhões de registros em 18 minutos, ou seja, 5,8 milhões por minuto.</a:t>
            </a:r>
          </a:p>
          <a:p>
            <a:r>
              <a:rPr lang="pt-BR" sz="2000" dirty="0"/>
              <a:t>Se adotada a estratégia de carga a cada uma hora, temos uma média de 15,4 milhões de eventos/hora, que poderiam ser processados em menos de 5 minutos.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09322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</a:t>
            </a:r>
          </a:p>
        </p:txBody>
      </p:sp>
      <p:pic>
        <p:nvPicPr>
          <p:cNvPr id="5" name="Imagem 4" descr="Uma imagem contendo brinquedo&#10;&#10;Descrição gerada com alta confiança">
            <a:extLst>
              <a:ext uri="{FF2B5EF4-FFF2-40B4-BE49-F238E27FC236}">
                <a16:creationId xmlns:a16="http://schemas.microsoft.com/office/drawing/2014/main" id="{5B138CA7-993C-4825-88D8-E5136A26C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803" y="1576971"/>
            <a:ext cx="4142394" cy="414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90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3628</TotalTime>
  <Words>1489</Words>
  <Application>Microsoft Office PowerPoint</Application>
  <PresentationFormat>Widescreen</PresentationFormat>
  <Paragraphs>220</Paragraphs>
  <Slides>23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3" baseType="lpstr">
      <vt:lpstr>Aldhabi</vt:lpstr>
      <vt:lpstr>Arial</vt:lpstr>
      <vt:lpstr>Arial Black</vt:lpstr>
      <vt:lpstr>Arial Rounded MT Bold</vt:lpstr>
      <vt:lpstr>Calibri</vt:lpstr>
      <vt:lpstr>Courier New</vt:lpstr>
      <vt:lpstr>Times New Roman</vt:lpstr>
      <vt:lpstr>Trebuchet MS</vt:lpstr>
      <vt:lpstr>Tw Cen MT</vt:lpstr>
      <vt:lpstr>Circuito</vt:lpstr>
      <vt:lpstr>POC Cloudera</vt:lpstr>
      <vt:lpstr>Cenário atual</vt:lpstr>
      <vt:lpstr>objetivo</vt:lpstr>
      <vt:lpstr>Desafio</vt:lpstr>
      <vt:lpstr>Arquitetura adotada</vt:lpstr>
      <vt:lpstr>Os componentes</vt:lpstr>
      <vt:lpstr>Kafta</vt:lpstr>
      <vt:lpstr>kafka</vt:lpstr>
      <vt:lpstr>kafka</vt:lpstr>
      <vt:lpstr>Spark</vt:lpstr>
      <vt:lpstr>Spark</vt:lpstr>
      <vt:lpstr>impala</vt:lpstr>
      <vt:lpstr>Impala</vt:lpstr>
      <vt:lpstr>Impala</vt:lpstr>
      <vt:lpstr>kudu</vt:lpstr>
      <vt:lpstr>kudu</vt:lpstr>
      <vt:lpstr>Power bi</vt:lpstr>
      <vt:lpstr>Cloudera manager</vt:lpstr>
      <vt:lpstr>Cloudera navigator</vt:lpstr>
      <vt:lpstr>resumindo</vt:lpstr>
      <vt:lpstr>resultado</vt:lpstr>
      <vt:lpstr>resultado</vt:lpstr>
      <vt:lpstr>Dúvidas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Cloudera</dc:title>
  <dc:creator>Cleide Yumiko Tominaga Verni</dc:creator>
  <cp:lastModifiedBy>Cleide Yumiko Tominaga Verni</cp:lastModifiedBy>
  <cp:revision>158</cp:revision>
  <dcterms:created xsi:type="dcterms:W3CDTF">2018-05-21T12:03:18Z</dcterms:created>
  <dcterms:modified xsi:type="dcterms:W3CDTF">2018-05-30T23:06:02Z</dcterms:modified>
</cp:coreProperties>
</file>